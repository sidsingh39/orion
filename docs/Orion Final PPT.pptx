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629"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750" b="0" i="0">
                <a:solidFill>
                  <a:srgbClr val="262626"/>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50" b="0" i="0">
                <a:solidFill>
                  <a:srgbClr val="262626"/>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096000" y="0"/>
            <a:ext cx="3657600" cy="6858000"/>
          </a:xfrm>
          <a:custGeom>
            <a:avLst/>
            <a:gdLst/>
            <a:ahLst/>
            <a:cxnLst/>
            <a:rect l="l" t="t" r="r" b="b"/>
            <a:pathLst>
              <a:path w="3657600" h="6858000">
                <a:moveTo>
                  <a:pt x="3657600" y="0"/>
                </a:moveTo>
                <a:lnTo>
                  <a:pt x="0" y="0"/>
                </a:lnTo>
                <a:lnTo>
                  <a:pt x="0" y="6858000"/>
                </a:lnTo>
                <a:lnTo>
                  <a:pt x="3657600" y="6858000"/>
                </a:lnTo>
                <a:lnTo>
                  <a:pt x="3657600" y="0"/>
                </a:lnTo>
                <a:close/>
              </a:path>
            </a:pathLst>
          </a:custGeom>
          <a:solidFill>
            <a:srgbClr val="EFEDEC"/>
          </a:solidFill>
        </p:spPr>
        <p:txBody>
          <a:bodyPr wrap="square" lIns="0" tIns="0" rIns="0" bIns="0" rtlCol="0"/>
          <a:lstStyle/>
          <a:p>
            <a:endParaRPr/>
          </a:p>
        </p:txBody>
      </p:sp>
      <p:sp>
        <p:nvSpPr>
          <p:cNvPr id="17" name="bg object 17"/>
          <p:cNvSpPr/>
          <p:nvPr/>
        </p:nvSpPr>
        <p:spPr>
          <a:xfrm>
            <a:off x="11353800" y="566056"/>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sp>
        <p:nvSpPr>
          <p:cNvPr id="18" name="bg object 18"/>
          <p:cNvSpPr/>
          <p:nvPr/>
        </p:nvSpPr>
        <p:spPr>
          <a:xfrm>
            <a:off x="11353800" y="653143"/>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750" b="0" i="0">
                <a:solidFill>
                  <a:srgbClr val="262626"/>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096000" y="0"/>
            <a:ext cx="3657600" cy="6858000"/>
          </a:xfrm>
          <a:custGeom>
            <a:avLst/>
            <a:gdLst/>
            <a:ahLst/>
            <a:cxnLst/>
            <a:rect l="l" t="t" r="r" b="b"/>
            <a:pathLst>
              <a:path w="3657600" h="6858000">
                <a:moveTo>
                  <a:pt x="3657600" y="0"/>
                </a:moveTo>
                <a:lnTo>
                  <a:pt x="0" y="0"/>
                </a:lnTo>
                <a:lnTo>
                  <a:pt x="0" y="6858000"/>
                </a:lnTo>
                <a:lnTo>
                  <a:pt x="3657600" y="6858000"/>
                </a:lnTo>
                <a:lnTo>
                  <a:pt x="3657600" y="0"/>
                </a:lnTo>
                <a:close/>
              </a:path>
            </a:pathLst>
          </a:custGeom>
          <a:solidFill>
            <a:srgbClr val="EFEDEC"/>
          </a:solidFill>
        </p:spPr>
        <p:txBody>
          <a:bodyPr wrap="square" lIns="0" tIns="0" rIns="0" bIns="0" rtlCol="0"/>
          <a:lstStyle/>
          <a:p>
            <a:endParaRPr/>
          </a:p>
        </p:txBody>
      </p:sp>
      <p:sp>
        <p:nvSpPr>
          <p:cNvPr id="17" name="bg object 17"/>
          <p:cNvSpPr/>
          <p:nvPr/>
        </p:nvSpPr>
        <p:spPr>
          <a:xfrm>
            <a:off x="11353800" y="566056"/>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sp>
        <p:nvSpPr>
          <p:cNvPr id="18" name="bg object 18"/>
          <p:cNvSpPr/>
          <p:nvPr/>
        </p:nvSpPr>
        <p:spPr>
          <a:xfrm>
            <a:off x="11353800" y="653143"/>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750" b="0" i="0">
                <a:solidFill>
                  <a:srgbClr val="262626"/>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35736" y="167938"/>
            <a:ext cx="11520526" cy="1349840"/>
          </a:xfrm>
          <a:prstGeom prst="rect">
            <a:avLst/>
          </a:prstGeom>
        </p:spPr>
        <p:txBody>
          <a:bodyPr wrap="square" lIns="0" tIns="0" rIns="0" bIns="0">
            <a:spAutoFit/>
          </a:bodyPr>
          <a:lstStyle>
            <a:lvl1pPr>
              <a:defRPr sz="4750" b="0" i="0">
                <a:solidFill>
                  <a:srgbClr val="262626"/>
                </a:solidFill>
                <a:latin typeface="Times New Roman"/>
                <a:cs typeface="Times New Roman"/>
              </a:defRPr>
            </a:lvl1pPr>
          </a:lstStyle>
          <a:p>
            <a:endParaRPr/>
          </a:p>
        </p:txBody>
      </p:sp>
      <p:sp>
        <p:nvSpPr>
          <p:cNvPr id="3" name="Holder 3"/>
          <p:cNvSpPr>
            <a:spLocks noGrp="1"/>
          </p:cNvSpPr>
          <p:nvPr>
            <p:ph type="body" idx="1"/>
          </p:nvPr>
        </p:nvSpPr>
        <p:spPr>
          <a:xfrm>
            <a:off x="573116" y="1131282"/>
            <a:ext cx="10756900" cy="2254885"/>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5/24/2026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90339" y="340985"/>
            <a:ext cx="4211320" cy="689932"/>
          </a:xfrm>
          <a:prstGeom prst="rect">
            <a:avLst/>
          </a:prstGeom>
        </p:spPr>
        <p:txBody>
          <a:bodyPr vert="horz" wrap="square" lIns="0" tIns="12700" rIns="0" bIns="0" rtlCol="0">
            <a:spAutoFit/>
          </a:bodyPr>
          <a:lstStyle/>
          <a:p>
            <a:pPr marL="12700" algn="ctr">
              <a:lnSpc>
                <a:spcPct val="100000"/>
              </a:lnSpc>
              <a:spcBef>
                <a:spcPts val="100"/>
              </a:spcBef>
              <a:tabLst>
                <a:tab pos="1792605" algn="l"/>
              </a:tabLst>
            </a:pPr>
            <a:r>
              <a:rPr lang="en-IN" sz="4400" u="sng" dirty="0">
                <a:solidFill>
                  <a:srgbClr val="000000"/>
                </a:solidFill>
                <a:uFill>
                  <a:solidFill>
                    <a:srgbClr val="000000"/>
                  </a:solidFill>
                </a:uFill>
              </a:rPr>
              <a:t>Orion</a:t>
            </a:r>
            <a:endParaRPr sz="4400" dirty="0"/>
          </a:p>
        </p:txBody>
      </p:sp>
      <p:sp>
        <p:nvSpPr>
          <p:cNvPr id="3" name="object 3"/>
          <p:cNvSpPr txBox="1"/>
          <p:nvPr/>
        </p:nvSpPr>
        <p:spPr>
          <a:xfrm>
            <a:off x="3001938" y="3420788"/>
            <a:ext cx="6188710" cy="762000"/>
          </a:xfrm>
          <a:prstGeom prst="rect">
            <a:avLst/>
          </a:prstGeom>
        </p:spPr>
        <p:txBody>
          <a:bodyPr vert="horz" wrap="square" lIns="0" tIns="45720" rIns="0" bIns="0" rtlCol="0">
            <a:spAutoFit/>
          </a:bodyPr>
          <a:lstStyle/>
          <a:p>
            <a:pPr marL="2210435" marR="5080" indent="-2198370">
              <a:lnSpc>
                <a:spcPts val="2800"/>
              </a:lnSpc>
              <a:spcBef>
                <a:spcPts val="360"/>
              </a:spcBef>
            </a:pPr>
            <a:r>
              <a:rPr sz="2500" dirty="0">
                <a:latin typeface="Times New Roman"/>
                <a:cs typeface="Times New Roman"/>
              </a:rPr>
              <a:t>Department</a:t>
            </a:r>
            <a:r>
              <a:rPr sz="2500" spc="-70" dirty="0">
                <a:latin typeface="Times New Roman"/>
                <a:cs typeface="Times New Roman"/>
              </a:rPr>
              <a:t> </a:t>
            </a:r>
            <a:r>
              <a:rPr sz="2500" dirty="0">
                <a:latin typeface="Times New Roman"/>
                <a:cs typeface="Times New Roman"/>
              </a:rPr>
              <a:t>of</a:t>
            </a:r>
            <a:r>
              <a:rPr sz="2500" spc="-65" dirty="0">
                <a:latin typeface="Times New Roman"/>
                <a:cs typeface="Times New Roman"/>
              </a:rPr>
              <a:t> </a:t>
            </a:r>
            <a:r>
              <a:rPr sz="2500" dirty="0">
                <a:latin typeface="Times New Roman"/>
                <a:cs typeface="Times New Roman"/>
              </a:rPr>
              <a:t>Computer</a:t>
            </a:r>
            <a:r>
              <a:rPr sz="2500" spc="-65" dirty="0">
                <a:latin typeface="Times New Roman"/>
                <a:cs typeface="Times New Roman"/>
              </a:rPr>
              <a:t> </a:t>
            </a:r>
            <a:r>
              <a:rPr sz="2500" dirty="0">
                <a:latin typeface="Times New Roman"/>
                <a:cs typeface="Times New Roman"/>
              </a:rPr>
              <a:t>Science</a:t>
            </a:r>
            <a:r>
              <a:rPr sz="2500" spc="-65" dirty="0">
                <a:latin typeface="Times New Roman"/>
                <a:cs typeface="Times New Roman"/>
              </a:rPr>
              <a:t> </a:t>
            </a:r>
            <a:r>
              <a:rPr sz="2500" dirty="0">
                <a:latin typeface="Times New Roman"/>
                <a:cs typeface="Times New Roman"/>
              </a:rPr>
              <a:t>&amp;</a:t>
            </a:r>
            <a:r>
              <a:rPr sz="2500" spc="-70" dirty="0">
                <a:latin typeface="Times New Roman"/>
                <a:cs typeface="Times New Roman"/>
              </a:rPr>
              <a:t> </a:t>
            </a:r>
            <a:r>
              <a:rPr sz="2500" spc="-10" dirty="0">
                <a:latin typeface="Times New Roman"/>
                <a:cs typeface="Times New Roman"/>
              </a:rPr>
              <a:t>engineering </a:t>
            </a:r>
            <a:r>
              <a:rPr sz="2500" dirty="0">
                <a:latin typeface="Times New Roman"/>
                <a:cs typeface="Times New Roman"/>
              </a:rPr>
              <a:t>IET</a:t>
            </a:r>
            <a:r>
              <a:rPr sz="2500" spc="-80" dirty="0">
                <a:latin typeface="Times New Roman"/>
                <a:cs typeface="Times New Roman"/>
              </a:rPr>
              <a:t> </a:t>
            </a:r>
            <a:r>
              <a:rPr sz="2500" spc="-10" dirty="0">
                <a:latin typeface="Times New Roman"/>
                <a:cs typeface="Times New Roman"/>
              </a:rPr>
              <a:t>Lucknow</a:t>
            </a:r>
            <a:endParaRPr sz="2500">
              <a:latin typeface="Times New Roman"/>
              <a:cs typeface="Times New Roman"/>
            </a:endParaRPr>
          </a:p>
        </p:txBody>
      </p:sp>
      <p:pic>
        <p:nvPicPr>
          <p:cNvPr id="4" name="object 4"/>
          <p:cNvPicPr/>
          <p:nvPr/>
        </p:nvPicPr>
        <p:blipFill>
          <a:blip r:embed="rId2" cstate="print"/>
          <a:stretch>
            <a:fillRect/>
          </a:stretch>
        </p:blipFill>
        <p:spPr>
          <a:xfrm>
            <a:off x="5198402" y="1712541"/>
            <a:ext cx="1795194" cy="1697437"/>
          </a:xfrm>
          <a:prstGeom prst="rect">
            <a:avLst/>
          </a:prstGeom>
        </p:spPr>
      </p:pic>
      <p:sp>
        <p:nvSpPr>
          <p:cNvPr id="5" name="object 5"/>
          <p:cNvSpPr txBox="1"/>
          <p:nvPr/>
        </p:nvSpPr>
        <p:spPr>
          <a:xfrm>
            <a:off x="397489" y="4583996"/>
            <a:ext cx="3521149" cy="2421881"/>
          </a:xfrm>
          <a:prstGeom prst="rect">
            <a:avLst/>
          </a:prstGeom>
        </p:spPr>
        <p:txBody>
          <a:bodyPr vert="horz" wrap="square" lIns="0" tIns="12700" rIns="0" bIns="0" rtlCol="0">
            <a:spAutoFit/>
          </a:bodyPr>
          <a:lstStyle/>
          <a:p>
            <a:pPr marL="12700" marR="5080">
              <a:lnSpc>
                <a:spcPct val="106500"/>
              </a:lnSpc>
              <a:spcBef>
                <a:spcPts val="100"/>
              </a:spcBef>
            </a:pPr>
            <a:r>
              <a:rPr sz="1800" spc="-10" dirty="0">
                <a:latin typeface="Calibri"/>
                <a:cs typeface="Calibri"/>
              </a:rPr>
              <a:t>Submitted</a:t>
            </a:r>
            <a:r>
              <a:rPr sz="1800" spc="-35" dirty="0">
                <a:latin typeface="Calibri"/>
                <a:cs typeface="Calibri"/>
              </a:rPr>
              <a:t> </a:t>
            </a:r>
            <a:r>
              <a:rPr sz="1800" spc="-25" dirty="0">
                <a:latin typeface="Calibri"/>
                <a:cs typeface="Calibri"/>
              </a:rPr>
              <a:t>By: </a:t>
            </a:r>
            <a:endParaRPr lang="en-IN" sz="1800" spc="-25" dirty="0">
              <a:latin typeface="Calibri"/>
              <a:cs typeface="Calibri"/>
            </a:endParaRPr>
          </a:p>
          <a:p>
            <a:pPr marL="12700" marR="5080">
              <a:lnSpc>
                <a:spcPct val="106500"/>
              </a:lnSpc>
              <a:spcBef>
                <a:spcPts val="100"/>
              </a:spcBef>
            </a:pPr>
            <a:r>
              <a:rPr sz="1800" dirty="0">
                <a:latin typeface="Calibri"/>
                <a:cs typeface="Calibri"/>
              </a:rPr>
              <a:t>Name</a:t>
            </a:r>
            <a:r>
              <a:rPr sz="1800" spc="-25" dirty="0">
                <a:latin typeface="Calibri"/>
                <a:cs typeface="Calibri"/>
              </a:rPr>
              <a:t> </a:t>
            </a:r>
            <a:r>
              <a:rPr sz="1800" dirty="0">
                <a:latin typeface="Calibri"/>
                <a:cs typeface="Calibri"/>
              </a:rPr>
              <a:t>1</a:t>
            </a:r>
            <a:r>
              <a:rPr sz="1800" spc="-25" dirty="0">
                <a:latin typeface="Calibri"/>
                <a:cs typeface="Calibri"/>
              </a:rPr>
              <a:t> </a:t>
            </a:r>
            <a:r>
              <a:rPr sz="1800" dirty="0">
                <a:latin typeface="Calibri"/>
                <a:cs typeface="Calibri"/>
              </a:rPr>
              <a:t>:</a:t>
            </a:r>
            <a:r>
              <a:rPr lang="en-IN" sz="1800" dirty="0">
                <a:latin typeface="Calibri"/>
                <a:cs typeface="Calibri"/>
              </a:rPr>
              <a:t> Siddharth Singh</a:t>
            </a:r>
            <a:r>
              <a:rPr sz="1800" spc="-25" dirty="0">
                <a:latin typeface="Calibri"/>
                <a:cs typeface="Calibri"/>
              </a:rPr>
              <a:t> </a:t>
            </a:r>
            <a:r>
              <a:rPr sz="1800" dirty="0">
                <a:latin typeface="Calibri"/>
                <a:cs typeface="Calibri"/>
              </a:rPr>
              <a:t>Roll</a:t>
            </a:r>
            <a:r>
              <a:rPr sz="1800" spc="-25" dirty="0">
                <a:latin typeface="Calibri"/>
                <a:cs typeface="Calibri"/>
              </a:rPr>
              <a:t> No</a:t>
            </a:r>
            <a:r>
              <a:rPr lang="en-IN" sz="1800" spc="-25" dirty="0">
                <a:latin typeface="Calibri"/>
                <a:cs typeface="Calibri"/>
              </a:rPr>
              <a:t>-2200520100061</a:t>
            </a:r>
          </a:p>
          <a:p>
            <a:pPr marL="12700" marR="5080">
              <a:lnSpc>
                <a:spcPct val="106500"/>
              </a:lnSpc>
              <a:spcBef>
                <a:spcPts val="100"/>
              </a:spcBef>
            </a:pPr>
            <a:r>
              <a:rPr sz="1800" dirty="0">
                <a:latin typeface="Calibri"/>
                <a:cs typeface="Calibri"/>
              </a:rPr>
              <a:t>Name</a:t>
            </a:r>
            <a:r>
              <a:rPr sz="1800" spc="-25" dirty="0">
                <a:latin typeface="Calibri"/>
                <a:cs typeface="Calibri"/>
              </a:rPr>
              <a:t> </a:t>
            </a:r>
            <a:r>
              <a:rPr sz="1800" dirty="0">
                <a:latin typeface="Calibri"/>
                <a:cs typeface="Calibri"/>
              </a:rPr>
              <a:t>2</a:t>
            </a:r>
            <a:r>
              <a:rPr sz="1800" spc="-25" dirty="0">
                <a:latin typeface="Calibri"/>
                <a:cs typeface="Calibri"/>
              </a:rPr>
              <a:t> </a:t>
            </a:r>
            <a:r>
              <a:rPr sz="1800" dirty="0">
                <a:latin typeface="Calibri"/>
                <a:cs typeface="Calibri"/>
              </a:rPr>
              <a:t>:</a:t>
            </a:r>
            <a:r>
              <a:rPr lang="en-IN" sz="1800" dirty="0">
                <a:latin typeface="Calibri"/>
                <a:cs typeface="Calibri"/>
              </a:rPr>
              <a:t> Shoumyadeep Roy</a:t>
            </a:r>
            <a:r>
              <a:rPr sz="1800" spc="-25" dirty="0">
                <a:latin typeface="Calibri"/>
                <a:cs typeface="Calibri"/>
              </a:rPr>
              <a:t> </a:t>
            </a:r>
            <a:r>
              <a:rPr sz="1800" dirty="0">
                <a:latin typeface="Calibri"/>
                <a:cs typeface="Calibri"/>
              </a:rPr>
              <a:t>Roll</a:t>
            </a:r>
            <a:r>
              <a:rPr sz="1800" spc="-25" dirty="0">
                <a:latin typeface="Calibri"/>
                <a:cs typeface="Calibri"/>
              </a:rPr>
              <a:t> No</a:t>
            </a:r>
            <a:r>
              <a:rPr lang="en-IN" sz="1800" spc="-25" dirty="0">
                <a:latin typeface="Calibri"/>
                <a:cs typeface="Calibri"/>
              </a:rPr>
              <a:t>-2200520100060</a:t>
            </a:r>
          </a:p>
          <a:p>
            <a:pPr marL="12700" marR="5080">
              <a:lnSpc>
                <a:spcPct val="106500"/>
              </a:lnSpc>
              <a:spcBef>
                <a:spcPts val="100"/>
              </a:spcBef>
            </a:pPr>
            <a:r>
              <a:rPr lang="en-US" sz="1800" dirty="0">
                <a:latin typeface="Calibri"/>
                <a:cs typeface="Calibri"/>
              </a:rPr>
              <a:t>Name</a:t>
            </a:r>
            <a:r>
              <a:rPr lang="en-US" sz="1800" spc="-25" dirty="0">
                <a:latin typeface="Calibri"/>
                <a:cs typeface="Calibri"/>
              </a:rPr>
              <a:t> </a:t>
            </a:r>
            <a:r>
              <a:rPr lang="en-US" sz="1800" dirty="0">
                <a:latin typeface="Calibri"/>
                <a:cs typeface="Calibri"/>
              </a:rPr>
              <a:t>2</a:t>
            </a:r>
            <a:r>
              <a:rPr lang="en-US" sz="1800" spc="-25" dirty="0">
                <a:latin typeface="Calibri"/>
                <a:cs typeface="Calibri"/>
              </a:rPr>
              <a:t> </a:t>
            </a:r>
            <a:r>
              <a:rPr lang="en-US" sz="1800" dirty="0">
                <a:latin typeface="Calibri"/>
                <a:cs typeface="Calibri"/>
              </a:rPr>
              <a:t>: Hensi </a:t>
            </a:r>
            <a:r>
              <a:rPr lang="en-US" sz="1800" dirty="0" err="1">
                <a:latin typeface="Calibri"/>
                <a:cs typeface="Calibri"/>
              </a:rPr>
              <a:t>Avdesh</a:t>
            </a:r>
            <a:r>
              <a:rPr lang="en-US" sz="1800" dirty="0">
                <a:latin typeface="Calibri"/>
                <a:cs typeface="Calibri"/>
              </a:rPr>
              <a:t> Kumar Baghel</a:t>
            </a:r>
            <a:r>
              <a:rPr lang="en-US" sz="1800" spc="-25" dirty="0">
                <a:latin typeface="Calibri"/>
                <a:cs typeface="Calibri"/>
              </a:rPr>
              <a:t> </a:t>
            </a:r>
            <a:r>
              <a:rPr lang="en-US" sz="1800" dirty="0">
                <a:latin typeface="Calibri"/>
                <a:cs typeface="Calibri"/>
              </a:rPr>
              <a:t>Roll</a:t>
            </a:r>
            <a:r>
              <a:rPr lang="en-US" sz="1800" spc="-25" dirty="0">
                <a:latin typeface="Calibri"/>
                <a:cs typeface="Calibri"/>
              </a:rPr>
              <a:t> No-2200520100027</a:t>
            </a:r>
            <a:endParaRPr lang="en-US" sz="1800" dirty="0">
              <a:latin typeface="Calibri"/>
              <a:cs typeface="Calibri"/>
            </a:endParaRPr>
          </a:p>
          <a:p>
            <a:pPr marL="12700" marR="5080">
              <a:lnSpc>
                <a:spcPct val="106500"/>
              </a:lnSpc>
              <a:spcBef>
                <a:spcPts val="100"/>
              </a:spcBef>
            </a:pPr>
            <a:endParaRPr sz="1800" dirty="0">
              <a:latin typeface="Calibri"/>
              <a:cs typeface="Calibri"/>
            </a:endParaRPr>
          </a:p>
        </p:txBody>
      </p:sp>
      <p:sp>
        <p:nvSpPr>
          <p:cNvPr id="6" name="object 6"/>
          <p:cNvSpPr txBox="1"/>
          <p:nvPr/>
        </p:nvSpPr>
        <p:spPr>
          <a:xfrm>
            <a:off x="9647448" y="4733461"/>
            <a:ext cx="2315951" cy="1480085"/>
          </a:xfrm>
          <a:prstGeom prst="rect">
            <a:avLst/>
          </a:prstGeom>
        </p:spPr>
        <p:txBody>
          <a:bodyPr vert="horz" wrap="square" lIns="0" tIns="30480" rIns="0" bIns="0" rtlCol="0">
            <a:spAutoFit/>
          </a:bodyPr>
          <a:lstStyle/>
          <a:p>
            <a:pPr marL="12700">
              <a:lnSpc>
                <a:spcPct val="100000"/>
              </a:lnSpc>
              <a:spcBef>
                <a:spcPts val="240"/>
              </a:spcBef>
            </a:pPr>
            <a:r>
              <a:rPr sz="1800" dirty="0">
                <a:latin typeface="Calibri"/>
                <a:cs typeface="Calibri"/>
              </a:rPr>
              <a:t>Guided</a:t>
            </a:r>
            <a:r>
              <a:rPr sz="1800" spc="-60" dirty="0">
                <a:latin typeface="Calibri"/>
                <a:cs typeface="Calibri"/>
              </a:rPr>
              <a:t> </a:t>
            </a:r>
            <a:r>
              <a:rPr sz="1800" spc="-25" dirty="0">
                <a:latin typeface="Calibri"/>
                <a:cs typeface="Calibri"/>
              </a:rPr>
              <a:t>by:</a:t>
            </a:r>
            <a:endParaRPr sz="1800" dirty="0">
              <a:latin typeface="Calibri"/>
              <a:cs typeface="Calibri"/>
            </a:endParaRPr>
          </a:p>
          <a:p>
            <a:pPr marL="12700" marR="5080">
              <a:lnSpc>
                <a:spcPct val="106500"/>
              </a:lnSpc>
            </a:pPr>
            <a:r>
              <a:rPr sz="1800" dirty="0">
                <a:latin typeface="Calibri"/>
                <a:cs typeface="Calibri"/>
              </a:rPr>
              <a:t>Name</a:t>
            </a:r>
            <a:r>
              <a:rPr sz="1800" spc="-25" dirty="0">
                <a:latin typeface="Calibri"/>
                <a:cs typeface="Calibri"/>
              </a:rPr>
              <a:t> </a:t>
            </a:r>
            <a:r>
              <a:rPr sz="1800" dirty="0">
                <a:latin typeface="Calibri"/>
                <a:cs typeface="Calibri"/>
              </a:rPr>
              <a:t>of</a:t>
            </a:r>
            <a:r>
              <a:rPr sz="1800" spc="-25" dirty="0">
                <a:latin typeface="Calibri"/>
                <a:cs typeface="Calibri"/>
              </a:rPr>
              <a:t> </a:t>
            </a:r>
            <a:r>
              <a:rPr sz="1800" spc="-10" dirty="0">
                <a:latin typeface="Calibri"/>
                <a:cs typeface="Calibri"/>
              </a:rPr>
              <a:t>supervisor</a:t>
            </a:r>
            <a:r>
              <a:rPr lang="en-IN" sz="1800" spc="-10" dirty="0">
                <a:latin typeface="Calibri"/>
                <a:cs typeface="Calibri"/>
              </a:rPr>
              <a:t> : Prof. Vineet Kansal</a:t>
            </a:r>
            <a:r>
              <a:rPr sz="1800" spc="-10" dirty="0">
                <a:latin typeface="Calibri"/>
                <a:cs typeface="Calibri"/>
              </a:rPr>
              <a:t> </a:t>
            </a:r>
            <a:r>
              <a:rPr sz="1800" dirty="0">
                <a:latin typeface="Calibri"/>
                <a:cs typeface="Calibri"/>
              </a:rPr>
              <a:t>Name</a:t>
            </a:r>
            <a:r>
              <a:rPr sz="1800" spc="-30" dirty="0">
                <a:latin typeface="Calibri"/>
                <a:cs typeface="Calibri"/>
              </a:rPr>
              <a:t> </a:t>
            </a:r>
            <a:r>
              <a:rPr sz="1800" dirty="0">
                <a:latin typeface="Calibri"/>
                <a:cs typeface="Calibri"/>
              </a:rPr>
              <a:t>of</a:t>
            </a:r>
            <a:r>
              <a:rPr sz="1800" spc="-30" dirty="0">
                <a:latin typeface="Calibri"/>
                <a:cs typeface="Calibri"/>
              </a:rPr>
              <a:t> </a:t>
            </a:r>
            <a:r>
              <a:rPr sz="1800" dirty="0">
                <a:latin typeface="Calibri"/>
                <a:cs typeface="Calibri"/>
              </a:rPr>
              <a:t>co-</a:t>
            </a:r>
            <a:r>
              <a:rPr sz="1800" spc="-25" dirty="0">
                <a:latin typeface="Calibri"/>
                <a:cs typeface="Calibri"/>
              </a:rPr>
              <a:t> </a:t>
            </a:r>
            <a:r>
              <a:rPr sz="1800" spc="-10" dirty="0">
                <a:latin typeface="Calibri"/>
                <a:cs typeface="Calibri"/>
              </a:rPr>
              <a:t>supervisor</a:t>
            </a:r>
            <a:r>
              <a:rPr lang="en-IN" sz="1800" spc="-10" dirty="0">
                <a:latin typeface="Calibri"/>
                <a:cs typeface="Calibri"/>
              </a:rPr>
              <a:t> : Mr. Abhishek</a:t>
            </a:r>
            <a:endParaRPr sz="1800" dirty="0">
              <a:latin typeface="Calibri"/>
              <a:cs typeface="Calibri"/>
            </a:endParaRPr>
          </a:p>
        </p:txBody>
      </p:sp>
      <p:sp>
        <p:nvSpPr>
          <p:cNvPr id="7" name="TextBox 6">
            <a:extLst>
              <a:ext uri="{FF2B5EF4-FFF2-40B4-BE49-F238E27FC236}">
                <a16:creationId xmlns:a16="http://schemas.microsoft.com/office/drawing/2014/main" id="{BB97A2D4-2DA5-DC70-CDB3-B088FE78D170}"/>
              </a:ext>
            </a:extLst>
          </p:cNvPr>
          <p:cNvSpPr txBox="1"/>
          <p:nvPr/>
        </p:nvSpPr>
        <p:spPr>
          <a:xfrm>
            <a:off x="3733800" y="1063063"/>
            <a:ext cx="4952999" cy="369332"/>
          </a:xfrm>
          <a:prstGeom prst="rect">
            <a:avLst/>
          </a:prstGeom>
          <a:noFill/>
        </p:spPr>
        <p:txBody>
          <a:bodyPr wrap="square" rtlCol="0">
            <a:spAutoFit/>
          </a:bodyPr>
          <a:lstStyle/>
          <a:p>
            <a:pPr algn="ctr"/>
            <a:r>
              <a:rPr lang="en-IN" dirty="0"/>
              <a:t>Conversational AI for Educational Support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2600" rIns="0" bIns="0" rtlCol="0">
            <a:spAutoFit/>
          </a:bodyPr>
          <a:lstStyle/>
          <a:p>
            <a:pPr marL="549275">
              <a:lnSpc>
                <a:spcPct val="100000"/>
              </a:lnSpc>
              <a:spcBef>
                <a:spcPts val="110"/>
              </a:spcBef>
            </a:pPr>
            <a:r>
              <a:rPr sz="3250" spc="-10" dirty="0"/>
              <a:t>Agenda</a:t>
            </a:r>
            <a:endParaRPr sz="3250"/>
          </a:p>
        </p:txBody>
      </p:sp>
      <p:sp>
        <p:nvSpPr>
          <p:cNvPr id="3" name="object 3"/>
          <p:cNvSpPr txBox="1"/>
          <p:nvPr/>
        </p:nvSpPr>
        <p:spPr>
          <a:xfrm>
            <a:off x="1307148" y="1656346"/>
            <a:ext cx="3145790" cy="2946400"/>
          </a:xfrm>
          <a:prstGeom prst="rect">
            <a:avLst/>
          </a:prstGeom>
        </p:spPr>
        <p:txBody>
          <a:bodyPr vert="horz" wrap="square" lIns="0" tIns="30480" rIns="0" bIns="0" rtlCol="0">
            <a:spAutoFit/>
          </a:bodyPr>
          <a:lstStyle/>
          <a:p>
            <a:pPr marL="193040" indent="-180340">
              <a:lnSpc>
                <a:spcPct val="100000"/>
              </a:lnSpc>
              <a:spcBef>
                <a:spcPts val="240"/>
              </a:spcBef>
              <a:buChar char="•"/>
              <a:tabLst>
                <a:tab pos="193040" algn="l"/>
              </a:tabLst>
            </a:pPr>
            <a:r>
              <a:rPr sz="1800" spc="-10" dirty="0">
                <a:latin typeface="Calibri"/>
                <a:cs typeface="Calibri"/>
              </a:rPr>
              <a:t>Introduction</a:t>
            </a:r>
            <a:endParaRPr sz="1800">
              <a:latin typeface="Calibri"/>
              <a:cs typeface="Calibri"/>
            </a:endParaRPr>
          </a:p>
          <a:p>
            <a:pPr marL="193040" indent="-180340">
              <a:lnSpc>
                <a:spcPct val="100000"/>
              </a:lnSpc>
              <a:spcBef>
                <a:spcPts val="140"/>
              </a:spcBef>
              <a:buChar char="•"/>
              <a:tabLst>
                <a:tab pos="193040" algn="l"/>
              </a:tabLst>
            </a:pPr>
            <a:r>
              <a:rPr sz="1800" spc="-10" dirty="0">
                <a:latin typeface="Calibri"/>
                <a:cs typeface="Calibri"/>
              </a:rPr>
              <a:t>Motivation</a:t>
            </a:r>
            <a:endParaRPr sz="1800">
              <a:latin typeface="Calibri"/>
              <a:cs typeface="Calibri"/>
            </a:endParaRPr>
          </a:p>
          <a:p>
            <a:pPr marL="193040" indent="-180340">
              <a:lnSpc>
                <a:spcPct val="100000"/>
              </a:lnSpc>
              <a:spcBef>
                <a:spcPts val="140"/>
              </a:spcBef>
              <a:buChar char="•"/>
              <a:tabLst>
                <a:tab pos="193040" algn="l"/>
              </a:tabLst>
            </a:pPr>
            <a:r>
              <a:rPr sz="1800" dirty="0">
                <a:latin typeface="Calibri"/>
                <a:cs typeface="Calibri"/>
              </a:rPr>
              <a:t>Objective</a:t>
            </a:r>
            <a:r>
              <a:rPr sz="1800" spc="-40" dirty="0">
                <a:latin typeface="Calibri"/>
                <a:cs typeface="Calibri"/>
              </a:rPr>
              <a:t> </a:t>
            </a:r>
            <a:r>
              <a:rPr sz="1800" dirty="0">
                <a:latin typeface="Calibri"/>
                <a:cs typeface="Calibri"/>
              </a:rPr>
              <a:t>&amp;</a:t>
            </a:r>
            <a:r>
              <a:rPr sz="1800" spc="-40" dirty="0">
                <a:latin typeface="Calibri"/>
                <a:cs typeface="Calibri"/>
              </a:rPr>
              <a:t> </a:t>
            </a:r>
            <a:r>
              <a:rPr sz="1800" dirty="0">
                <a:latin typeface="Calibri"/>
                <a:cs typeface="Calibri"/>
              </a:rPr>
              <a:t>Problem</a:t>
            </a:r>
            <a:r>
              <a:rPr sz="1800" spc="-40" dirty="0">
                <a:latin typeface="Calibri"/>
                <a:cs typeface="Calibri"/>
              </a:rPr>
              <a:t> </a:t>
            </a:r>
            <a:r>
              <a:rPr sz="1800" spc="-10" dirty="0">
                <a:latin typeface="Calibri"/>
                <a:cs typeface="Calibri"/>
              </a:rPr>
              <a:t>Statement</a:t>
            </a:r>
            <a:endParaRPr sz="1800">
              <a:latin typeface="Calibri"/>
              <a:cs typeface="Calibri"/>
            </a:endParaRPr>
          </a:p>
          <a:p>
            <a:pPr marL="193040" indent="-180340">
              <a:lnSpc>
                <a:spcPct val="100000"/>
              </a:lnSpc>
              <a:spcBef>
                <a:spcPts val="140"/>
              </a:spcBef>
              <a:buChar char="•"/>
              <a:tabLst>
                <a:tab pos="193040" algn="l"/>
              </a:tabLst>
            </a:pPr>
            <a:r>
              <a:rPr sz="1800" spc="-10" dirty="0">
                <a:latin typeface="Calibri"/>
                <a:cs typeface="Calibri"/>
              </a:rPr>
              <a:t>Literature</a:t>
            </a:r>
            <a:r>
              <a:rPr sz="1800" spc="-60" dirty="0">
                <a:latin typeface="Calibri"/>
                <a:cs typeface="Calibri"/>
              </a:rPr>
              <a:t> </a:t>
            </a:r>
            <a:r>
              <a:rPr sz="1800" spc="-10" dirty="0">
                <a:latin typeface="Calibri"/>
                <a:cs typeface="Calibri"/>
              </a:rPr>
              <a:t>Survey</a:t>
            </a:r>
            <a:endParaRPr sz="1800">
              <a:latin typeface="Calibri"/>
              <a:cs typeface="Calibri"/>
            </a:endParaRPr>
          </a:p>
          <a:p>
            <a:pPr marL="193040" indent="-180340">
              <a:lnSpc>
                <a:spcPct val="100000"/>
              </a:lnSpc>
              <a:spcBef>
                <a:spcPts val="140"/>
              </a:spcBef>
              <a:buChar char="•"/>
              <a:tabLst>
                <a:tab pos="193040" algn="l"/>
              </a:tabLst>
            </a:pPr>
            <a:r>
              <a:rPr sz="1800" spc="-10" dirty="0">
                <a:latin typeface="Calibri"/>
                <a:cs typeface="Calibri"/>
              </a:rPr>
              <a:t>Methodology</a:t>
            </a:r>
            <a:endParaRPr sz="1800">
              <a:latin typeface="Calibri"/>
              <a:cs typeface="Calibri"/>
            </a:endParaRPr>
          </a:p>
          <a:p>
            <a:pPr marL="193040" indent="-180340">
              <a:lnSpc>
                <a:spcPct val="100000"/>
              </a:lnSpc>
              <a:spcBef>
                <a:spcPts val="140"/>
              </a:spcBef>
              <a:buChar char="•"/>
              <a:tabLst>
                <a:tab pos="193040" algn="l"/>
              </a:tabLst>
            </a:pPr>
            <a:r>
              <a:rPr sz="1800" spc="-10" dirty="0">
                <a:latin typeface="Calibri"/>
                <a:cs typeface="Calibri"/>
              </a:rPr>
              <a:t>Implementation</a:t>
            </a:r>
            <a:endParaRPr sz="1800">
              <a:latin typeface="Calibri"/>
              <a:cs typeface="Calibri"/>
            </a:endParaRPr>
          </a:p>
          <a:p>
            <a:pPr marL="193040" indent="-180340">
              <a:lnSpc>
                <a:spcPct val="100000"/>
              </a:lnSpc>
              <a:spcBef>
                <a:spcPts val="140"/>
              </a:spcBef>
              <a:buChar char="•"/>
              <a:tabLst>
                <a:tab pos="193040" algn="l"/>
              </a:tabLst>
            </a:pPr>
            <a:r>
              <a:rPr sz="1800" spc="-10" dirty="0">
                <a:latin typeface="Calibri"/>
                <a:cs typeface="Calibri"/>
              </a:rPr>
              <a:t>Result</a:t>
            </a:r>
            <a:endParaRPr sz="1800">
              <a:latin typeface="Calibri"/>
              <a:cs typeface="Calibri"/>
            </a:endParaRPr>
          </a:p>
          <a:p>
            <a:pPr marL="193040" indent="-180340">
              <a:lnSpc>
                <a:spcPct val="100000"/>
              </a:lnSpc>
              <a:spcBef>
                <a:spcPts val="140"/>
              </a:spcBef>
              <a:buChar char="•"/>
              <a:tabLst>
                <a:tab pos="193040" algn="l"/>
              </a:tabLst>
            </a:pPr>
            <a:r>
              <a:rPr sz="1800" spc="-10" dirty="0">
                <a:latin typeface="Calibri"/>
                <a:cs typeface="Calibri"/>
              </a:rPr>
              <a:t>Conclusion</a:t>
            </a:r>
            <a:endParaRPr sz="1800">
              <a:latin typeface="Calibri"/>
              <a:cs typeface="Calibri"/>
            </a:endParaRPr>
          </a:p>
          <a:p>
            <a:pPr marL="193040" indent="-180340">
              <a:lnSpc>
                <a:spcPct val="100000"/>
              </a:lnSpc>
              <a:spcBef>
                <a:spcPts val="140"/>
              </a:spcBef>
              <a:buChar char="•"/>
              <a:tabLst>
                <a:tab pos="193040" algn="l"/>
              </a:tabLst>
            </a:pPr>
            <a:r>
              <a:rPr sz="1800" dirty="0">
                <a:latin typeface="Calibri"/>
                <a:cs typeface="Calibri"/>
              </a:rPr>
              <a:t>Future</a:t>
            </a:r>
            <a:r>
              <a:rPr sz="1800" spc="-65" dirty="0">
                <a:latin typeface="Calibri"/>
                <a:cs typeface="Calibri"/>
              </a:rPr>
              <a:t> </a:t>
            </a:r>
            <a:r>
              <a:rPr sz="1800" spc="-20" dirty="0">
                <a:latin typeface="Calibri"/>
                <a:cs typeface="Calibri"/>
              </a:rPr>
              <a:t>Scope</a:t>
            </a:r>
            <a:endParaRPr sz="1800">
              <a:latin typeface="Calibri"/>
              <a:cs typeface="Calibri"/>
            </a:endParaRPr>
          </a:p>
          <a:p>
            <a:pPr marL="193040" indent="-180340">
              <a:lnSpc>
                <a:spcPct val="100000"/>
              </a:lnSpc>
              <a:spcBef>
                <a:spcPts val="140"/>
              </a:spcBef>
              <a:buChar char="•"/>
              <a:tabLst>
                <a:tab pos="193040" algn="l"/>
              </a:tabLst>
            </a:pPr>
            <a:r>
              <a:rPr sz="1800" spc="-10" dirty="0">
                <a:latin typeface="Calibri"/>
                <a:cs typeface="Calibri"/>
              </a:rPr>
              <a:t>References</a:t>
            </a:r>
            <a:endParaRPr sz="18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096000" y="1"/>
            <a:ext cx="6096000" cy="6858000"/>
            <a:chOff x="6096000" y="1"/>
            <a:chExt cx="6096000" cy="6858000"/>
          </a:xfrm>
        </p:grpSpPr>
        <p:sp>
          <p:nvSpPr>
            <p:cNvPr id="3" name="object 3"/>
            <p:cNvSpPr/>
            <p:nvPr/>
          </p:nvSpPr>
          <p:spPr>
            <a:xfrm>
              <a:off x="6096000" y="1"/>
              <a:ext cx="6096000" cy="6858000"/>
            </a:xfrm>
            <a:custGeom>
              <a:avLst/>
              <a:gdLst/>
              <a:ahLst/>
              <a:cxnLst/>
              <a:rect l="l" t="t" r="r" b="b"/>
              <a:pathLst>
                <a:path w="6096000" h="6858000">
                  <a:moveTo>
                    <a:pt x="6096000" y="0"/>
                  </a:moveTo>
                  <a:lnTo>
                    <a:pt x="0" y="0"/>
                  </a:lnTo>
                  <a:lnTo>
                    <a:pt x="0" y="6858000"/>
                  </a:lnTo>
                  <a:lnTo>
                    <a:pt x="6096000" y="6858000"/>
                  </a:lnTo>
                  <a:lnTo>
                    <a:pt x="6096000" y="0"/>
                  </a:lnTo>
                  <a:close/>
                </a:path>
              </a:pathLst>
            </a:custGeom>
            <a:solidFill>
              <a:srgbClr val="F1F4F4"/>
            </a:solidFill>
          </p:spPr>
          <p:txBody>
            <a:bodyPr wrap="square" lIns="0" tIns="0" rIns="0" bIns="0" rtlCol="0"/>
            <a:lstStyle/>
            <a:p>
              <a:endParaRPr/>
            </a:p>
          </p:txBody>
        </p:sp>
        <p:sp>
          <p:nvSpPr>
            <p:cNvPr id="4" name="object 4"/>
            <p:cNvSpPr/>
            <p:nvPr/>
          </p:nvSpPr>
          <p:spPr>
            <a:xfrm>
              <a:off x="11353800" y="566056"/>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sp>
          <p:nvSpPr>
            <p:cNvPr id="5" name="object 5"/>
            <p:cNvSpPr/>
            <p:nvPr/>
          </p:nvSpPr>
          <p:spPr>
            <a:xfrm>
              <a:off x="11353800" y="653143"/>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grpSp>
      <p:sp>
        <p:nvSpPr>
          <p:cNvPr id="6" name="object 6"/>
          <p:cNvSpPr txBox="1">
            <a:spLocks noGrp="1"/>
          </p:cNvSpPr>
          <p:nvPr>
            <p:ph type="title"/>
          </p:nvPr>
        </p:nvSpPr>
        <p:spPr>
          <a:xfrm>
            <a:off x="947419" y="682477"/>
            <a:ext cx="3106420" cy="756920"/>
          </a:xfrm>
          <a:prstGeom prst="rect">
            <a:avLst/>
          </a:prstGeom>
        </p:spPr>
        <p:txBody>
          <a:bodyPr vert="horz" wrap="square" lIns="0" tIns="12700" rIns="0" bIns="0" rtlCol="0">
            <a:spAutoFit/>
          </a:bodyPr>
          <a:lstStyle/>
          <a:p>
            <a:pPr marL="12700">
              <a:lnSpc>
                <a:spcPct val="100000"/>
              </a:lnSpc>
              <a:spcBef>
                <a:spcPts val="100"/>
              </a:spcBef>
            </a:pPr>
            <a:r>
              <a:rPr sz="4800" spc="-10" dirty="0">
                <a:latin typeface="Calibri"/>
                <a:cs typeface="Calibri"/>
              </a:rPr>
              <a:t>Introduction</a:t>
            </a:r>
            <a:endParaRPr sz="4800">
              <a:latin typeface="Calibri"/>
              <a:cs typeface="Calibri"/>
            </a:endParaRPr>
          </a:p>
        </p:txBody>
      </p:sp>
      <p:grpSp>
        <p:nvGrpSpPr>
          <p:cNvPr id="7" name="object 7"/>
          <p:cNvGrpSpPr/>
          <p:nvPr/>
        </p:nvGrpSpPr>
        <p:grpSpPr>
          <a:xfrm>
            <a:off x="1055968" y="1432831"/>
            <a:ext cx="9605645" cy="1799589"/>
            <a:chOff x="1055968" y="1432831"/>
            <a:chExt cx="9605645" cy="1799589"/>
          </a:xfrm>
        </p:grpSpPr>
        <p:sp>
          <p:nvSpPr>
            <p:cNvPr id="8" name="object 8"/>
            <p:cNvSpPr/>
            <p:nvPr/>
          </p:nvSpPr>
          <p:spPr>
            <a:xfrm>
              <a:off x="4565497" y="1634100"/>
              <a:ext cx="6090285" cy="1348105"/>
            </a:xfrm>
            <a:custGeom>
              <a:avLst/>
              <a:gdLst/>
              <a:ahLst/>
              <a:cxnLst/>
              <a:rect l="l" t="t" r="r" b="b"/>
              <a:pathLst>
                <a:path w="6090284" h="1348105">
                  <a:moveTo>
                    <a:pt x="5864992" y="0"/>
                  </a:moveTo>
                  <a:lnTo>
                    <a:pt x="0" y="0"/>
                  </a:lnTo>
                  <a:lnTo>
                    <a:pt x="0" y="1348035"/>
                  </a:lnTo>
                  <a:lnTo>
                    <a:pt x="5864992" y="1348035"/>
                  </a:lnTo>
                  <a:lnTo>
                    <a:pt x="5910272" y="1343470"/>
                  </a:lnTo>
                  <a:lnTo>
                    <a:pt x="5952446" y="1330378"/>
                  </a:lnTo>
                  <a:lnTo>
                    <a:pt x="5990610" y="1309663"/>
                  </a:lnTo>
                  <a:lnTo>
                    <a:pt x="6023862" y="1282228"/>
                  </a:lnTo>
                  <a:lnTo>
                    <a:pt x="6051297" y="1248977"/>
                  </a:lnTo>
                  <a:lnTo>
                    <a:pt x="6072012" y="1210812"/>
                  </a:lnTo>
                  <a:lnTo>
                    <a:pt x="6085104" y="1168638"/>
                  </a:lnTo>
                  <a:lnTo>
                    <a:pt x="6089669" y="1123358"/>
                  </a:lnTo>
                  <a:lnTo>
                    <a:pt x="6089669" y="224676"/>
                  </a:lnTo>
                  <a:lnTo>
                    <a:pt x="6085104" y="179396"/>
                  </a:lnTo>
                  <a:lnTo>
                    <a:pt x="6072012" y="137222"/>
                  </a:lnTo>
                  <a:lnTo>
                    <a:pt x="6051297" y="99057"/>
                  </a:lnTo>
                  <a:lnTo>
                    <a:pt x="6023862" y="65806"/>
                  </a:lnTo>
                  <a:lnTo>
                    <a:pt x="5990610" y="38371"/>
                  </a:lnTo>
                  <a:lnTo>
                    <a:pt x="5952446" y="17656"/>
                  </a:lnTo>
                  <a:lnTo>
                    <a:pt x="5910272" y="4564"/>
                  </a:lnTo>
                  <a:lnTo>
                    <a:pt x="5864992" y="0"/>
                  </a:lnTo>
                  <a:close/>
                </a:path>
              </a:pathLst>
            </a:custGeom>
            <a:solidFill>
              <a:srgbClr val="C4F7AD">
                <a:alpha val="89799"/>
              </a:srgbClr>
            </a:solidFill>
          </p:spPr>
          <p:txBody>
            <a:bodyPr wrap="square" lIns="0" tIns="0" rIns="0" bIns="0" rtlCol="0"/>
            <a:lstStyle/>
            <a:p>
              <a:endParaRPr/>
            </a:p>
          </p:txBody>
        </p:sp>
        <p:sp>
          <p:nvSpPr>
            <p:cNvPr id="9" name="object 9"/>
            <p:cNvSpPr/>
            <p:nvPr/>
          </p:nvSpPr>
          <p:spPr>
            <a:xfrm>
              <a:off x="4565497" y="1634100"/>
              <a:ext cx="6090285" cy="1348105"/>
            </a:xfrm>
            <a:custGeom>
              <a:avLst/>
              <a:gdLst/>
              <a:ahLst/>
              <a:cxnLst/>
              <a:rect l="l" t="t" r="r" b="b"/>
              <a:pathLst>
                <a:path w="6090284" h="1348105">
                  <a:moveTo>
                    <a:pt x="6089669" y="224676"/>
                  </a:moveTo>
                  <a:lnTo>
                    <a:pt x="6089669" y="1123359"/>
                  </a:lnTo>
                  <a:lnTo>
                    <a:pt x="6085104" y="1168639"/>
                  </a:lnTo>
                  <a:lnTo>
                    <a:pt x="6072012" y="1210813"/>
                  </a:lnTo>
                  <a:lnTo>
                    <a:pt x="6051297" y="1248978"/>
                  </a:lnTo>
                  <a:lnTo>
                    <a:pt x="6023862" y="1282229"/>
                  </a:lnTo>
                  <a:lnTo>
                    <a:pt x="5990611" y="1309664"/>
                  </a:lnTo>
                  <a:lnTo>
                    <a:pt x="5952446" y="1330380"/>
                  </a:lnTo>
                  <a:lnTo>
                    <a:pt x="5910272" y="1343471"/>
                  </a:lnTo>
                  <a:lnTo>
                    <a:pt x="5864992" y="1348036"/>
                  </a:lnTo>
                  <a:lnTo>
                    <a:pt x="0" y="1348036"/>
                  </a:lnTo>
                  <a:lnTo>
                    <a:pt x="0" y="0"/>
                  </a:lnTo>
                  <a:lnTo>
                    <a:pt x="5864992" y="0"/>
                  </a:lnTo>
                  <a:lnTo>
                    <a:pt x="5910272" y="4564"/>
                  </a:lnTo>
                  <a:lnTo>
                    <a:pt x="5952446" y="17656"/>
                  </a:lnTo>
                  <a:lnTo>
                    <a:pt x="5990611" y="38371"/>
                  </a:lnTo>
                  <a:lnTo>
                    <a:pt x="6023862" y="65806"/>
                  </a:lnTo>
                  <a:lnTo>
                    <a:pt x="6051297" y="99057"/>
                  </a:lnTo>
                  <a:lnTo>
                    <a:pt x="6072012" y="137222"/>
                  </a:lnTo>
                  <a:lnTo>
                    <a:pt x="6085104" y="179396"/>
                  </a:lnTo>
                  <a:lnTo>
                    <a:pt x="6089669" y="224676"/>
                  </a:lnTo>
                  <a:close/>
                </a:path>
              </a:pathLst>
            </a:custGeom>
            <a:ln w="12700">
              <a:solidFill>
                <a:srgbClr val="D1D1D1"/>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1055968" y="1432831"/>
              <a:ext cx="3539737" cy="1799344"/>
            </a:xfrm>
            <a:prstGeom prst="rect">
              <a:avLst/>
            </a:prstGeom>
          </p:spPr>
        </p:pic>
        <p:sp>
          <p:nvSpPr>
            <p:cNvPr id="11" name="object 11"/>
            <p:cNvSpPr/>
            <p:nvPr/>
          </p:nvSpPr>
          <p:spPr>
            <a:xfrm>
              <a:off x="1140058" y="1463041"/>
              <a:ext cx="3425825" cy="1685289"/>
            </a:xfrm>
            <a:custGeom>
              <a:avLst/>
              <a:gdLst/>
              <a:ahLst/>
              <a:cxnLst/>
              <a:rect l="l" t="t" r="r" b="b"/>
              <a:pathLst>
                <a:path w="3425825" h="1685289">
                  <a:moveTo>
                    <a:pt x="3144590" y="0"/>
                  </a:moveTo>
                  <a:lnTo>
                    <a:pt x="280846" y="0"/>
                  </a:lnTo>
                  <a:lnTo>
                    <a:pt x="235291" y="3675"/>
                  </a:lnTo>
                  <a:lnTo>
                    <a:pt x="192077" y="14317"/>
                  </a:lnTo>
                  <a:lnTo>
                    <a:pt x="151781" y="31347"/>
                  </a:lnTo>
                  <a:lnTo>
                    <a:pt x="114982" y="54186"/>
                  </a:lnTo>
                  <a:lnTo>
                    <a:pt x="82258" y="82257"/>
                  </a:lnTo>
                  <a:lnTo>
                    <a:pt x="54187" y="114982"/>
                  </a:lnTo>
                  <a:lnTo>
                    <a:pt x="31347" y="151781"/>
                  </a:lnTo>
                  <a:lnTo>
                    <a:pt x="14317" y="192077"/>
                  </a:lnTo>
                  <a:lnTo>
                    <a:pt x="3675" y="235291"/>
                  </a:lnTo>
                  <a:lnTo>
                    <a:pt x="0" y="280846"/>
                  </a:lnTo>
                  <a:lnTo>
                    <a:pt x="0" y="1404198"/>
                  </a:lnTo>
                  <a:lnTo>
                    <a:pt x="3675" y="1449753"/>
                  </a:lnTo>
                  <a:lnTo>
                    <a:pt x="14317" y="1492967"/>
                  </a:lnTo>
                  <a:lnTo>
                    <a:pt x="31347" y="1533263"/>
                  </a:lnTo>
                  <a:lnTo>
                    <a:pt x="54187" y="1570062"/>
                  </a:lnTo>
                  <a:lnTo>
                    <a:pt x="82258" y="1602786"/>
                  </a:lnTo>
                  <a:lnTo>
                    <a:pt x="114982" y="1630857"/>
                  </a:lnTo>
                  <a:lnTo>
                    <a:pt x="151781" y="1653697"/>
                  </a:lnTo>
                  <a:lnTo>
                    <a:pt x="192077" y="1670727"/>
                  </a:lnTo>
                  <a:lnTo>
                    <a:pt x="235291" y="1681369"/>
                  </a:lnTo>
                  <a:lnTo>
                    <a:pt x="280846" y="1685044"/>
                  </a:lnTo>
                  <a:lnTo>
                    <a:pt x="3144590" y="1685044"/>
                  </a:lnTo>
                  <a:lnTo>
                    <a:pt x="3190145" y="1681369"/>
                  </a:lnTo>
                  <a:lnTo>
                    <a:pt x="3233360" y="1670727"/>
                  </a:lnTo>
                  <a:lnTo>
                    <a:pt x="3273656" y="1653697"/>
                  </a:lnTo>
                  <a:lnTo>
                    <a:pt x="3310455" y="1630857"/>
                  </a:lnTo>
                  <a:lnTo>
                    <a:pt x="3343179" y="1602786"/>
                  </a:lnTo>
                  <a:lnTo>
                    <a:pt x="3371250" y="1570062"/>
                  </a:lnTo>
                  <a:lnTo>
                    <a:pt x="3394089" y="1533263"/>
                  </a:lnTo>
                  <a:lnTo>
                    <a:pt x="3411119" y="1492967"/>
                  </a:lnTo>
                  <a:lnTo>
                    <a:pt x="3421761" y="1449753"/>
                  </a:lnTo>
                  <a:lnTo>
                    <a:pt x="3425437" y="1404198"/>
                  </a:lnTo>
                  <a:lnTo>
                    <a:pt x="3425437" y="280846"/>
                  </a:lnTo>
                  <a:lnTo>
                    <a:pt x="3421761" y="235291"/>
                  </a:lnTo>
                  <a:lnTo>
                    <a:pt x="3411119" y="192077"/>
                  </a:lnTo>
                  <a:lnTo>
                    <a:pt x="3394089" y="151781"/>
                  </a:lnTo>
                  <a:lnTo>
                    <a:pt x="3371250" y="114982"/>
                  </a:lnTo>
                  <a:lnTo>
                    <a:pt x="3343179" y="82257"/>
                  </a:lnTo>
                  <a:lnTo>
                    <a:pt x="3310455" y="54186"/>
                  </a:lnTo>
                  <a:lnTo>
                    <a:pt x="3273656" y="31347"/>
                  </a:lnTo>
                  <a:lnTo>
                    <a:pt x="3233360" y="14317"/>
                  </a:lnTo>
                  <a:lnTo>
                    <a:pt x="3190145" y="3675"/>
                  </a:lnTo>
                  <a:lnTo>
                    <a:pt x="3144590" y="0"/>
                  </a:lnTo>
                  <a:close/>
                </a:path>
              </a:pathLst>
            </a:custGeom>
            <a:solidFill>
              <a:srgbClr val="15A60A"/>
            </a:solidFill>
          </p:spPr>
          <p:txBody>
            <a:bodyPr wrap="square" lIns="0" tIns="0" rIns="0" bIns="0" rtlCol="0"/>
            <a:lstStyle/>
            <a:p>
              <a:endParaRPr/>
            </a:p>
          </p:txBody>
        </p:sp>
        <p:sp>
          <p:nvSpPr>
            <p:cNvPr id="12" name="object 12"/>
            <p:cNvSpPr/>
            <p:nvPr/>
          </p:nvSpPr>
          <p:spPr>
            <a:xfrm>
              <a:off x="1140058" y="1463041"/>
              <a:ext cx="3425825" cy="1685289"/>
            </a:xfrm>
            <a:custGeom>
              <a:avLst/>
              <a:gdLst/>
              <a:ahLst/>
              <a:cxnLst/>
              <a:rect l="l" t="t" r="r" b="b"/>
              <a:pathLst>
                <a:path w="3425825" h="1685289">
                  <a:moveTo>
                    <a:pt x="280846" y="0"/>
                  </a:moveTo>
                  <a:lnTo>
                    <a:pt x="3144591" y="0"/>
                  </a:lnTo>
                  <a:lnTo>
                    <a:pt x="3190145" y="3675"/>
                  </a:lnTo>
                  <a:lnTo>
                    <a:pt x="3233360" y="14317"/>
                  </a:lnTo>
                  <a:lnTo>
                    <a:pt x="3273656" y="31347"/>
                  </a:lnTo>
                  <a:lnTo>
                    <a:pt x="3310455" y="54187"/>
                  </a:lnTo>
                  <a:lnTo>
                    <a:pt x="3343179" y="82258"/>
                  </a:lnTo>
                  <a:lnTo>
                    <a:pt x="3371250" y="114982"/>
                  </a:lnTo>
                  <a:lnTo>
                    <a:pt x="3394090" y="151781"/>
                  </a:lnTo>
                  <a:lnTo>
                    <a:pt x="3411119" y="192077"/>
                  </a:lnTo>
                  <a:lnTo>
                    <a:pt x="3421761" y="235291"/>
                  </a:lnTo>
                  <a:lnTo>
                    <a:pt x="3425437" y="280846"/>
                  </a:lnTo>
                  <a:lnTo>
                    <a:pt x="3425437" y="1404198"/>
                  </a:lnTo>
                  <a:lnTo>
                    <a:pt x="3421761" y="1449753"/>
                  </a:lnTo>
                  <a:lnTo>
                    <a:pt x="3411119" y="1492967"/>
                  </a:lnTo>
                  <a:lnTo>
                    <a:pt x="3394090" y="1533263"/>
                  </a:lnTo>
                  <a:lnTo>
                    <a:pt x="3371250" y="1570062"/>
                  </a:lnTo>
                  <a:lnTo>
                    <a:pt x="3343179" y="1602786"/>
                  </a:lnTo>
                  <a:lnTo>
                    <a:pt x="3310455" y="1630857"/>
                  </a:lnTo>
                  <a:lnTo>
                    <a:pt x="3273656" y="1653697"/>
                  </a:lnTo>
                  <a:lnTo>
                    <a:pt x="3233360" y="1670727"/>
                  </a:lnTo>
                  <a:lnTo>
                    <a:pt x="3190145" y="1681369"/>
                  </a:lnTo>
                  <a:lnTo>
                    <a:pt x="3144591" y="1685044"/>
                  </a:lnTo>
                  <a:lnTo>
                    <a:pt x="280846" y="1685044"/>
                  </a:lnTo>
                  <a:lnTo>
                    <a:pt x="235291" y="1681369"/>
                  </a:lnTo>
                  <a:lnTo>
                    <a:pt x="192077" y="1670727"/>
                  </a:lnTo>
                  <a:lnTo>
                    <a:pt x="151781" y="1653697"/>
                  </a:lnTo>
                  <a:lnTo>
                    <a:pt x="114982" y="1630857"/>
                  </a:lnTo>
                  <a:lnTo>
                    <a:pt x="82258" y="1602786"/>
                  </a:lnTo>
                  <a:lnTo>
                    <a:pt x="54187" y="1570062"/>
                  </a:lnTo>
                  <a:lnTo>
                    <a:pt x="31347" y="1533263"/>
                  </a:lnTo>
                  <a:lnTo>
                    <a:pt x="14317" y="1492967"/>
                  </a:lnTo>
                  <a:lnTo>
                    <a:pt x="3675" y="1449753"/>
                  </a:lnTo>
                  <a:lnTo>
                    <a:pt x="0" y="1404198"/>
                  </a:lnTo>
                  <a:lnTo>
                    <a:pt x="0" y="280846"/>
                  </a:lnTo>
                  <a:lnTo>
                    <a:pt x="3675" y="235291"/>
                  </a:lnTo>
                  <a:lnTo>
                    <a:pt x="14317" y="192077"/>
                  </a:lnTo>
                  <a:lnTo>
                    <a:pt x="31347" y="151781"/>
                  </a:lnTo>
                  <a:lnTo>
                    <a:pt x="54187" y="114982"/>
                  </a:lnTo>
                  <a:lnTo>
                    <a:pt x="82258" y="82258"/>
                  </a:lnTo>
                  <a:lnTo>
                    <a:pt x="114982" y="54187"/>
                  </a:lnTo>
                  <a:lnTo>
                    <a:pt x="151781" y="31347"/>
                  </a:lnTo>
                  <a:lnTo>
                    <a:pt x="192077" y="14317"/>
                  </a:lnTo>
                  <a:lnTo>
                    <a:pt x="235291" y="3675"/>
                  </a:lnTo>
                  <a:lnTo>
                    <a:pt x="280846" y="0"/>
                  </a:lnTo>
                  <a:close/>
                </a:path>
              </a:pathLst>
            </a:custGeom>
            <a:ln w="12700">
              <a:solidFill>
                <a:srgbClr val="FFFFFF"/>
              </a:solidFill>
            </a:ln>
          </p:spPr>
          <p:txBody>
            <a:bodyPr wrap="square" lIns="0" tIns="0" rIns="0" bIns="0" rtlCol="0"/>
            <a:lstStyle/>
            <a:p>
              <a:endParaRPr/>
            </a:p>
          </p:txBody>
        </p:sp>
      </p:grpSp>
      <p:sp>
        <p:nvSpPr>
          <p:cNvPr id="13" name="object 13"/>
          <p:cNvSpPr txBox="1"/>
          <p:nvPr/>
        </p:nvSpPr>
        <p:spPr>
          <a:xfrm>
            <a:off x="1284502" y="2025022"/>
            <a:ext cx="3136900" cy="874598"/>
          </a:xfrm>
          <a:prstGeom prst="rect">
            <a:avLst/>
          </a:prstGeom>
        </p:spPr>
        <p:txBody>
          <a:bodyPr vert="horz" wrap="square" lIns="0" tIns="12700" rIns="0" bIns="0" rtlCol="0">
            <a:spAutoFit/>
          </a:bodyPr>
          <a:lstStyle/>
          <a:p>
            <a:pPr marL="12700">
              <a:lnSpc>
                <a:spcPct val="100000"/>
              </a:lnSpc>
              <a:spcBef>
                <a:spcPts val="100"/>
              </a:spcBef>
            </a:pPr>
            <a:r>
              <a:rPr lang="en-IN" sz="2800" dirty="0">
                <a:solidFill>
                  <a:schemeClr val="bg1"/>
                </a:solidFill>
              </a:rPr>
              <a:t>Conversational AI Relevance</a:t>
            </a:r>
            <a:endParaRPr sz="2800" dirty="0">
              <a:solidFill>
                <a:schemeClr val="bg1"/>
              </a:solidFill>
              <a:latin typeface="Calibri"/>
              <a:cs typeface="Calibri"/>
            </a:endParaRPr>
          </a:p>
        </p:txBody>
      </p:sp>
      <p:grpSp>
        <p:nvGrpSpPr>
          <p:cNvPr id="14" name="object 14"/>
          <p:cNvGrpSpPr/>
          <p:nvPr/>
        </p:nvGrpSpPr>
        <p:grpSpPr>
          <a:xfrm>
            <a:off x="1025488" y="3178540"/>
            <a:ext cx="9599814" cy="3562290"/>
            <a:chOff x="1055968" y="3204682"/>
            <a:chExt cx="9599814" cy="3562290"/>
          </a:xfrm>
        </p:grpSpPr>
        <p:pic>
          <p:nvPicPr>
            <p:cNvPr id="15" name="object 15"/>
            <p:cNvPicPr/>
            <p:nvPr/>
          </p:nvPicPr>
          <p:blipFill>
            <a:blip r:embed="rId2" cstate="print"/>
            <a:stretch>
              <a:fillRect/>
            </a:stretch>
          </p:blipFill>
          <p:spPr>
            <a:xfrm>
              <a:off x="1055968" y="3204682"/>
              <a:ext cx="3539737" cy="1799344"/>
            </a:xfrm>
            <a:prstGeom prst="rect">
              <a:avLst/>
            </a:prstGeom>
          </p:spPr>
        </p:pic>
        <p:sp>
          <p:nvSpPr>
            <p:cNvPr id="16" name="object 16"/>
            <p:cNvSpPr/>
            <p:nvPr/>
          </p:nvSpPr>
          <p:spPr>
            <a:xfrm>
              <a:off x="1124012" y="3243780"/>
              <a:ext cx="3425825" cy="1685289"/>
            </a:xfrm>
            <a:custGeom>
              <a:avLst/>
              <a:gdLst/>
              <a:ahLst/>
              <a:cxnLst/>
              <a:rect l="l" t="t" r="r" b="b"/>
              <a:pathLst>
                <a:path w="3425825" h="1685289">
                  <a:moveTo>
                    <a:pt x="3144590" y="0"/>
                  </a:moveTo>
                  <a:lnTo>
                    <a:pt x="280846" y="0"/>
                  </a:lnTo>
                  <a:lnTo>
                    <a:pt x="235291" y="3675"/>
                  </a:lnTo>
                  <a:lnTo>
                    <a:pt x="192077" y="14317"/>
                  </a:lnTo>
                  <a:lnTo>
                    <a:pt x="151781" y="31347"/>
                  </a:lnTo>
                  <a:lnTo>
                    <a:pt x="114982" y="54187"/>
                  </a:lnTo>
                  <a:lnTo>
                    <a:pt x="82258" y="82258"/>
                  </a:lnTo>
                  <a:lnTo>
                    <a:pt x="54187" y="114982"/>
                  </a:lnTo>
                  <a:lnTo>
                    <a:pt x="31347" y="151781"/>
                  </a:lnTo>
                  <a:lnTo>
                    <a:pt x="14317" y="192077"/>
                  </a:lnTo>
                  <a:lnTo>
                    <a:pt x="3675" y="235291"/>
                  </a:lnTo>
                  <a:lnTo>
                    <a:pt x="0" y="280846"/>
                  </a:lnTo>
                  <a:lnTo>
                    <a:pt x="0" y="1404198"/>
                  </a:lnTo>
                  <a:lnTo>
                    <a:pt x="3675" y="1449753"/>
                  </a:lnTo>
                  <a:lnTo>
                    <a:pt x="14317" y="1492967"/>
                  </a:lnTo>
                  <a:lnTo>
                    <a:pt x="31347" y="1533263"/>
                  </a:lnTo>
                  <a:lnTo>
                    <a:pt x="54187" y="1570062"/>
                  </a:lnTo>
                  <a:lnTo>
                    <a:pt x="82258" y="1602786"/>
                  </a:lnTo>
                  <a:lnTo>
                    <a:pt x="114982" y="1630857"/>
                  </a:lnTo>
                  <a:lnTo>
                    <a:pt x="151781" y="1653697"/>
                  </a:lnTo>
                  <a:lnTo>
                    <a:pt x="192077" y="1670727"/>
                  </a:lnTo>
                  <a:lnTo>
                    <a:pt x="235291" y="1681369"/>
                  </a:lnTo>
                  <a:lnTo>
                    <a:pt x="280846" y="1685044"/>
                  </a:lnTo>
                  <a:lnTo>
                    <a:pt x="3144590" y="1685044"/>
                  </a:lnTo>
                  <a:lnTo>
                    <a:pt x="3190145" y="1681369"/>
                  </a:lnTo>
                  <a:lnTo>
                    <a:pt x="3233360" y="1670727"/>
                  </a:lnTo>
                  <a:lnTo>
                    <a:pt x="3273656" y="1653697"/>
                  </a:lnTo>
                  <a:lnTo>
                    <a:pt x="3310455" y="1630857"/>
                  </a:lnTo>
                  <a:lnTo>
                    <a:pt x="3343179" y="1602786"/>
                  </a:lnTo>
                  <a:lnTo>
                    <a:pt x="3371250" y="1570062"/>
                  </a:lnTo>
                  <a:lnTo>
                    <a:pt x="3394089" y="1533263"/>
                  </a:lnTo>
                  <a:lnTo>
                    <a:pt x="3411119" y="1492967"/>
                  </a:lnTo>
                  <a:lnTo>
                    <a:pt x="3421761" y="1449753"/>
                  </a:lnTo>
                  <a:lnTo>
                    <a:pt x="3425437" y="1404198"/>
                  </a:lnTo>
                  <a:lnTo>
                    <a:pt x="3425437" y="280846"/>
                  </a:lnTo>
                  <a:lnTo>
                    <a:pt x="3421761" y="235291"/>
                  </a:lnTo>
                  <a:lnTo>
                    <a:pt x="3411119" y="192077"/>
                  </a:lnTo>
                  <a:lnTo>
                    <a:pt x="3394089" y="151781"/>
                  </a:lnTo>
                  <a:lnTo>
                    <a:pt x="3371250" y="114982"/>
                  </a:lnTo>
                  <a:lnTo>
                    <a:pt x="3343179" y="82258"/>
                  </a:lnTo>
                  <a:lnTo>
                    <a:pt x="3310455" y="54187"/>
                  </a:lnTo>
                  <a:lnTo>
                    <a:pt x="3273656" y="31347"/>
                  </a:lnTo>
                  <a:lnTo>
                    <a:pt x="3233360" y="14317"/>
                  </a:lnTo>
                  <a:lnTo>
                    <a:pt x="3190145" y="3675"/>
                  </a:lnTo>
                  <a:lnTo>
                    <a:pt x="3144590" y="0"/>
                  </a:lnTo>
                  <a:close/>
                </a:path>
              </a:pathLst>
            </a:custGeom>
            <a:solidFill>
              <a:srgbClr val="AD710F"/>
            </a:solidFill>
          </p:spPr>
          <p:txBody>
            <a:bodyPr wrap="square" lIns="0" tIns="0" rIns="0" bIns="0" rtlCol="0"/>
            <a:lstStyle/>
            <a:p>
              <a:endParaRPr dirty="0"/>
            </a:p>
          </p:txBody>
        </p:sp>
        <p:sp>
          <p:nvSpPr>
            <p:cNvPr id="17" name="object 17"/>
            <p:cNvSpPr/>
            <p:nvPr/>
          </p:nvSpPr>
          <p:spPr>
            <a:xfrm>
              <a:off x="1140058" y="3234890"/>
              <a:ext cx="3425825" cy="1685289"/>
            </a:xfrm>
            <a:custGeom>
              <a:avLst/>
              <a:gdLst/>
              <a:ahLst/>
              <a:cxnLst/>
              <a:rect l="l" t="t" r="r" b="b"/>
              <a:pathLst>
                <a:path w="3425825" h="1685289">
                  <a:moveTo>
                    <a:pt x="280846" y="0"/>
                  </a:moveTo>
                  <a:lnTo>
                    <a:pt x="3144591" y="0"/>
                  </a:lnTo>
                  <a:lnTo>
                    <a:pt x="3190145" y="3675"/>
                  </a:lnTo>
                  <a:lnTo>
                    <a:pt x="3233360" y="14317"/>
                  </a:lnTo>
                  <a:lnTo>
                    <a:pt x="3273656" y="31347"/>
                  </a:lnTo>
                  <a:lnTo>
                    <a:pt x="3310455" y="54187"/>
                  </a:lnTo>
                  <a:lnTo>
                    <a:pt x="3343179" y="82258"/>
                  </a:lnTo>
                  <a:lnTo>
                    <a:pt x="3371250" y="114982"/>
                  </a:lnTo>
                  <a:lnTo>
                    <a:pt x="3394090" y="151781"/>
                  </a:lnTo>
                  <a:lnTo>
                    <a:pt x="3411119" y="192077"/>
                  </a:lnTo>
                  <a:lnTo>
                    <a:pt x="3421761" y="235291"/>
                  </a:lnTo>
                  <a:lnTo>
                    <a:pt x="3425437" y="280846"/>
                  </a:lnTo>
                  <a:lnTo>
                    <a:pt x="3425437" y="1404198"/>
                  </a:lnTo>
                  <a:lnTo>
                    <a:pt x="3421761" y="1449753"/>
                  </a:lnTo>
                  <a:lnTo>
                    <a:pt x="3411119" y="1492967"/>
                  </a:lnTo>
                  <a:lnTo>
                    <a:pt x="3394090" y="1533263"/>
                  </a:lnTo>
                  <a:lnTo>
                    <a:pt x="3371250" y="1570062"/>
                  </a:lnTo>
                  <a:lnTo>
                    <a:pt x="3343179" y="1602786"/>
                  </a:lnTo>
                  <a:lnTo>
                    <a:pt x="3310455" y="1630857"/>
                  </a:lnTo>
                  <a:lnTo>
                    <a:pt x="3273656" y="1653697"/>
                  </a:lnTo>
                  <a:lnTo>
                    <a:pt x="3233360" y="1670727"/>
                  </a:lnTo>
                  <a:lnTo>
                    <a:pt x="3190145" y="1681369"/>
                  </a:lnTo>
                  <a:lnTo>
                    <a:pt x="3144591" y="1685044"/>
                  </a:lnTo>
                  <a:lnTo>
                    <a:pt x="280846" y="1685044"/>
                  </a:lnTo>
                  <a:lnTo>
                    <a:pt x="235291" y="1681369"/>
                  </a:lnTo>
                  <a:lnTo>
                    <a:pt x="192077" y="1670727"/>
                  </a:lnTo>
                  <a:lnTo>
                    <a:pt x="151781" y="1653697"/>
                  </a:lnTo>
                  <a:lnTo>
                    <a:pt x="114982" y="1630857"/>
                  </a:lnTo>
                  <a:lnTo>
                    <a:pt x="82258" y="1602786"/>
                  </a:lnTo>
                  <a:lnTo>
                    <a:pt x="54187" y="1570062"/>
                  </a:lnTo>
                  <a:lnTo>
                    <a:pt x="31347" y="1533263"/>
                  </a:lnTo>
                  <a:lnTo>
                    <a:pt x="14317" y="1492967"/>
                  </a:lnTo>
                  <a:lnTo>
                    <a:pt x="3675" y="1449753"/>
                  </a:lnTo>
                  <a:lnTo>
                    <a:pt x="0" y="1404198"/>
                  </a:lnTo>
                  <a:lnTo>
                    <a:pt x="0" y="280846"/>
                  </a:lnTo>
                  <a:lnTo>
                    <a:pt x="3675" y="235291"/>
                  </a:lnTo>
                  <a:lnTo>
                    <a:pt x="14317" y="192077"/>
                  </a:lnTo>
                  <a:lnTo>
                    <a:pt x="31347" y="151781"/>
                  </a:lnTo>
                  <a:lnTo>
                    <a:pt x="54187" y="114982"/>
                  </a:lnTo>
                  <a:lnTo>
                    <a:pt x="82258" y="82258"/>
                  </a:lnTo>
                  <a:lnTo>
                    <a:pt x="114982" y="54187"/>
                  </a:lnTo>
                  <a:lnTo>
                    <a:pt x="151781" y="31347"/>
                  </a:lnTo>
                  <a:lnTo>
                    <a:pt x="192077" y="14317"/>
                  </a:lnTo>
                  <a:lnTo>
                    <a:pt x="235291" y="3675"/>
                  </a:lnTo>
                  <a:lnTo>
                    <a:pt x="280846" y="0"/>
                  </a:lnTo>
                  <a:close/>
                </a:path>
              </a:pathLst>
            </a:custGeom>
            <a:ln w="12700">
              <a:solidFill>
                <a:srgbClr val="FFFFFF"/>
              </a:solidFill>
            </a:ln>
          </p:spPr>
          <p:txBody>
            <a:bodyPr wrap="square" lIns="0" tIns="0" rIns="0" bIns="0" rtlCol="0"/>
            <a:lstStyle/>
            <a:p>
              <a:endParaRPr/>
            </a:p>
          </p:txBody>
        </p:sp>
        <p:sp>
          <p:nvSpPr>
            <p:cNvPr id="18" name="object 18"/>
            <p:cNvSpPr/>
            <p:nvPr/>
          </p:nvSpPr>
          <p:spPr>
            <a:xfrm>
              <a:off x="4565497" y="5172692"/>
              <a:ext cx="6090285" cy="1348105"/>
            </a:xfrm>
            <a:custGeom>
              <a:avLst/>
              <a:gdLst/>
              <a:ahLst/>
              <a:cxnLst/>
              <a:rect l="l" t="t" r="r" b="b"/>
              <a:pathLst>
                <a:path w="6090284" h="1348104">
                  <a:moveTo>
                    <a:pt x="5864992" y="0"/>
                  </a:moveTo>
                  <a:lnTo>
                    <a:pt x="0" y="0"/>
                  </a:lnTo>
                  <a:lnTo>
                    <a:pt x="0" y="1348036"/>
                  </a:lnTo>
                  <a:lnTo>
                    <a:pt x="5864992" y="1348036"/>
                  </a:lnTo>
                  <a:lnTo>
                    <a:pt x="5910272" y="1343471"/>
                  </a:lnTo>
                  <a:lnTo>
                    <a:pt x="5952446" y="1330380"/>
                  </a:lnTo>
                  <a:lnTo>
                    <a:pt x="5990610" y="1309664"/>
                  </a:lnTo>
                  <a:lnTo>
                    <a:pt x="6023862" y="1282229"/>
                  </a:lnTo>
                  <a:lnTo>
                    <a:pt x="6051297" y="1248978"/>
                  </a:lnTo>
                  <a:lnTo>
                    <a:pt x="6072012" y="1210813"/>
                  </a:lnTo>
                  <a:lnTo>
                    <a:pt x="6085104" y="1168639"/>
                  </a:lnTo>
                  <a:lnTo>
                    <a:pt x="6089669" y="1123359"/>
                  </a:lnTo>
                  <a:lnTo>
                    <a:pt x="6089669" y="224676"/>
                  </a:lnTo>
                  <a:lnTo>
                    <a:pt x="6085104" y="179396"/>
                  </a:lnTo>
                  <a:lnTo>
                    <a:pt x="6072012" y="137222"/>
                  </a:lnTo>
                  <a:lnTo>
                    <a:pt x="6051297" y="99058"/>
                  </a:lnTo>
                  <a:lnTo>
                    <a:pt x="6023862" y="65806"/>
                  </a:lnTo>
                  <a:lnTo>
                    <a:pt x="5990610" y="38371"/>
                  </a:lnTo>
                  <a:lnTo>
                    <a:pt x="5952446" y="17656"/>
                  </a:lnTo>
                  <a:lnTo>
                    <a:pt x="5910272" y="4564"/>
                  </a:lnTo>
                  <a:lnTo>
                    <a:pt x="5864992" y="0"/>
                  </a:lnTo>
                  <a:close/>
                </a:path>
              </a:pathLst>
            </a:custGeom>
            <a:solidFill>
              <a:srgbClr val="CBFFFF">
                <a:alpha val="89999"/>
              </a:srgbClr>
            </a:solidFill>
          </p:spPr>
          <p:txBody>
            <a:bodyPr wrap="square" lIns="0" tIns="0" rIns="0" bIns="0" rtlCol="0"/>
            <a:lstStyle/>
            <a:p>
              <a:endParaRPr/>
            </a:p>
          </p:txBody>
        </p:sp>
        <p:sp>
          <p:nvSpPr>
            <p:cNvPr id="19" name="object 19"/>
            <p:cNvSpPr/>
            <p:nvPr/>
          </p:nvSpPr>
          <p:spPr>
            <a:xfrm>
              <a:off x="4565497" y="5172692"/>
              <a:ext cx="6090285" cy="1348105"/>
            </a:xfrm>
            <a:custGeom>
              <a:avLst/>
              <a:gdLst/>
              <a:ahLst/>
              <a:cxnLst/>
              <a:rect l="l" t="t" r="r" b="b"/>
              <a:pathLst>
                <a:path w="6090284" h="1348104">
                  <a:moveTo>
                    <a:pt x="6089669" y="224676"/>
                  </a:moveTo>
                  <a:lnTo>
                    <a:pt x="6089669" y="1123359"/>
                  </a:lnTo>
                  <a:lnTo>
                    <a:pt x="6085104" y="1168639"/>
                  </a:lnTo>
                  <a:lnTo>
                    <a:pt x="6072012" y="1210813"/>
                  </a:lnTo>
                  <a:lnTo>
                    <a:pt x="6051297" y="1248978"/>
                  </a:lnTo>
                  <a:lnTo>
                    <a:pt x="6023862" y="1282229"/>
                  </a:lnTo>
                  <a:lnTo>
                    <a:pt x="5990611" y="1309664"/>
                  </a:lnTo>
                  <a:lnTo>
                    <a:pt x="5952446" y="1330380"/>
                  </a:lnTo>
                  <a:lnTo>
                    <a:pt x="5910272" y="1343471"/>
                  </a:lnTo>
                  <a:lnTo>
                    <a:pt x="5864992" y="1348036"/>
                  </a:lnTo>
                  <a:lnTo>
                    <a:pt x="0" y="1348036"/>
                  </a:lnTo>
                  <a:lnTo>
                    <a:pt x="0" y="0"/>
                  </a:lnTo>
                  <a:lnTo>
                    <a:pt x="5864992" y="0"/>
                  </a:lnTo>
                  <a:lnTo>
                    <a:pt x="5910272" y="4564"/>
                  </a:lnTo>
                  <a:lnTo>
                    <a:pt x="5952446" y="17656"/>
                  </a:lnTo>
                  <a:lnTo>
                    <a:pt x="5990611" y="38371"/>
                  </a:lnTo>
                  <a:lnTo>
                    <a:pt x="6023862" y="65806"/>
                  </a:lnTo>
                  <a:lnTo>
                    <a:pt x="6051297" y="99057"/>
                  </a:lnTo>
                  <a:lnTo>
                    <a:pt x="6072012" y="137222"/>
                  </a:lnTo>
                  <a:lnTo>
                    <a:pt x="6085104" y="179396"/>
                  </a:lnTo>
                  <a:lnTo>
                    <a:pt x="6089669" y="224676"/>
                  </a:lnTo>
                  <a:close/>
                </a:path>
              </a:pathLst>
            </a:custGeom>
            <a:ln w="12700">
              <a:solidFill>
                <a:srgbClr val="D1D1D1"/>
              </a:solidFill>
            </a:ln>
          </p:spPr>
          <p:txBody>
            <a:bodyPr wrap="square" lIns="0" tIns="0" rIns="0" bIns="0" rtlCol="0"/>
            <a:lstStyle/>
            <a:p>
              <a:endParaRPr/>
            </a:p>
          </p:txBody>
        </p:sp>
        <p:pic>
          <p:nvPicPr>
            <p:cNvPr id="20" name="object 20"/>
            <p:cNvPicPr/>
            <p:nvPr/>
          </p:nvPicPr>
          <p:blipFill>
            <a:blip r:embed="rId3" cstate="print"/>
            <a:stretch>
              <a:fillRect/>
            </a:stretch>
          </p:blipFill>
          <p:spPr>
            <a:xfrm>
              <a:off x="1062318" y="4980328"/>
              <a:ext cx="3527037" cy="1786644"/>
            </a:xfrm>
            <a:prstGeom prst="rect">
              <a:avLst/>
            </a:prstGeom>
          </p:spPr>
        </p:pic>
        <p:sp>
          <p:nvSpPr>
            <p:cNvPr id="21" name="object 21"/>
            <p:cNvSpPr/>
            <p:nvPr/>
          </p:nvSpPr>
          <p:spPr>
            <a:xfrm>
              <a:off x="1140058" y="5004188"/>
              <a:ext cx="3425825" cy="1685289"/>
            </a:xfrm>
            <a:custGeom>
              <a:avLst/>
              <a:gdLst/>
              <a:ahLst/>
              <a:cxnLst/>
              <a:rect l="l" t="t" r="r" b="b"/>
              <a:pathLst>
                <a:path w="3425825" h="1685290">
                  <a:moveTo>
                    <a:pt x="3144590" y="0"/>
                  </a:moveTo>
                  <a:lnTo>
                    <a:pt x="280846" y="0"/>
                  </a:lnTo>
                  <a:lnTo>
                    <a:pt x="235291" y="3675"/>
                  </a:lnTo>
                  <a:lnTo>
                    <a:pt x="192077" y="14317"/>
                  </a:lnTo>
                  <a:lnTo>
                    <a:pt x="151781" y="31347"/>
                  </a:lnTo>
                  <a:lnTo>
                    <a:pt x="114982" y="54186"/>
                  </a:lnTo>
                  <a:lnTo>
                    <a:pt x="82258" y="82257"/>
                  </a:lnTo>
                  <a:lnTo>
                    <a:pt x="54187" y="114981"/>
                  </a:lnTo>
                  <a:lnTo>
                    <a:pt x="31347" y="151780"/>
                  </a:lnTo>
                  <a:lnTo>
                    <a:pt x="14317" y="192076"/>
                  </a:lnTo>
                  <a:lnTo>
                    <a:pt x="3675" y="235290"/>
                  </a:lnTo>
                  <a:lnTo>
                    <a:pt x="0" y="280845"/>
                  </a:lnTo>
                  <a:lnTo>
                    <a:pt x="0" y="1404197"/>
                  </a:lnTo>
                  <a:lnTo>
                    <a:pt x="3675" y="1449752"/>
                  </a:lnTo>
                  <a:lnTo>
                    <a:pt x="14317" y="1492967"/>
                  </a:lnTo>
                  <a:lnTo>
                    <a:pt x="31347" y="1533263"/>
                  </a:lnTo>
                  <a:lnTo>
                    <a:pt x="54187" y="1570062"/>
                  </a:lnTo>
                  <a:lnTo>
                    <a:pt x="82258" y="1602786"/>
                  </a:lnTo>
                  <a:lnTo>
                    <a:pt x="114982" y="1630857"/>
                  </a:lnTo>
                  <a:lnTo>
                    <a:pt x="151781" y="1653696"/>
                  </a:lnTo>
                  <a:lnTo>
                    <a:pt x="192077" y="1670726"/>
                  </a:lnTo>
                  <a:lnTo>
                    <a:pt x="235291" y="1681368"/>
                  </a:lnTo>
                  <a:lnTo>
                    <a:pt x="280846" y="1685044"/>
                  </a:lnTo>
                  <a:lnTo>
                    <a:pt x="3144590" y="1685044"/>
                  </a:lnTo>
                  <a:lnTo>
                    <a:pt x="3190145" y="1681368"/>
                  </a:lnTo>
                  <a:lnTo>
                    <a:pt x="3233360" y="1670726"/>
                  </a:lnTo>
                  <a:lnTo>
                    <a:pt x="3273656" y="1653696"/>
                  </a:lnTo>
                  <a:lnTo>
                    <a:pt x="3310455" y="1630857"/>
                  </a:lnTo>
                  <a:lnTo>
                    <a:pt x="3343179" y="1602786"/>
                  </a:lnTo>
                  <a:lnTo>
                    <a:pt x="3371250" y="1570062"/>
                  </a:lnTo>
                  <a:lnTo>
                    <a:pt x="3394089" y="1533263"/>
                  </a:lnTo>
                  <a:lnTo>
                    <a:pt x="3411119" y="1492967"/>
                  </a:lnTo>
                  <a:lnTo>
                    <a:pt x="3421761" y="1449752"/>
                  </a:lnTo>
                  <a:lnTo>
                    <a:pt x="3425437" y="1404197"/>
                  </a:lnTo>
                  <a:lnTo>
                    <a:pt x="3425437" y="280845"/>
                  </a:lnTo>
                  <a:lnTo>
                    <a:pt x="3421761" y="235290"/>
                  </a:lnTo>
                  <a:lnTo>
                    <a:pt x="3411119" y="192076"/>
                  </a:lnTo>
                  <a:lnTo>
                    <a:pt x="3394089" y="151780"/>
                  </a:lnTo>
                  <a:lnTo>
                    <a:pt x="3371250" y="114981"/>
                  </a:lnTo>
                  <a:lnTo>
                    <a:pt x="3343179" y="82257"/>
                  </a:lnTo>
                  <a:lnTo>
                    <a:pt x="3310455" y="54186"/>
                  </a:lnTo>
                  <a:lnTo>
                    <a:pt x="3273656" y="31347"/>
                  </a:lnTo>
                  <a:lnTo>
                    <a:pt x="3233360" y="14317"/>
                  </a:lnTo>
                  <a:lnTo>
                    <a:pt x="3190145" y="3675"/>
                  </a:lnTo>
                  <a:lnTo>
                    <a:pt x="3144590" y="0"/>
                  </a:lnTo>
                  <a:close/>
                </a:path>
              </a:pathLst>
            </a:custGeom>
            <a:solidFill>
              <a:srgbClr val="0E93AE"/>
            </a:solidFill>
          </p:spPr>
          <p:txBody>
            <a:bodyPr wrap="square" lIns="0" tIns="0" rIns="0" bIns="0" rtlCol="0"/>
            <a:lstStyle/>
            <a:p>
              <a:endParaRPr/>
            </a:p>
          </p:txBody>
        </p:sp>
      </p:grpSp>
      <p:sp>
        <p:nvSpPr>
          <p:cNvPr id="23" name="TextBox 22">
            <a:extLst>
              <a:ext uri="{FF2B5EF4-FFF2-40B4-BE49-F238E27FC236}">
                <a16:creationId xmlns:a16="http://schemas.microsoft.com/office/drawing/2014/main" id="{6F62AB87-05C8-71D4-0E1A-82397F3E2DC2}"/>
              </a:ext>
            </a:extLst>
          </p:cNvPr>
          <p:cNvSpPr txBox="1"/>
          <p:nvPr/>
        </p:nvSpPr>
        <p:spPr>
          <a:xfrm>
            <a:off x="1284502" y="3429000"/>
            <a:ext cx="2769337" cy="1384995"/>
          </a:xfrm>
          <a:prstGeom prst="rect">
            <a:avLst/>
          </a:prstGeom>
          <a:noFill/>
        </p:spPr>
        <p:txBody>
          <a:bodyPr wrap="square" rtlCol="0">
            <a:spAutoFit/>
          </a:bodyPr>
          <a:lstStyle/>
          <a:p>
            <a:r>
              <a:rPr lang="en-IN" sz="2800" dirty="0">
                <a:solidFill>
                  <a:schemeClr val="bg1"/>
                </a:solidFill>
              </a:rPr>
              <a:t>Intelligent Learning Assistance</a:t>
            </a:r>
          </a:p>
        </p:txBody>
      </p:sp>
      <p:sp>
        <p:nvSpPr>
          <p:cNvPr id="24" name="TextBox 23">
            <a:extLst>
              <a:ext uri="{FF2B5EF4-FFF2-40B4-BE49-F238E27FC236}">
                <a16:creationId xmlns:a16="http://schemas.microsoft.com/office/drawing/2014/main" id="{05A440C1-B099-7D52-C028-574EDB73CA8E}"/>
              </a:ext>
            </a:extLst>
          </p:cNvPr>
          <p:cNvSpPr txBox="1"/>
          <p:nvPr/>
        </p:nvSpPr>
        <p:spPr>
          <a:xfrm>
            <a:off x="1284501" y="5086794"/>
            <a:ext cx="2769337" cy="954107"/>
          </a:xfrm>
          <a:prstGeom prst="rect">
            <a:avLst/>
          </a:prstGeom>
          <a:noFill/>
        </p:spPr>
        <p:txBody>
          <a:bodyPr wrap="square" rtlCol="0">
            <a:spAutoFit/>
          </a:bodyPr>
          <a:lstStyle/>
          <a:p>
            <a:r>
              <a:rPr lang="en-IN" sz="2800" dirty="0">
                <a:solidFill>
                  <a:schemeClr val="bg1"/>
                </a:solidFill>
              </a:rPr>
              <a:t>Interdisciplinary Approach</a:t>
            </a:r>
          </a:p>
        </p:txBody>
      </p:sp>
      <p:sp>
        <p:nvSpPr>
          <p:cNvPr id="26" name="TextBox 25">
            <a:extLst>
              <a:ext uri="{FF2B5EF4-FFF2-40B4-BE49-F238E27FC236}">
                <a16:creationId xmlns:a16="http://schemas.microsoft.com/office/drawing/2014/main" id="{FC5FE991-DDF7-1C15-39C0-9365CCE8EAC1}"/>
              </a:ext>
            </a:extLst>
          </p:cNvPr>
          <p:cNvSpPr txBox="1"/>
          <p:nvPr/>
        </p:nvSpPr>
        <p:spPr>
          <a:xfrm>
            <a:off x="4565225" y="1777083"/>
            <a:ext cx="6094476" cy="923330"/>
          </a:xfrm>
          <a:prstGeom prst="rect">
            <a:avLst/>
          </a:prstGeom>
          <a:noFill/>
        </p:spPr>
        <p:txBody>
          <a:bodyPr wrap="square">
            <a:spAutoFit/>
          </a:bodyPr>
          <a:lstStyle/>
          <a:p>
            <a:r>
              <a:rPr lang="en-US" dirty="0"/>
              <a:t>ORION is an AI-powered conversational platform designed to improve learning and knowledge retrieval using natural language interactions.</a:t>
            </a:r>
            <a:endParaRPr lang="en-IN" dirty="0"/>
          </a:p>
        </p:txBody>
      </p:sp>
      <p:sp>
        <p:nvSpPr>
          <p:cNvPr id="27" name="object 8">
            <a:extLst>
              <a:ext uri="{FF2B5EF4-FFF2-40B4-BE49-F238E27FC236}">
                <a16:creationId xmlns:a16="http://schemas.microsoft.com/office/drawing/2014/main" id="{F2CA2B2C-3EA8-E803-DFAD-EB1C1F21A430}"/>
              </a:ext>
            </a:extLst>
          </p:cNvPr>
          <p:cNvSpPr/>
          <p:nvPr/>
        </p:nvSpPr>
        <p:spPr>
          <a:xfrm>
            <a:off x="4519357" y="3419128"/>
            <a:ext cx="6090285" cy="1348105"/>
          </a:xfrm>
          <a:custGeom>
            <a:avLst/>
            <a:gdLst/>
            <a:ahLst/>
            <a:cxnLst/>
            <a:rect l="l" t="t" r="r" b="b"/>
            <a:pathLst>
              <a:path w="6090284" h="1348105">
                <a:moveTo>
                  <a:pt x="5864992" y="0"/>
                </a:moveTo>
                <a:lnTo>
                  <a:pt x="0" y="0"/>
                </a:lnTo>
                <a:lnTo>
                  <a:pt x="0" y="1348035"/>
                </a:lnTo>
                <a:lnTo>
                  <a:pt x="5864992" y="1348035"/>
                </a:lnTo>
                <a:lnTo>
                  <a:pt x="5910272" y="1343470"/>
                </a:lnTo>
                <a:lnTo>
                  <a:pt x="5952446" y="1330378"/>
                </a:lnTo>
                <a:lnTo>
                  <a:pt x="5990610" y="1309663"/>
                </a:lnTo>
                <a:lnTo>
                  <a:pt x="6023862" y="1282228"/>
                </a:lnTo>
                <a:lnTo>
                  <a:pt x="6051297" y="1248977"/>
                </a:lnTo>
                <a:lnTo>
                  <a:pt x="6072012" y="1210812"/>
                </a:lnTo>
                <a:lnTo>
                  <a:pt x="6085104" y="1168638"/>
                </a:lnTo>
                <a:lnTo>
                  <a:pt x="6089669" y="1123358"/>
                </a:lnTo>
                <a:lnTo>
                  <a:pt x="6089669" y="224676"/>
                </a:lnTo>
                <a:lnTo>
                  <a:pt x="6085104" y="179396"/>
                </a:lnTo>
                <a:lnTo>
                  <a:pt x="6072012" y="137222"/>
                </a:lnTo>
                <a:lnTo>
                  <a:pt x="6051297" y="99057"/>
                </a:lnTo>
                <a:lnTo>
                  <a:pt x="6023862" y="65806"/>
                </a:lnTo>
                <a:lnTo>
                  <a:pt x="5990610" y="38371"/>
                </a:lnTo>
                <a:lnTo>
                  <a:pt x="5952446" y="17656"/>
                </a:lnTo>
                <a:lnTo>
                  <a:pt x="5910272" y="4564"/>
                </a:lnTo>
                <a:lnTo>
                  <a:pt x="5864992" y="0"/>
                </a:lnTo>
                <a:close/>
              </a:path>
            </a:pathLst>
          </a:custGeom>
          <a:solidFill>
            <a:srgbClr val="C4F7AD">
              <a:alpha val="89799"/>
            </a:srgbClr>
          </a:solidFill>
        </p:spPr>
        <p:txBody>
          <a:bodyPr wrap="square" lIns="0" tIns="0" rIns="0" bIns="0" rtlCol="0"/>
          <a:lstStyle/>
          <a:p>
            <a:r>
              <a:rPr lang="en-US" dirty="0"/>
              <a:t>Provides personalized explanations, document understanding, AI chat interaction, and context-aware responses.</a:t>
            </a:r>
            <a:endParaRPr dirty="0"/>
          </a:p>
        </p:txBody>
      </p:sp>
      <p:sp>
        <p:nvSpPr>
          <p:cNvPr id="29" name="TextBox 28">
            <a:extLst>
              <a:ext uri="{FF2B5EF4-FFF2-40B4-BE49-F238E27FC236}">
                <a16:creationId xmlns:a16="http://schemas.microsoft.com/office/drawing/2014/main" id="{229CBCD1-5784-1500-3D83-E8052EFF1621}"/>
              </a:ext>
            </a:extLst>
          </p:cNvPr>
          <p:cNvSpPr txBox="1"/>
          <p:nvPr/>
        </p:nvSpPr>
        <p:spPr>
          <a:xfrm>
            <a:off x="4585889" y="5146550"/>
            <a:ext cx="6094476" cy="1200329"/>
          </a:xfrm>
          <a:prstGeom prst="rect">
            <a:avLst/>
          </a:prstGeom>
          <a:noFill/>
        </p:spPr>
        <p:txBody>
          <a:bodyPr wrap="square">
            <a:spAutoFit/>
          </a:bodyPr>
          <a:lstStyle/>
          <a:p>
            <a:r>
              <a:rPr lang="en-IN" dirty="0"/>
              <a:t>Combines Conversational AI, Retrieval-Augmented Generation (RAG), Natural Language Processing (NLP), Cloud Services, and Web Technologies for intelligent interaction.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096000" y="0"/>
            <a:ext cx="3657600" cy="6858000"/>
          </a:xfrm>
          <a:custGeom>
            <a:avLst/>
            <a:gdLst/>
            <a:ahLst/>
            <a:cxnLst/>
            <a:rect l="l" t="t" r="r" b="b"/>
            <a:pathLst>
              <a:path w="3657600" h="6858000">
                <a:moveTo>
                  <a:pt x="3657600" y="0"/>
                </a:moveTo>
                <a:lnTo>
                  <a:pt x="0" y="0"/>
                </a:lnTo>
                <a:lnTo>
                  <a:pt x="0" y="6858000"/>
                </a:lnTo>
                <a:lnTo>
                  <a:pt x="3657600" y="6858000"/>
                </a:lnTo>
                <a:lnTo>
                  <a:pt x="3657600" y="0"/>
                </a:lnTo>
                <a:close/>
              </a:path>
            </a:pathLst>
          </a:custGeom>
          <a:solidFill>
            <a:srgbClr val="EFEDEC"/>
          </a:solidFill>
        </p:spPr>
        <p:txBody>
          <a:bodyPr wrap="square" lIns="0" tIns="0" rIns="0" bIns="0" rtlCol="0"/>
          <a:lstStyle/>
          <a:p>
            <a:endParaRPr/>
          </a:p>
        </p:txBody>
      </p:sp>
      <p:sp>
        <p:nvSpPr>
          <p:cNvPr id="3" name="object 3"/>
          <p:cNvSpPr/>
          <p:nvPr/>
        </p:nvSpPr>
        <p:spPr>
          <a:xfrm>
            <a:off x="11353800" y="566056"/>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sp>
        <p:nvSpPr>
          <p:cNvPr id="4" name="object 4"/>
          <p:cNvSpPr/>
          <p:nvPr/>
        </p:nvSpPr>
        <p:spPr>
          <a:xfrm>
            <a:off x="11353800" y="653143"/>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sp>
        <p:nvSpPr>
          <p:cNvPr id="5" name="object 5"/>
          <p:cNvSpPr txBox="1">
            <a:spLocks noGrp="1"/>
          </p:cNvSpPr>
          <p:nvPr>
            <p:ph type="title"/>
          </p:nvPr>
        </p:nvSpPr>
        <p:spPr>
          <a:xfrm>
            <a:off x="947419" y="382166"/>
            <a:ext cx="7865109" cy="756920"/>
          </a:xfrm>
          <a:prstGeom prst="rect">
            <a:avLst/>
          </a:prstGeom>
        </p:spPr>
        <p:txBody>
          <a:bodyPr vert="horz" wrap="square" lIns="0" tIns="12700" rIns="0" bIns="0" rtlCol="0">
            <a:spAutoFit/>
          </a:bodyPr>
          <a:lstStyle/>
          <a:p>
            <a:pPr marL="12700">
              <a:lnSpc>
                <a:spcPct val="100000"/>
              </a:lnSpc>
              <a:spcBef>
                <a:spcPts val="100"/>
              </a:spcBef>
              <a:tabLst>
                <a:tab pos="3051175" algn="l"/>
                <a:tab pos="5278755" algn="l"/>
              </a:tabLst>
            </a:pPr>
            <a:r>
              <a:rPr sz="4800" dirty="0">
                <a:latin typeface="Calibri"/>
                <a:cs typeface="Calibri"/>
              </a:rPr>
              <a:t>Objective</a:t>
            </a:r>
            <a:r>
              <a:rPr sz="4800" spc="-120" dirty="0">
                <a:latin typeface="Calibri"/>
                <a:cs typeface="Calibri"/>
              </a:rPr>
              <a:t> </a:t>
            </a:r>
            <a:r>
              <a:rPr sz="4800" spc="-50" dirty="0">
                <a:latin typeface="Calibri"/>
                <a:cs typeface="Calibri"/>
              </a:rPr>
              <a:t>&amp;</a:t>
            </a:r>
            <a:r>
              <a:rPr sz="4800" dirty="0">
                <a:latin typeface="Calibri"/>
                <a:cs typeface="Calibri"/>
              </a:rPr>
              <a:t>	</a:t>
            </a:r>
            <a:r>
              <a:rPr sz="4800" spc="-10" dirty="0">
                <a:latin typeface="Calibri"/>
                <a:cs typeface="Calibri"/>
              </a:rPr>
              <a:t>Problem</a:t>
            </a:r>
            <a:r>
              <a:rPr sz="4800" dirty="0">
                <a:latin typeface="Calibri"/>
                <a:cs typeface="Calibri"/>
              </a:rPr>
              <a:t>	</a:t>
            </a:r>
            <a:r>
              <a:rPr sz="4800" spc="-25" dirty="0">
                <a:latin typeface="Calibri"/>
                <a:cs typeface="Calibri"/>
              </a:rPr>
              <a:t>Statement</a:t>
            </a:r>
            <a:endParaRPr sz="4800">
              <a:latin typeface="Calibri"/>
              <a:cs typeface="Calibri"/>
            </a:endParaRPr>
          </a:p>
        </p:txBody>
      </p:sp>
      <p:sp>
        <p:nvSpPr>
          <p:cNvPr id="6" name="object 6"/>
          <p:cNvSpPr txBox="1"/>
          <p:nvPr/>
        </p:nvSpPr>
        <p:spPr>
          <a:xfrm>
            <a:off x="999927" y="4559996"/>
            <a:ext cx="7038975" cy="1801775"/>
          </a:xfrm>
          <a:prstGeom prst="rect">
            <a:avLst/>
          </a:prstGeom>
        </p:spPr>
        <p:txBody>
          <a:bodyPr vert="horz" wrap="square" lIns="0" tIns="46990" rIns="0" bIns="0" rtlCol="0">
            <a:spAutoFit/>
          </a:bodyPr>
          <a:lstStyle/>
          <a:p>
            <a:pPr marL="12700">
              <a:lnSpc>
                <a:spcPct val="100000"/>
              </a:lnSpc>
              <a:spcBef>
                <a:spcPts val="370"/>
              </a:spcBef>
            </a:pPr>
            <a:r>
              <a:rPr sz="2200" b="1" dirty="0">
                <a:solidFill>
                  <a:srgbClr val="404040"/>
                </a:solidFill>
                <a:latin typeface="Calibri"/>
                <a:cs typeface="Calibri"/>
              </a:rPr>
              <a:t>Study</a:t>
            </a:r>
            <a:r>
              <a:rPr sz="2200" b="1" spc="-5" dirty="0">
                <a:solidFill>
                  <a:srgbClr val="404040"/>
                </a:solidFill>
                <a:latin typeface="Calibri"/>
                <a:cs typeface="Calibri"/>
              </a:rPr>
              <a:t> </a:t>
            </a:r>
            <a:r>
              <a:rPr sz="2200" b="1" spc="-10" dirty="0">
                <a:solidFill>
                  <a:srgbClr val="404040"/>
                </a:solidFill>
                <a:latin typeface="Calibri"/>
                <a:cs typeface="Calibri"/>
              </a:rPr>
              <a:t>Objectives</a:t>
            </a:r>
            <a:endParaRPr sz="2200" dirty="0">
              <a:latin typeface="Calibri"/>
              <a:cs typeface="Calibri"/>
            </a:endParaRPr>
          </a:p>
          <a:p>
            <a:r>
              <a:rPr lang="en-IN" sz="2000" dirty="0"/>
              <a:t>• </a:t>
            </a:r>
            <a:r>
              <a:rPr lang="en-IN" dirty="0">
                <a:solidFill>
                  <a:schemeClr val="tx1">
                    <a:lumMod val="50000"/>
                    <a:lumOff val="50000"/>
                  </a:schemeClr>
                </a:solidFill>
              </a:rPr>
              <a:t>Create an AI-powered intelligent assistant for learning and information retrieval</a:t>
            </a:r>
            <a:br>
              <a:rPr lang="en-IN" dirty="0">
                <a:solidFill>
                  <a:schemeClr val="tx1">
                    <a:lumMod val="50000"/>
                    <a:lumOff val="50000"/>
                  </a:schemeClr>
                </a:solidFill>
              </a:rPr>
            </a:br>
            <a:r>
              <a:rPr lang="en-IN" dirty="0">
                <a:solidFill>
                  <a:schemeClr val="tx1">
                    <a:lumMod val="50000"/>
                    <a:lumOff val="50000"/>
                  </a:schemeClr>
                </a:solidFill>
              </a:rPr>
              <a:t>• Improve contextual understanding of user queries</a:t>
            </a:r>
            <a:br>
              <a:rPr lang="en-IN" dirty="0">
                <a:solidFill>
                  <a:schemeClr val="tx1">
                    <a:lumMod val="50000"/>
                    <a:lumOff val="50000"/>
                  </a:schemeClr>
                </a:solidFill>
              </a:rPr>
            </a:br>
            <a:r>
              <a:rPr lang="en-IN" dirty="0">
                <a:solidFill>
                  <a:schemeClr val="tx1">
                    <a:lumMod val="50000"/>
                    <a:lumOff val="50000"/>
                  </a:schemeClr>
                </a:solidFill>
              </a:rPr>
              <a:t>• Enable interactive personalized responses</a:t>
            </a:r>
            <a:br>
              <a:rPr lang="en-IN" dirty="0">
                <a:solidFill>
                  <a:schemeClr val="tx1">
                    <a:lumMod val="50000"/>
                    <a:lumOff val="50000"/>
                  </a:schemeClr>
                </a:solidFill>
              </a:rPr>
            </a:br>
            <a:r>
              <a:rPr lang="en-IN" dirty="0">
                <a:solidFill>
                  <a:schemeClr val="tx1">
                    <a:lumMod val="50000"/>
                    <a:lumOff val="50000"/>
                  </a:schemeClr>
                </a:solidFill>
              </a:rPr>
              <a:t>• Integrate document-based knowledge retrieval</a:t>
            </a:r>
          </a:p>
        </p:txBody>
      </p:sp>
      <p:sp>
        <p:nvSpPr>
          <p:cNvPr id="7" name="object 7"/>
          <p:cNvSpPr txBox="1"/>
          <p:nvPr/>
        </p:nvSpPr>
        <p:spPr>
          <a:xfrm>
            <a:off x="994629" y="1512103"/>
            <a:ext cx="7988934" cy="1756378"/>
          </a:xfrm>
          <a:prstGeom prst="rect">
            <a:avLst/>
          </a:prstGeom>
        </p:spPr>
        <p:txBody>
          <a:bodyPr vert="horz" wrap="square" lIns="0" tIns="145415" rIns="0" bIns="0" rtlCol="0">
            <a:spAutoFit/>
          </a:bodyPr>
          <a:lstStyle/>
          <a:p>
            <a:pPr marL="12700">
              <a:lnSpc>
                <a:spcPct val="100000"/>
              </a:lnSpc>
              <a:spcBef>
                <a:spcPts val="1145"/>
              </a:spcBef>
            </a:pPr>
            <a:r>
              <a:rPr sz="2200" b="1" dirty="0">
                <a:solidFill>
                  <a:srgbClr val="404040"/>
                </a:solidFill>
                <a:latin typeface="Calibri"/>
                <a:cs typeface="Calibri"/>
              </a:rPr>
              <a:t>Problem</a:t>
            </a:r>
            <a:r>
              <a:rPr sz="2200" b="1" spc="-125" dirty="0">
                <a:solidFill>
                  <a:srgbClr val="404040"/>
                </a:solidFill>
                <a:latin typeface="Calibri"/>
                <a:cs typeface="Calibri"/>
              </a:rPr>
              <a:t> </a:t>
            </a:r>
            <a:r>
              <a:rPr sz="2200" b="1" spc="-10" dirty="0">
                <a:solidFill>
                  <a:srgbClr val="404040"/>
                </a:solidFill>
                <a:latin typeface="Calibri"/>
                <a:cs typeface="Calibri"/>
              </a:rPr>
              <a:t>Statement</a:t>
            </a:r>
            <a:endParaRPr sz="2200" dirty="0">
              <a:latin typeface="Calibri"/>
              <a:cs typeface="Calibri"/>
            </a:endParaRPr>
          </a:p>
          <a:p>
            <a:pPr marL="72390" marR="5080">
              <a:lnSpc>
                <a:spcPts val="2200"/>
              </a:lnSpc>
              <a:spcBef>
                <a:spcPts val="1190"/>
              </a:spcBef>
            </a:pPr>
            <a:r>
              <a:rPr lang="en-US" dirty="0">
                <a:solidFill>
                  <a:schemeClr val="tx1">
                    <a:lumMod val="50000"/>
                    <a:lumOff val="50000"/>
                  </a:schemeClr>
                </a:solidFill>
              </a:rPr>
              <a:t>To develop an intelligent conversational AI platform capable of understanding user intent, retrieving contextually relevant information from multiple sources, and generating accurate, meaningful, and personalized responses to improve learning and knowledge accessibility.</a:t>
            </a:r>
            <a:endParaRPr dirty="0">
              <a:solidFill>
                <a:schemeClr val="tx1">
                  <a:lumMod val="50000"/>
                  <a:lumOff val="50000"/>
                </a:schemeClr>
              </a:solidFill>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020" y="-22669"/>
            <a:ext cx="3171825" cy="563245"/>
          </a:xfrm>
          <a:prstGeom prst="rect">
            <a:avLst/>
          </a:prstGeom>
        </p:spPr>
        <p:txBody>
          <a:bodyPr vert="horz" wrap="square" lIns="0" tIns="15875" rIns="0" bIns="0" rtlCol="0">
            <a:spAutoFit/>
          </a:bodyPr>
          <a:lstStyle/>
          <a:p>
            <a:pPr marL="12700">
              <a:lnSpc>
                <a:spcPct val="100000"/>
              </a:lnSpc>
              <a:spcBef>
                <a:spcPts val="125"/>
              </a:spcBef>
            </a:pPr>
            <a:r>
              <a:rPr sz="3500" dirty="0"/>
              <a:t>Literature</a:t>
            </a:r>
            <a:r>
              <a:rPr sz="3500" spc="-25" dirty="0"/>
              <a:t> </a:t>
            </a:r>
            <a:r>
              <a:rPr sz="3500" spc="-10" dirty="0"/>
              <a:t>Survey</a:t>
            </a:r>
            <a:endParaRPr sz="3500"/>
          </a:p>
        </p:txBody>
      </p:sp>
      <p:pic>
        <p:nvPicPr>
          <p:cNvPr id="3" name="object 3"/>
          <p:cNvPicPr/>
          <p:nvPr/>
        </p:nvPicPr>
        <p:blipFill>
          <a:blip r:embed="rId2" cstate="print"/>
          <a:stretch>
            <a:fillRect/>
          </a:stretch>
        </p:blipFill>
        <p:spPr>
          <a:xfrm>
            <a:off x="5183187" y="987425"/>
            <a:ext cx="6172200" cy="4873625"/>
          </a:xfrm>
          <a:prstGeom prst="rect">
            <a:avLst/>
          </a:prstGeom>
        </p:spPr>
      </p:pic>
      <p:graphicFrame>
        <p:nvGraphicFramePr>
          <p:cNvPr id="4" name="object 4"/>
          <p:cNvGraphicFramePr>
            <a:graphicFrameLocks noGrp="1"/>
          </p:cNvGraphicFramePr>
          <p:nvPr>
            <p:extLst>
              <p:ext uri="{D42A27DB-BD31-4B8C-83A1-F6EECF244321}">
                <p14:modId xmlns:p14="http://schemas.microsoft.com/office/powerpoint/2010/main" val="2427749560"/>
              </p:ext>
            </p:extLst>
          </p:nvPr>
        </p:nvGraphicFramePr>
        <p:xfrm>
          <a:off x="146050" y="577850"/>
          <a:ext cx="11588751" cy="5975351"/>
        </p:xfrm>
        <a:graphic>
          <a:graphicData uri="http://schemas.openxmlformats.org/drawingml/2006/table">
            <a:tbl>
              <a:tblPr firstRow="1" bandRow="1">
                <a:tableStyleId>{2D5ABB26-0587-4C30-8999-92F81FD0307C}</a:tableStyleId>
              </a:tblPr>
              <a:tblGrid>
                <a:gridCol w="1777974">
                  <a:extLst>
                    <a:ext uri="{9D8B030D-6E8A-4147-A177-3AD203B41FA5}">
                      <a16:colId xmlns:a16="http://schemas.microsoft.com/office/drawing/2014/main" val="20000"/>
                    </a:ext>
                  </a:extLst>
                </a:gridCol>
                <a:gridCol w="3660341">
                  <a:extLst>
                    <a:ext uri="{9D8B030D-6E8A-4147-A177-3AD203B41FA5}">
                      <a16:colId xmlns:a16="http://schemas.microsoft.com/office/drawing/2014/main" val="20001"/>
                    </a:ext>
                  </a:extLst>
                </a:gridCol>
                <a:gridCol w="1648316">
                  <a:extLst>
                    <a:ext uri="{9D8B030D-6E8A-4147-A177-3AD203B41FA5}">
                      <a16:colId xmlns:a16="http://schemas.microsoft.com/office/drawing/2014/main" val="20002"/>
                    </a:ext>
                  </a:extLst>
                </a:gridCol>
                <a:gridCol w="947500">
                  <a:extLst>
                    <a:ext uri="{9D8B030D-6E8A-4147-A177-3AD203B41FA5}">
                      <a16:colId xmlns:a16="http://schemas.microsoft.com/office/drawing/2014/main" val="20003"/>
                    </a:ext>
                  </a:extLst>
                </a:gridCol>
                <a:gridCol w="1442859">
                  <a:extLst>
                    <a:ext uri="{9D8B030D-6E8A-4147-A177-3AD203B41FA5}">
                      <a16:colId xmlns:a16="http://schemas.microsoft.com/office/drawing/2014/main" val="20004"/>
                    </a:ext>
                  </a:extLst>
                </a:gridCol>
                <a:gridCol w="2111761">
                  <a:extLst>
                    <a:ext uri="{9D8B030D-6E8A-4147-A177-3AD203B41FA5}">
                      <a16:colId xmlns:a16="http://schemas.microsoft.com/office/drawing/2014/main" val="20005"/>
                    </a:ext>
                  </a:extLst>
                </a:gridCol>
              </a:tblGrid>
              <a:tr h="743565">
                <a:tc>
                  <a:txBody>
                    <a:bodyPr/>
                    <a:lstStyle/>
                    <a:p>
                      <a:pPr marL="52069">
                        <a:lnSpc>
                          <a:spcPct val="100000"/>
                        </a:lnSpc>
                        <a:spcBef>
                          <a:spcPts val="225"/>
                        </a:spcBef>
                      </a:pPr>
                      <a:r>
                        <a:rPr sz="1100" b="1" spc="-10" dirty="0">
                          <a:solidFill>
                            <a:srgbClr val="FFFFFF"/>
                          </a:solidFill>
                          <a:latin typeface="Times New Roman"/>
                          <a:cs typeface="Times New Roman"/>
                        </a:rPr>
                        <a:t>References</a:t>
                      </a:r>
                      <a:endParaRPr sz="110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E5E5E"/>
                    </a:solidFill>
                  </a:tcPr>
                </a:tc>
                <a:tc>
                  <a:txBody>
                    <a:bodyPr/>
                    <a:lstStyle/>
                    <a:p>
                      <a:pPr marL="51435">
                        <a:lnSpc>
                          <a:spcPct val="100000"/>
                        </a:lnSpc>
                        <a:spcBef>
                          <a:spcPts val="225"/>
                        </a:spcBef>
                      </a:pPr>
                      <a:r>
                        <a:rPr sz="1100" b="1" spc="-10" dirty="0">
                          <a:solidFill>
                            <a:srgbClr val="FFFFFF"/>
                          </a:solidFill>
                          <a:latin typeface="Times New Roman"/>
                          <a:cs typeface="Times New Roman"/>
                        </a:rPr>
                        <a:t>Findings</a:t>
                      </a:r>
                      <a:endParaRPr sz="1100" dirty="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E5E5E"/>
                    </a:solidFill>
                  </a:tcPr>
                </a:tc>
                <a:tc>
                  <a:txBody>
                    <a:bodyPr/>
                    <a:lstStyle/>
                    <a:p>
                      <a:pPr marL="52069">
                        <a:lnSpc>
                          <a:spcPct val="100000"/>
                        </a:lnSpc>
                        <a:spcBef>
                          <a:spcPts val="225"/>
                        </a:spcBef>
                      </a:pPr>
                      <a:r>
                        <a:rPr sz="1100" b="1" dirty="0">
                          <a:solidFill>
                            <a:srgbClr val="FFFFFF"/>
                          </a:solidFill>
                          <a:latin typeface="Times New Roman"/>
                          <a:cs typeface="Times New Roman"/>
                        </a:rPr>
                        <a:t>Method</a:t>
                      </a:r>
                      <a:r>
                        <a:rPr sz="1100" b="1" spc="-35" dirty="0">
                          <a:solidFill>
                            <a:srgbClr val="FFFFFF"/>
                          </a:solidFill>
                          <a:latin typeface="Times New Roman"/>
                          <a:cs typeface="Times New Roman"/>
                        </a:rPr>
                        <a:t> </a:t>
                      </a:r>
                      <a:r>
                        <a:rPr sz="1100" b="1" spc="-20" dirty="0">
                          <a:solidFill>
                            <a:srgbClr val="FFFFFF"/>
                          </a:solidFill>
                          <a:latin typeface="Times New Roman"/>
                          <a:cs typeface="Times New Roman"/>
                        </a:rPr>
                        <a:t>Used</a:t>
                      </a:r>
                      <a:endParaRPr sz="110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E5E5E"/>
                    </a:solidFill>
                  </a:tcPr>
                </a:tc>
                <a:tc>
                  <a:txBody>
                    <a:bodyPr/>
                    <a:lstStyle/>
                    <a:p>
                      <a:pPr marL="52069">
                        <a:lnSpc>
                          <a:spcPct val="100000"/>
                        </a:lnSpc>
                        <a:spcBef>
                          <a:spcPts val="225"/>
                        </a:spcBef>
                      </a:pPr>
                      <a:r>
                        <a:rPr sz="1100" b="1" spc="-10" dirty="0">
                          <a:solidFill>
                            <a:srgbClr val="FFFFFF"/>
                          </a:solidFill>
                          <a:latin typeface="Times New Roman"/>
                          <a:cs typeface="Times New Roman"/>
                        </a:rPr>
                        <a:t>Contribution</a:t>
                      </a:r>
                      <a:endParaRPr sz="110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E5E5E"/>
                    </a:solidFill>
                  </a:tcPr>
                </a:tc>
                <a:tc>
                  <a:txBody>
                    <a:bodyPr/>
                    <a:lstStyle/>
                    <a:p>
                      <a:pPr marL="52069">
                        <a:lnSpc>
                          <a:spcPct val="100000"/>
                        </a:lnSpc>
                        <a:spcBef>
                          <a:spcPts val="225"/>
                        </a:spcBef>
                      </a:pPr>
                      <a:r>
                        <a:rPr sz="1100" b="1" dirty="0">
                          <a:solidFill>
                            <a:srgbClr val="FFFFFF"/>
                          </a:solidFill>
                          <a:latin typeface="Times New Roman"/>
                          <a:cs typeface="Times New Roman"/>
                        </a:rPr>
                        <a:t>Important</a:t>
                      </a:r>
                      <a:r>
                        <a:rPr sz="1100" b="1" spc="-20" dirty="0">
                          <a:solidFill>
                            <a:srgbClr val="FFFFFF"/>
                          </a:solidFill>
                          <a:latin typeface="Times New Roman"/>
                          <a:cs typeface="Times New Roman"/>
                        </a:rPr>
                        <a:t> </a:t>
                      </a:r>
                      <a:r>
                        <a:rPr sz="1100" b="1" spc="-10" dirty="0">
                          <a:solidFill>
                            <a:srgbClr val="FFFFFF"/>
                          </a:solidFill>
                          <a:latin typeface="Times New Roman"/>
                          <a:cs typeface="Times New Roman"/>
                        </a:rPr>
                        <a:t>Features</a:t>
                      </a:r>
                      <a:endParaRPr sz="110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E5E5E"/>
                    </a:solidFill>
                  </a:tcPr>
                </a:tc>
                <a:tc>
                  <a:txBody>
                    <a:bodyPr/>
                    <a:lstStyle/>
                    <a:p>
                      <a:pPr marL="52069">
                        <a:lnSpc>
                          <a:spcPct val="100000"/>
                        </a:lnSpc>
                        <a:spcBef>
                          <a:spcPts val="225"/>
                        </a:spcBef>
                      </a:pPr>
                      <a:r>
                        <a:rPr sz="1100" b="1" spc="-10" dirty="0">
                          <a:solidFill>
                            <a:srgbClr val="FFFFFF"/>
                          </a:solidFill>
                          <a:latin typeface="Times New Roman"/>
                          <a:cs typeface="Times New Roman"/>
                        </a:rPr>
                        <a:t>Drawback</a:t>
                      </a:r>
                      <a:endParaRPr sz="110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E5E5E"/>
                    </a:solidFill>
                  </a:tcPr>
                </a:tc>
                <a:extLst>
                  <a:ext uri="{0D108BD9-81ED-4DB2-BD59-A6C34878D82A}">
                    <a16:rowId xmlns:a16="http://schemas.microsoft.com/office/drawing/2014/main" val="10000"/>
                  </a:ext>
                </a:extLst>
              </a:tr>
              <a:tr h="932104">
                <a:tc>
                  <a:txBody>
                    <a:bodyPr/>
                    <a:lstStyle/>
                    <a:p>
                      <a:pPr marL="52069">
                        <a:lnSpc>
                          <a:spcPct val="100000"/>
                        </a:lnSpc>
                        <a:spcBef>
                          <a:spcPts val="325"/>
                        </a:spcBef>
                      </a:pPr>
                      <a:r>
                        <a:rPr lang="da-DK" sz="1100" dirty="0">
                          <a:latin typeface="Times New Roman"/>
                          <a:cs typeface="Times New Roman"/>
                        </a:rPr>
                        <a:t>Lewis et al. (2020) – RAG</a:t>
                      </a:r>
                      <a:endParaRPr sz="1100" dirty="0">
                        <a:latin typeface="Times New Roman"/>
                        <a:cs typeface="Times New Roman"/>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1D1"/>
                    </a:solidFill>
                  </a:tcPr>
                </a:tc>
                <a:tc>
                  <a:txBody>
                    <a:bodyPr/>
                    <a:lstStyle/>
                    <a:p>
                      <a:pPr marL="51435" marR="295910">
                        <a:lnSpc>
                          <a:spcPts val="1200"/>
                        </a:lnSpc>
                        <a:spcBef>
                          <a:spcPts val="465"/>
                        </a:spcBef>
                      </a:pPr>
                      <a:r>
                        <a:rPr lang="en-US" sz="1100" spc="-10" dirty="0">
                          <a:latin typeface="Times New Roman"/>
                          <a:cs typeface="Times New Roman"/>
                        </a:rPr>
                        <a:t>Combines external knowledge with LLMs for improved factual responses</a:t>
                      </a:r>
                      <a:endParaRPr sz="1100" dirty="0">
                        <a:latin typeface="Times New Roman"/>
                        <a:cs typeface="Times New Roman"/>
                      </a:endParaRPr>
                    </a:p>
                  </a:txBody>
                  <a:tcPr marL="0" marR="0" marT="590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1D1"/>
                    </a:solidFill>
                  </a:tcPr>
                </a:tc>
                <a:tc>
                  <a:txBody>
                    <a:bodyPr/>
                    <a:lstStyle/>
                    <a:p>
                      <a:pPr marL="52069" marR="238125">
                        <a:lnSpc>
                          <a:spcPts val="1200"/>
                        </a:lnSpc>
                        <a:spcBef>
                          <a:spcPts val="465"/>
                        </a:spcBef>
                      </a:pPr>
                      <a:r>
                        <a:rPr lang="en-IN" sz="1100" dirty="0">
                          <a:latin typeface="Times New Roman"/>
                          <a:cs typeface="Times New Roman"/>
                        </a:rPr>
                        <a:t>Retrieval-Augmented Generation</a:t>
                      </a:r>
                      <a:endParaRPr sz="1100" dirty="0">
                        <a:latin typeface="Times New Roman"/>
                        <a:cs typeface="Times New Roman"/>
                      </a:endParaRPr>
                    </a:p>
                  </a:txBody>
                  <a:tcPr marL="0" marR="0" marT="590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1D1"/>
                    </a:solidFill>
                  </a:tcPr>
                </a:tc>
                <a:tc>
                  <a:txBody>
                    <a:bodyPr/>
                    <a:lstStyle/>
                    <a:p>
                      <a:pPr>
                        <a:lnSpc>
                          <a:spcPct val="100000"/>
                        </a:lnSpc>
                      </a:pPr>
                      <a:r>
                        <a:rPr lang="en-US" sz="1100" dirty="0"/>
                        <a:t>Reduces hallucination and improves contextual accuracy</a:t>
                      </a:r>
                      <a:endParaRPr sz="1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1D1"/>
                    </a:solidFill>
                  </a:tcPr>
                </a:tc>
                <a:tc>
                  <a:txBody>
                    <a:bodyPr/>
                    <a:lstStyle/>
                    <a:p>
                      <a:pPr marL="52069" marR="197485">
                        <a:lnSpc>
                          <a:spcPts val="1200"/>
                        </a:lnSpc>
                        <a:spcBef>
                          <a:spcPts val="465"/>
                        </a:spcBef>
                      </a:pPr>
                      <a:r>
                        <a:rPr lang="en-US" sz="1100" dirty="0"/>
                        <a:t>Dense retrieval, external knowledge integration, context grounding</a:t>
                      </a:r>
                      <a:endParaRPr sz="1100" dirty="0">
                        <a:latin typeface="Times New Roman"/>
                        <a:cs typeface="Times New Roman"/>
                      </a:endParaRPr>
                    </a:p>
                  </a:txBody>
                  <a:tcPr marL="0" marR="0" marT="590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1D1"/>
                    </a:solidFill>
                  </a:tcPr>
                </a:tc>
                <a:tc>
                  <a:txBody>
                    <a:bodyPr/>
                    <a:lstStyle/>
                    <a:p>
                      <a:pPr marL="52069">
                        <a:lnSpc>
                          <a:spcPct val="100000"/>
                        </a:lnSpc>
                        <a:spcBef>
                          <a:spcPts val="325"/>
                        </a:spcBef>
                      </a:pPr>
                      <a:r>
                        <a:rPr lang="en-IN" sz="1100" dirty="0"/>
                        <a:t>Increased retrieval latency</a:t>
                      </a:r>
                      <a:r>
                        <a:rPr sz="1100" spc="-20" dirty="0">
                          <a:latin typeface="Times New Roman"/>
                          <a:cs typeface="Times New Roman"/>
                        </a:rPr>
                        <a:t>.</a:t>
                      </a:r>
                      <a:endParaRPr sz="1100" dirty="0">
                        <a:latin typeface="Times New Roman"/>
                        <a:cs typeface="Times New Roman"/>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1D1"/>
                    </a:solidFill>
                  </a:tcPr>
                </a:tc>
                <a:extLst>
                  <a:ext uri="{0D108BD9-81ED-4DB2-BD59-A6C34878D82A}">
                    <a16:rowId xmlns:a16="http://schemas.microsoft.com/office/drawing/2014/main" val="10001"/>
                  </a:ext>
                </a:extLst>
              </a:tr>
              <a:tr h="901740">
                <a:tc>
                  <a:txBody>
                    <a:bodyPr/>
                    <a:lstStyle/>
                    <a:p>
                      <a:pPr marL="52069">
                        <a:lnSpc>
                          <a:spcPct val="100000"/>
                        </a:lnSpc>
                        <a:spcBef>
                          <a:spcPts val="225"/>
                        </a:spcBef>
                      </a:pPr>
                      <a:r>
                        <a:rPr lang="da-DK" sz="1100" dirty="0">
                          <a:latin typeface="Times New Roman"/>
                          <a:cs typeface="Times New Roman"/>
                        </a:rPr>
                        <a:t>Karpukhin et al. – Dense Retrieval</a:t>
                      </a:r>
                      <a:endParaRPr sz="1100" dirty="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9E9"/>
                    </a:solidFill>
                  </a:tcPr>
                </a:tc>
                <a:tc>
                  <a:txBody>
                    <a:bodyPr/>
                    <a:lstStyle/>
                    <a:p>
                      <a:pPr marL="51435" marR="53340">
                        <a:lnSpc>
                          <a:spcPts val="1200"/>
                        </a:lnSpc>
                        <a:spcBef>
                          <a:spcPts val="365"/>
                        </a:spcBef>
                      </a:pPr>
                      <a:r>
                        <a:rPr lang="en-IN" sz="1100" dirty="0"/>
                        <a:t>Dense vector retrieval improves semantic search</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9E9"/>
                    </a:solidFill>
                  </a:tcPr>
                </a:tc>
                <a:tc>
                  <a:txBody>
                    <a:bodyPr/>
                    <a:lstStyle/>
                    <a:p>
                      <a:pPr marL="52069" marR="440055">
                        <a:lnSpc>
                          <a:spcPts val="1200"/>
                        </a:lnSpc>
                        <a:spcBef>
                          <a:spcPts val="365"/>
                        </a:spcBef>
                      </a:pPr>
                      <a:r>
                        <a:rPr lang="en-IN" sz="1100" dirty="0"/>
                        <a:t>Bi-Encoder + Dense Retrieval</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9E9"/>
                    </a:solidFill>
                  </a:tcPr>
                </a:tc>
                <a:tc>
                  <a:txBody>
                    <a:bodyPr/>
                    <a:lstStyle/>
                    <a:p>
                      <a:pPr>
                        <a:lnSpc>
                          <a:spcPct val="100000"/>
                        </a:lnSpc>
                      </a:pPr>
                      <a:r>
                        <a:rPr lang="en-IN" sz="1100" dirty="0"/>
                        <a:t>Better contextual document retrieval</a:t>
                      </a:r>
                      <a:endParaRPr sz="1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9E9"/>
                    </a:solidFill>
                  </a:tcPr>
                </a:tc>
                <a:tc>
                  <a:txBody>
                    <a:bodyPr/>
                    <a:lstStyle/>
                    <a:p>
                      <a:pPr marL="52069" marR="185420">
                        <a:lnSpc>
                          <a:spcPts val="1200"/>
                        </a:lnSpc>
                        <a:spcBef>
                          <a:spcPts val="365"/>
                        </a:spcBef>
                      </a:pPr>
                      <a:r>
                        <a:rPr lang="en-US" sz="1100" dirty="0"/>
                        <a:t>Semantic embeddings, vector similarity search</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9E9"/>
                    </a:solidFill>
                  </a:tcPr>
                </a:tc>
                <a:tc>
                  <a:txBody>
                    <a:bodyPr/>
                    <a:lstStyle/>
                    <a:p>
                      <a:pPr marL="52069" marR="141605">
                        <a:lnSpc>
                          <a:spcPts val="1200"/>
                        </a:lnSpc>
                        <a:spcBef>
                          <a:spcPts val="365"/>
                        </a:spcBef>
                      </a:pPr>
                      <a:r>
                        <a:rPr lang="en-IN" sz="1100" dirty="0"/>
                        <a:t>High computational cost</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9E9"/>
                    </a:solidFill>
                  </a:tcPr>
                </a:tc>
                <a:extLst>
                  <a:ext uri="{0D108BD9-81ED-4DB2-BD59-A6C34878D82A}">
                    <a16:rowId xmlns:a16="http://schemas.microsoft.com/office/drawing/2014/main" val="10002"/>
                  </a:ext>
                </a:extLst>
              </a:tr>
              <a:tr h="1895277">
                <a:tc>
                  <a:txBody>
                    <a:bodyPr/>
                    <a:lstStyle/>
                    <a:p>
                      <a:pPr marL="52069">
                        <a:lnSpc>
                          <a:spcPct val="100000"/>
                        </a:lnSpc>
                        <a:spcBef>
                          <a:spcPts val="225"/>
                        </a:spcBef>
                      </a:pPr>
                      <a:r>
                        <a:rPr lang="de-DE" sz="1100" dirty="0"/>
                        <a:t>Weizenbaum (ELIZA) → Modern LLM Systems</a:t>
                      </a:r>
                      <a:endParaRPr sz="1100" dirty="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1D1"/>
                    </a:solidFill>
                  </a:tcPr>
                </a:tc>
                <a:tc>
                  <a:txBody>
                    <a:bodyPr/>
                    <a:lstStyle/>
                    <a:p>
                      <a:pPr marL="51435" marR="130810">
                        <a:lnSpc>
                          <a:spcPts val="1200"/>
                        </a:lnSpc>
                        <a:spcBef>
                          <a:spcPts val="365"/>
                        </a:spcBef>
                      </a:pPr>
                      <a:r>
                        <a:rPr lang="en-US" sz="1100" dirty="0"/>
                        <a:t>Conversational systems evolved from rule-based to neural systems</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1D1"/>
                    </a:solidFill>
                  </a:tcPr>
                </a:tc>
                <a:tc>
                  <a:txBody>
                    <a:bodyPr/>
                    <a:lstStyle/>
                    <a:p>
                      <a:pPr marL="52069" marR="463550">
                        <a:lnSpc>
                          <a:spcPts val="1200"/>
                        </a:lnSpc>
                        <a:spcBef>
                          <a:spcPts val="365"/>
                        </a:spcBef>
                      </a:pPr>
                      <a:r>
                        <a:rPr lang="en-IN" sz="1100" dirty="0"/>
                        <a:t>Transformer-based Conversational AI</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1D1"/>
                    </a:solidFill>
                  </a:tcPr>
                </a:tc>
                <a:tc>
                  <a:txBody>
                    <a:bodyPr/>
                    <a:lstStyle/>
                    <a:p>
                      <a:pPr>
                        <a:lnSpc>
                          <a:spcPct val="100000"/>
                        </a:lnSpc>
                      </a:pPr>
                      <a:r>
                        <a:rPr lang="en-IN" sz="1100" dirty="0"/>
                        <a:t>Human-like multi-turn interactions</a:t>
                      </a:r>
                      <a:endParaRPr sz="1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1D1"/>
                    </a:solidFill>
                  </a:tcPr>
                </a:tc>
                <a:tc>
                  <a:txBody>
                    <a:bodyPr/>
                    <a:lstStyle/>
                    <a:p>
                      <a:pPr marL="52069" marR="232410" algn="just">
                        <a:lnSpc>
                          <a:spcPts val="1200"/>
                        </a:lnSpc>
                        <a:spcBef>
                          <a:spcPts val="365"/>
                        </a:spcBef>
                      </a:pPr>
                      <a:r>
                        <a:rPr lang="en-IN" sz="1100" dirty="0"/>
                        <a:t>Context understanding, dialogue management</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1D1"/>
                    </a:solidFill>
                  </a:tcPr>
                </a:tc>
                <a:tc>
                  <a:txBody>
                    <a:bodyPr/>
                    <a:lstStyle/>
                    <a:p>
                      <a:pPr marL="52069" marR="269875">
                        <a:lnSpc>
                          <a:spcPts val="1200"/>
                        </a:lnSpc>
                        <a:spcBef>
                          <a:spcPts val="365"/>
                        </a:spcBef>
                      </a:pPr>
                      <a:r>
                        <a:rPr lang="en-IN" sz="1100" dirty="0"/>
                        <a:t>Context retention limitations</a:t>
                      </a:r>
                      <a:r>
                        <a:rPr sz="1100" spc="-10" dirty="0">
                          <a:latin typeface="Times New Roman"/>
                          <a:cs typeface="Times New Roman"/>
                        </a:rPr>
                        <a:t>.</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1D1"/>
                    </a:solidFill>
                  </a:tcPr>
                </a:tc>
                <a:extLst>
                  <a:ext uri="{0D108BD9-81ED-4DB2-BD59-A6C34878D82A}">
                    <a16:rowId xmlns:a16="http://schemas.microsoft.com/office/drawing/2014/main" val="10003"/>
                  </a:ext>
                </a:extLst>
              </a:tr>
              <a:tr h="1502665">
                <a:tc>
                  <a:txBody>
                    <a:bodyPr/>
                    <a:lstStyle/>
                    <a:p>
                      <a:pPr marL="52069">
                        <a:lnSpc>
                          <a:spcPct val="100000"/>
                        </a:lnSpc>
                        <a:spcBef>
                          <a:spcPts val="225"/>
                        </a:spcBef>
                      </a:pPr>
                      <a:r>
                        <a:rPr lang="it-IT" sz="1100" dirty="0"/>
                        <a:t>Clarizia et al. (2018), Ranoliya et al. (2017)</a:t>
                      </a:r>
                      <a:endParaRPr sz="1100" dirty="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solidFill>
                      <a:srgbClr val="E9E9E9"/>
                    </a:solidFill>
                  </a:tcPr>
                </a:tc>
                <a:tc>
                  <a:txBody>
                    <a:bodyPr/>
                    <a:lstStyle/>
                    <a:p>
                      <a:pPr marL="51435" marR="119380">
                        <a:lnSpc>
                          <a:spcPts val="1200"/>
                        </a:lnSpc>
                        <a:spcBef>
                          <a:spcPts val="365"/>
                        </a:spcBef>
                      </a:pPr>
                      <a:r>
                        <a:rPr lang="en-IN" sz="1100" dirty="0"/>
                        <a:t>Academic chatbots improve engagement</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solidFill>
                      <a:srgbClr val="E9E9E9"/>
                    </a:solidFill>
                  </a:tcPr>
                </a:tc>
                <a:tc>
                  <a:txBody>
                    <a:bodyPr/>
                    <a:lstStyle/>
                    <a:p>
                      <a:pPr marL="52069" marR="622300">
                        <a:lnSpc>
                          <a:spcPts val="1200"/>
                        </a:lnSpc>
                        <a:spcBef>
                          <a:spcPts val="365"/>
                        </a:spcBef>
                      </a:pPr>
                      <a:r>
                        <a:rPr lang="en-IN" sz="1100" dirty="0"/>
                        <a:t>FAQ Chatbots + NLP</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solidFill>
                      <a:srgbClr val="E9E9E9"/>
                    </a:solidFill>
                  </a:tcPr>
                </a:tc>
                <a:tc>
                  <a:txBody>
                    <a:bodyPr/>
                    <a:lstStyle/>
                    <a:p>
                      <a:pPr>
                        <a:lnSpc>
                          <a:spcPct val="100000"/>
                        </a:lnSpc>
                      </a:pPr>
                      <a:r>
                        <a:rPr lang="en-IN" sz="1100" dirty="0"/>
                        <a:t>Improved student support systems</a:t>
                      </a:r>
                      <a:endParaRPr sz="1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E9E9E9"/>
                    </a:solidFill>
                  </a:tcPr>
                </a:tc>
                <a:tc>
                  <a:txBody>
                    <a:bodyPr/>
                    <a:lstStyle/>
                    <a:p>
                      <a:pPr marL="52069">
                        <a:lnSpc>
                          <a:spcPct val="100000"/>
                        </a:lnSpc>
                        <a:spcBef>
                          <a:spcPts val="225"/>
                        </a:spcBef>
                      </a:pPr>
                      <a:r>
                        <a:rPr lang="en-IN" sz="1100" dirty="0"/>
                        <a:t>Automated assistance, personalized interaction</a:t>
                      </a:r>
                      <a:endParaRPr sz="1100" dirty="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solidFill>
                      <a:srgbClr val="E9E9E9"/>
                    </a:solidFill>
                  </a:tcPr>
                </a:tc>
                <a:tc>
                  <a:txBody>
                    <a:bodyPr/>
                    <a:lstStyle/>
                    <a:p>
                      <a:pPr marL="52069">
                        <a:lnSpc>
                          <a:spcPct val="100000"/>
                        </a:lnSpc>
                        <a:spcBef>
                          <a:spcPts val="225"/>
                        </a:spcBef>
                      </a:pPr>
                      <a:r>
                        <a:rPr lang="en-US" sz="1100" dirty="0"/>
                        <a:t>Poor handling of unstructured documents</a:t>
                      </a:r>
                      <a:r>
                        <a:rPr sz="1100" spc="-10" dirty="0">
                          <a:latin typeface="Times New Roman"/>
                          <a:cs typeface="Times New Roman"/>
                        </a:rPr>
                        <a:t>.</a:t>
                      </a:r>
                      <a:endParaRPr sz="1100" dirty="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solidFill>
                      <a:srgbClr val="E9E9E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096000" y="0"/>
            <a:ext cx="3657600" cy="6858000"/>
          </a:xfrm>
          <a:custGeom>
            <a:avLst/>
            <a:gdLst/>
            <a:ahLst/>
            <a:cxnLst/>
            <a:rect l="l" t="t" r="r" b="b"/>
            <a:pathLst>
              <a:path w="3657600" h="6858000">
                <a:moveTo>
                  <a:pt x="3657600" y="0"/>
                </a:moveTo>
                <a:lnTo>
                  <a:pt x="0" y="0"/>
                </a:lnTo>
                <a:lnTo>
                  <a:pt x="0" y="6858000"/>
                </a:lnTo>
                <a:lnTo>
                  <a:pt x="3657600" y="6858000"/>
                </a:lnTo>
                <a:lnTo>
                  <a:pt x="3657600" y="0"/>
                </a:lnTo>
                <a:close/>
              </a:path>
            </a:pathLst>
          </a:custGeom>
          <a:solidFill>
            <a:srgbClr val="EFEDEC"/>
          </a:solidFill>
        </p:spPr>
        <p:txBody>
          <a:bodyPr wrap="square" lIns="0" tIns="0" rIns="0" bIns="0" rtlCol="0"/>
          <a:lstStyle/>
          <a:p>
            <a:endParaRPr/>
          </a:p>
        </p:txBody>
      </p:sp>
      <p:sp>
        <p:nvSpPr>
          <p:cNvPr id="3" name="object 3"/>
          <p:cNvSpPr/>
          <p:nvPr/>
        </p:nvSpPr>
        <p:spPr>
          <a:xfrm>
            <a:off x="11353800" y="566056"/>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sp>
        <p:nvSpPr>
          <p:cNvPr id="4" name="object 4"/>
          <p:cNvSpPr/>
          <p:nvPr/>
        </p:nvSpPr>
        <p:spPr>
          <a:xfrm>
            <a:off x="11353800" y="653143"/>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527239" rIns="0" bIns="0" rtlCol="0">
            <a:spAutoFit/>
          </a:bodyPr>
          <a:lstStyle/>
          <a:p>
            <a:pPr marL="624205">
              <a:lnSpc>
                <a:spcPct val="100000"/>
              </a:lnSpc>
              <a:spcBef>
                <a:spcPts val="100"/>
              </a:spcBef>
            </a:pPr>
            <a:r>
              <a:rPr sz="4800" spc="-20" dirty="0">
                <a:latin typeface="Calibri"/>
                <a:cs typeface="Calibri"/>
              </a:rPr>
              <a:t>Dataset</a:t>
            </a:r>
            <a:endParaRPr sz="4800" dirty="0">
              <a:latin typeface="Calibri"/>
              <a:cs typeface="Calibri"/>
            </a:endParaRPr>
          </a:p>
        </p:txBody>
      </p:sp>
      <p:sp>
        <p:nvSpPr>
          <p:cNvPr id="6" name="object 6"/>
          <p:cNvSpPr txBox="1"/>
          <p:nvPr/>
        </p:nvSpPr>
        <p:spPr>
          <a:xfrm>
            <a:off x="1064045" y="2104364"/>
            <a:ext cx="810260" cy="360680"/>
          </a:xfrm>
          <a:prstGeom prst="rect">
            <a:avLst/>
          </a:prstGeom>
        </p:spPr>
        <p:txBody>
          <a:bodyPr vert="horz" wrap="square" lIns="0" tIns="12700" rIns="0" bIns="0" rtlCol="0">
            <a:spAutoFit/>
          </a:bodyPr>
          <a:lstStyle/>
          <a:p>
            <a:pPr marL="12700">
              <a:lnSpc>
                <a:spcPct val="100000"/>
              </a:lnSpc>
              <a:spcBef>
                <a:spcPts val="100"/>
              </a:spcBef>
            </a:pPr>
            <a:r>
              <a:rPr sz="2200" b="1" spc="-10" dirty="0">
                <a:solidFill>
                  <a:srgbClr val="404040"/>
                </a:solidFill>
                <a:latin typeface="Calibri"/>
                <a:cs typeface="Calibri"/>
              </a:rPr>
              <a:t>Source</a:t>
            </a:r>
            <a:endParaRPr sz="2200" dirty="0">
              <a:latin typeface="Calibri"/>
              <a:cs typeface="Calibri"/>
            </a:endParaRPr>
          </a:p>
        </p:txBody>
      </p:sp>
      <p:sp>
        <p:nvSpPr>
          <p:cNvPr id="7" name="object 7"/>
          <p:cNvSpPr txBox="1"/>
          <p:nvPr/>
        </p:nvSpPr>
        <p:spPr>
          <a:xfrm>
            <a:off x="2438400" y="1490897"/>
            <a:ext cx="8724900" cy="1587614"/>
          </a:xfrm>
          <a:prstGeom prst="rect">
            <a:avLst/>
          </a:prstGeom>
        </p:spPr>
        <p:txBody>
          <a:bodyPr vert="horz" wrap="square" lIns="0" tIns="38100" rIns="0" bIns="0" rtlCol="0">
            <a:spAutoFit/>
          </a:bodyPr>
          <a:lstStyle/>
          <a:p>
            <a:r>
              <a:rPr lang="en-US" sz="1400" dirty="0">
                <a:solidFill>
                  <a:schemeClr val="tx1">
                    <a:lumMod val="65000"/>
                    <a:lumOff val="35000"/>
                  </a:schemeClr>
                </a:solidFill>
              </a:rPr>
              <a:t>The dataset used for ORION is based on publicly available benchmark datasets including Stanford Question Answering Dataset (</a:t>
            </a:r>
            <a:r>
              <a:rPr lang="en-US" sz="1400" dirty="0" err="1">
                <a:solidFill>
                  <a:schemeClr val="tx1">
                    <a:lumMod val="65000"/>
                    <a:lumOff val="35000"/>
                  </a:schemeClr>
                </a:solidFill>
              </a:rPr>
              <a:t>SQuAD</a:t>
            </a:r>
            <a:r>
              <a:rPr lang="en-US" sz="1400" dirty="0">
                <a:solidFill>
                  <a:schemeClr val="tx1">
                    <a:lumMod val="65000"/>
                    <a:lumOff val="35000"/>
                  </a:schemeClr>
                </a:solidFill>
              </a:rPr>
              <a:t>) and MS MARCO, which are widely used for Natural Language Processing and Information Retrieval research.</a:t>
            </a:r>
          </a:p>
          <a:p>
            <a:r>
              <a:rPr lang="en-US" sz="1400" dirty="0" err="1">
                <a:solidFill>
                  <a:schemeClr val="tx1">
                    <a:lumMod val="65000"/>
                    <a:lumOff val="35000"/>
                  </a:schemeClr>
                </a:solidFill>
              </a:rPr>
              <a:t>SQuAD</a:t>
            </a:r>
            <a:r>
              <a:rPr lang="en-US" sz="1400" dirty="0">
                <a:solidFill>
                  <a:schemeClr val="tx1">
                    <a:lumMod val="65000"/>
                    <a:lumOff val="35000"/>
                  </a:schemeClr>
                </a:solidFill>
              </a:rPr>
              <a:t> contains more than 100,000 question-answer pairs extracted from Wikipedia articles, while MS MARCO contains over 1 million real-world search queries and relevant passages collected from Bing search logs.</a:t>
            </a:r>
          </a:p>
          <a:p>
            <a:pPr marL="12700" marR="5080">
              <a:lnSpc>
                <a:spcPts val="1650"/>
              </a:lnSpc>
              <a:spcBef>
                <a:spcPts val="300"/>
              </a:spcBef>
            </a:pPr>
            <a:endParaRPr sz="1500" dirty="0">
              <a:solidFill>
                <a:schemeClr val="tx1">
                  <a:lumMod val="65000"/>
                  <a:lumOff val="35000"/>
                </a:schemeClr>
              </a:solidFill>
              <a:latin typeface="Calibri"/>
              <a:cs typeface="Calibri"/>
            </a:endParaRPr>
          </a:p>
        </p:txBody>
      </p:sp>
      <p:graphicFrame>
        <p:nvGraphicFramePr>
          <p:cNvPr id="12" name="object 4">
            <a:extLst>
              <a:ext uri="{FF2B5EF4-FFF2-40B4-BE49-F238E27FC236}">
                <a16:creationId xmlns:a16="http://schemas.microsoft.com/office/drawing/2014/main" id="{59C084D8-19D5-D76D-AD4C-8E3082CEEFBA}"/>
              </a:ext>
            </a:extLst>
          </p:cNvPr>
          <p:cNvGraphicFramePr>
            <a:graphicFrameLocks noGrp="1"/>
          </p:cNvGraphicFramePr>
          <p:nvPr>
            <p:extLst>
              <p:ext uri="{D42A27DB-BD31-4B8C-83A1-F6EECF244321}">
                <p14:modId xmlns:p14="http://schemas.microsoft.com/office/powerpoint/2010/main" val="3149670722"/>
              </p:ext>
            </p:extLst>
          </p:nvPr>
        </p:nvGraphicFramePr>
        <p:xfrm>
          <a:off x="2438400" y="2894011"/>
          <a:ext cx="8077200" cy="3229076"/>
        </p:xfrm>
        <a:graphic>
          <a:graphicData uri="http://schemas.openxmlformats.org/drawingml/2006/table">
            <a:tbl>
              <a:tblPr firstRow="1" bandRow="1">
                <a:tableStyleId>{2D5ABB26-0587-4C30-8999-92F81FD0307C}</a:tableStyleId>
              </a:tblPr>
              <a:tblGrid>
                <a:gridCol w="1349564">
                  <a:extLst>
                    <a:ext uri="{9D8B030D-6E8A-4147-A177-3AD203B41FA5}">
                      <a16:colId xmlns:a16="http://schemas.microsoft.com/office/drawing/2014/main" val="20000"/>
                    </a:ext>
                  </a:extLst>
                </a:gridCol>
                <a:gridCol w="2778368">
                  <a:extLst>
                    <a:ext uri="{9D8B030D-6E8A-4147-A177-3AD203B41FA5}">
                      <a16:colId xmlns:a16="http://schemas.microsoft.com/office/drawing/2014/main" val="20001"/>
                    </a:ext>
                  </a:extLst>
                </a:gridCol>
                <a:gridCol w="1251148">
                  <a:extLst>
                    <a:ext uri="{9D8B030D-6E8A-4147-A177-3AD203B41FA5}">
                      <a16:colId xmlns:a16="http://schemas.microsoft.com/office/drawing/2014/main" val="20002"/>
                    </a:ext>
                  </a:extLst>
                </a:gridCol>
                <a:gridCol w="1218217">
                  <a:extLst>
                    <a:ext uri="{9D8B030D-6E8A-4147-A177-3AD203B41FA5}">
                      <a16:colId xmlns:a16="http://schemas.microsoft.com/office/drawing/2014/main" val="20004"/>
                    </a:ext>
                  </a:extLst>
                </a:gridCol>
                <a:gridCol w="1479903">
                  <a:extLst>
                    <a:ext uri="{9D8B030D-6E8A-4147-A177-3AD203B41FA5}">
                      <a16:colId xmlns:a16="http://schemas.microsoft.com/office/drawing/2014/main" val="20005"/>
                    </a:ext>
                  </a:extLst>
                </a:gridCol>
              </a:tblGrid>
              <a:tr h="318459">
                <a:tc>
                  <a:txBody>
                    <a:bodyPr/>
                    <a:lstStyle/>
                    <a:p>
                      <a:pPr marL="52069">
                        <a:lnSpc>
                          <a:spcPct val="100000"/>
                        </a:lnSpc>
                        <a:spcBef>
                          <a:spcPts val="225"/>
                        </a:spcBef>
                      </a:pPr>
                      <a:r>
                        <a:rPr lang="en-IN" sz="1100" b="1" spc="-10" dirty="0">
                          <a:solidFill>
                            <a:srgbClr val="FFFFFF"/>
                          </a:solidFill>
                          <a:latin typeface="Times New Roman"/>
                          <a:cs typeface="Times New Roman"/>
                        </a:rPr>
                        <a:t>Dataset</a:t>
                      </a:r>
                      <a:endParaRPr sz="1100" dirty="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E5E5E"/>
                    </a:solidFill>
                  </a:tcPr>
                </a:tc>
                <a:tc>
                  <a:txBody>
                    <a:bodyPr/>
                    <a:lstStyle/>
                    <a:p>
                      <a:pPr marL="51435">
                        <a:lnSpc>
                          <a:spcPct val="100000"/>
                        </a:lnSpc>
                        <a:spcBef>
                          <a:spcPts val="225"/>
                        </a:spcBef>
                      </a:pPr>
                      <a:r>
                        <a:rPr lang="en-IN" sz="1100" b="1" spc="-10" dirty="0">
                          <a:solidFill>
                            <a:srgbClr val="FFFFFF"/>
                          </a:solidFill>
                          <a:latin typeface="Times New Roman"/>
                          <a:cs typeface="Times New Roman"/>
                        </a:rPr>
                        <a:t>Data Type</a:t>
                      </a:r>
                      <a:endParaRPr sz="1100" dirty="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E5E5E"/>
                    </a:solidFill>
                  </a:tcPr>
                </a:tc>
                <a:tc>
                  <a:txBody>
                    <a:bodyPr/>
                    <a:lstStyle/>
                    <a:p>
                      <a:pPr marL="52069">
                        <a:lnSpc>
                          <a:spcPct val="100000"/>
                        </a:lnSpc>
                        <a:spcBef>
                          <a:spcPts val="225"/>
                        </a:spcBef>
                      </a:pPr>
                      <a:r>
                        <a:rPr lang="en-IN" sz="1100" b="1" dirty="0">
                          <a:solidFill>
                            <a:srgbClr val="FFFFFF"/>
                          </a:solidFill>
                          <a:latin typeface="Times New Roman"/>
                          <a:cs typeface="Times New Roman"/>
                        </a:rPr>
                        <a:t>Size</a:t>
                      </a:r>
                      <a:endParaRPr sz="1100" dirty="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E5E5E"/>
                    </a:solidFill>
                  </a:tcPr>
                </a:tc>
                <a:tc>
                  <a:txBody>
                    <a:bodyPr/>
                    <a:lstStyle/>
                    <a:p>
                      <a:pPr marL="52069">
                        <a:lnSpc>
                          <a:spcPct val="100000"/>
                        </a:lnSpc>
                        <a:spcBef>
                          <a:spcPts val="225"/>
                        </a:spcBef>
                      </a:pPr>
                      <a:r>
                        <a:rPr lang="en-IN" sz="1100" b="1" dirty="0">
                          <a:solidFill>
                            <a:srgbClr val="FFFFFF"/>
                          </a:solidFill>
                          <a:latin typeface="Times New Roman"/>
                          <a:cs typeface="Times New Roman"/>
                        </a:rPr>
                        <a:t>Purpose in Orion</a:t>
                      </a:r>
                      <a:endParaRPr sz="1100" dirty="0">
                        <a:latin typeface="Times New Roman"/>
                        <a:cs typeface="Times New Roman"/>
                      </a:endParaRPr>
                    </a:p>
                  </a:txBody>
                  <a:tcPr marL="0" marR="0" marT="28575"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E5E5E"/>
                    </a:solidFill>
                  </a:tcPr>
                </a:tc>
                <a:tc>
                  <a:txBody>
                    <a:bodyPr/>
                    <a:lstStyle/>
                    <a:p>
                      <a:pPr marL="52069">
                        <a:lnSpc>
                          <a:spcPct val="100000"/>
                        </a:lnSpc>
                        <a:spcBef>
                          <a:spcPts val="225"/>
                        </a:spcBef>
                      </a:pPr>
                      <a:r>
                        <a:rPr lang="en-IN" sz="1100" b="1" spc="-10" dirty="0">
                          <a:solidFill>
                            <a:srgbClr val="FFFFFF"/>
                          </a:solidFill>
                          <a:latin typeface="Times New Roman"/>
                          <a:cs typeface="Times New Roman"/>
                        </a:rPr>
                        <a:t>Source</a:t>
                      </a:r>
                      <a:endParaRPr sz="1100" dirty="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E5E5E"/>
                    </a:solidFill>
                  </a:tcPr>
                </a:tc>
                <a:extLst>
                  <a:ext uri="{0D108BD9-81ED-4DB2-BD59-A6C34878D82A}">
                    <a16:rowId xmlns:a16="http://schemas.microsoft.com/office/drawing/2014/main" val="10000"/>
                  </a:ext>
                </a:extLst>
              </a:tr>
              <a:tr h="827961">
                <a:tc>
                  <a:txBody>
                    <a:bodyPr/>
                    <a:lstStyle/>
                    <a:p>
                      <a:pPr marL="52069">
                        <a:lnSpc>
                          <a:spcPct val="100000"/>
                        </a:lnSpc>
                        <a:spcBef>
                          <a:spcPts val="325"/>
                        </a:spcBef>
                      </a:pPr>
                      <a:r>
                        <a:rPr lang="da-DK" sz="1100" dirty="0">
                          <a:latin typeface="Times New Roman"/>
                          <a:cs typeface="Times New Roman"/>
                        </a:rPr>
                        <a:t>SQuaD</a:t>
                      </a:r>
                      <a:endParaRPr sz="1100" dirty="0">
                        <a:latin typeface="Times New Roman"/>
                        <a:cs typeface="Times New Roman"/>
                      </a:endParaRPr>
                    </a:p>
                  </a:txBody>
                  <a:tcPr marL="0" marR="0" marT="41275"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D1D1D1"/>
                    </a:solidFill>
                  </a:tcPr>
                </a:tc>
                <a:tc>
                  <a:txBody>
                    <a:bodyPr/>
                    <a:lstStyle/>
                    <a:p>
                      <a:pPr>
                        <a:buNone/>
                      </a:pPr>
                      <a:r>
                        <a:rPr lang="en-IN" sz="1100" dirty="0"/>
                        <a:t>Question–Answer Pairs</a:t>
                      </a:r>
                    </a:p>
                  </a:txBody>
                  <a:tcPr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1D1"/>
                    </a:solidFill>
                  </a:tcPr>
                </a:tc>
                <a:tc>
                  <a:txBody>
                    <a:bodyPr/>
                    <a:lstStyle/>
                    <a:p>
                      <a:pPr marL="52069" marR="238125">
                        <a:lnSpc>
                          <a:spcPts val="1200"/>
                        </a:lnSpc>
                        <a:spcBef>
                          <a:spcPts val="465"/>
                        </a:spcBef>
                      </a:pPr>
                      <a:r>
                        <a:rPr lang="en-IN" sz="1100" dirty="0"/>
                        <a:t>100,000+</a:t>
                      </a:r>
                      <a:endParaRPr sz="1100" dirty="0">
                        <a:latin typeface="Times New Roman"/>
                        <a:cs typeface="Times New Roman"/>
                      </a:endParaRPr>
                    </a:p>
                  </a:txBody>
                  <a:tcPr marL="0" marR="0" marT="59055"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12700">
                      <a:solidFill>
                        <a:srgbClr val="FFFFFF"/>
                      </a:solidFill>
                      <a:prstDash val="solid"/>
                    </a:lnB>
                    <a:solidFill>
                      <a:srgbClr val="D1D1D1"/>
                    </a:solidFill>
                  </a:tcPr>
                </a:tc>
                <a:tc>
                  <a:txBody>
                    <a:bodyPr/>
                    <a:lstStyle/>
                    <a:p>
                      <a:pPr marL="52069" marR="197485">
                        <a:lnSpc>
                          <a:spcPts val="1200"/>
                        </a:lnSpc>
                        <a:spcBef>
                          <a:spcPts val="465"/>
                        </a:spcBef>
                      </a:pPr>
                      <a:r>
                        <a:rPr lang="en-US" sz="1100" dirty="0"/>
                        <a:t>Context understanding and QA evaluation</a:t>
                      </a:r>
                      <a:endParaRPr sz="1100" dirty="0">
                        <a:latin typeface="Times New Roman"/>
                        <a:cs typeface="Times New Roman"/>
                      </a:endParaRPr>
                    </a:p>
                  </a:txBody>
                  <a:tcPr marL="0" marR="0" marT="59055" marB="0">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1D1"/>
                    </a:solidFill>
                  </a:tcPr>
                </a:tc>
                <a:tc>
                  <a:txBody>
                    <a:bodyPr/>
                    <a:lstStyle/>
                    <a:p>
                      <a:pPr marL="52069">
                        <a:lnSpc>
                          <a:spcPct val="100000"/>
                        </a:lnSpc>
                        <a:spcBef>
                          <a:spcPts val="325"/>
                        </a:spcBef>
                      </a:pPr>
                      <a:r>
                        <a:rPr lang="en-IN" sz="1100" dirty="0"/>
                        <a:t>Stanford University</a:t>
                      </a:r>
                      <a:endParaRPr sz="1100" dirty="0">
                        <a:latin typeface="Times New Roman"/>
                        <a:cs typeface="Times New Roman"/>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1D1"/>
                    </a:solidFill>
                  </a:tcPr>
                </a:tc>
                <a:extLst>
                  <a:ext uri="{0D108BD9-81ED-4DB2-BD59-A6C34878D82A}">
                    <a16:rowId xmlns:a16="http://schemas.microsoft.com/office/drawing/2014/main" val="10001"/>
                  </a:ext>
                </a:extLst>
              </a:tr>
              <a:tr h="627364">
                <a:tc>
                  <a:txBody>
                    <a:bodyPr/>
                    <a:lstStyle/>
                    <a:p>
                      <a:pPr marL="52069">
                        <a:lnSpc>
                          <a:spcPct val="100000"/>
                        </a:lnSpc>
                        <a:spcBef>
                          <a:spcPts val="225"/>
                        </a:spcBef>
                      </a:pPr>
                      <a:r>
                        <a:rPr lang="da-DK" sz="1100" dirty="0">
                          <a:latin typeface="Times New Roman"/>
                          <a:cs typeface="Times New Roman"/>
                        </a:rPr>
                        <a:t>MS MARCO</a:t>
                      </a:r>
                      <a:endParaRPr sz="1100" dirty="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9E9"/>
                    </a:solidFill>
                  </a:tcPr>
                </a:tc>
                <a:tc>
                  <a:txBody>
                    <a:bodyPr/>
                    <a:lstStyle/>
                    <a:p>
                      <a:pPr marL="51435" marR="53340">
                        <a:lnSpc>
                          <a:spcPts val="1200"/>
                        </a:lnSpc>
                        <a:spcBef>
                          <a:spcPts val="365"/>
                        </a:spcBef>
                      </a:pPr>
                      <a:r>
                        <a:rPr lang="en-IN" sz="1100" dirty="0"/>
                        <a:t>Search Queries + Passages</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9E9"/>
                    </a:solidFill>
                  </a:tcPr>
                </a:tc>
                <a:tc>
                  <a:txBody>
                    <a:bodyPr/>
                    <a:lstStyle/>
                    <a:p>
                      <a:pPr marL="52069" marR="440055">
                        <a:lnSpc>
                          <a:spcPts val="1200"/>
                        </a:lnSpc>
                        <a:spcBef>
                          <a:spcPts val="365"/>
                        </a:spcBef>
                      </a:pPr>
                      <a:r>
                        <a:rPr lang="en-IN" sz="1100" dirty="0"/>
                        <a:t>1M+</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9E9"/>
                    </a:solidFill>
                  </a:tcPr>
                </a:tc>
                <a:tc>
                  <a:txBody>
                    <a:bodyPr/>
                    <a:lstStyle/>
                    <a:p>
                      <a:pPr marL="52069" marR="185420">
                        <a:lnSpc>
                          <a:spcPts val="1200"/>
                        </a:lnSpc>
                        <a:spcBef>
                          <a:spcPts val="365"/>
                        </a:spcBef>
                      </a:pPr>
                      <a:r>
                        <a:rPr lang="en-US" sz="1100" dirty="0"/>
                        <a:t>Retrieval and semantic search evaluation</a:t>
                      </a:r>
                      <a:endParaRPr sz="1100" dirty="0">
                        <a:latin typeface="Times New Roman"/>
                        <a:cs typeface="Times New Roman"/>
                      </a:endParaRPr>
                    </a:p>
                  </a:txBody>
                  <a:tcPr marL="0" marR="0" marT="46355"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9E9"/>
                    </a:solidFill>
                  </a:tcPr>
                </a:tc>
                <a:tc>
                  <a:txBody>
                    <a:bodyPr/>
                    <a:lstStyle/>
                    <a:p>
                      <a:pPr marL="52069" marR="141605">
                        <a:lnSpc>
                          <a:spcPts val="1200"/>
                        </a:lnSpc>
                        <a:spcBef>
                          <a:spcPts val="365"/>
                        </a:spcBef>
                      </a:pPr>
                      <a:r>
                        <a:rPr lang="en-IN" sz="1100" dirty="0"/>
                        <a:t>Microsoft Research</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9E9"/>
                    </a:solidFill>
                  </a:tcPr>
                </a:tc>
                <a:extLst>
                  <a:ext uri="{0D108BD9-81ED-4DB2-BD59-A6C34878D82A}">
                    <a16:rowId xmlns:a16="http://schemas.microsoft.com/office/drawing/2014/main" val="10002"/>
                  </a:ext>
                </a:extLst>
              </a:tr>
              <a:tr h="811721">
                <a:tc>
                  <a:txBody>
                    <a:bodyPr/>
                    <a:lstStyle/>
                    <a:p>
                      <a:pPr marL="52069">
                        <a:lnSpc>
                          <a:spcPct val="100000"/>
                        </a:lnSpc>
                        <a:spcBef>
                          <a:spcPts val="225"/>
                        </a:spcBef>
                      </a:pPr>
                      <a:r>
                        <a:rPr lang="de-DE" sz="1100" dirty="0"/>
                        <a:t>SQuAD</a:t>
                      </a:r>
                      <a:endParaRPr sz="1100" dirty="0">
                        <a:latin typeface="Times New Roman"/>
                        <a:cs typeface="Times New Roman"/>
                      </a:endParaRPr>
                    </a:p>
                  </a:txBody>
                  <a:tcPr marL="0" marR="0" marT="28575"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D1D1D1"/>
                    </a:solidFill>
                  </a:tcPr>
                </a:tc>
                <a:tc>
                  <a:txBody>
                    <a:bodyPr/>
                    <a:lstStyle/>
                    <a:p>
                      <a:pPr>
                        <a:buNone/>
                      </a:pPr>
                      <a:r>
                        <a:rPr lang="en-IN" sz="1100" dirty="0"/>
                        <a:t>Text Documents</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1D1"/>
                    </a:solidFill>
                  </a:tcPr>
                </a:tc>
                <a:tc>
                  <a:txBody>
                    <a:bodyPr/>
                    <a:lstStyle/>
                    <a:p>
                      <a:pPr marL="52069" marR="463550">
                        <a:lnSpc>
                          <a:spcPts val="1200"/>
                        </a:lnSpc>
                        <a:spcBef>
                          <a:spcPts val="365"/>
                        </a:spcBef>
                      </a:pPr>
                      <a:r>
                        <a:rPr lang="en-IN" sz="1100" dirty="0"/>
                        <a:t>Wikipedia Articles</a:t>
                      </a:r>
                      <a:endParaRPr sz="1100" dirty="0">
                        <a:latin typeface="Times New Roman"/>
                        <a:cs typeface="Times New Roman"/>
                      </a:endParaRPr>
                    </a:p>
                  </a:txBody>
                  <a:tcPr marL="0" marR="0" marT="46355"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a:solidFill>
                        <a:srgbClr val="FFFFFF"/>
                      </a:solidFill>
                      <a:prstDash val="solid"/>
                    </a:lnB>
                    <a:solidFill>
                      <a:srgbClr val="D1D1D1"/>
                    </a:solidFill>
                  </a:tcPr>
                </a:tc>
                <a:tc>
                  <a:txBody>
                    <a:bodyPr/>
                    <a:lstStyle/>
                    <a:p>
                      <a:pPr marL="52069" marR="232410" algn="just">
                        <a:lnSpc>
                          <a:spcPts val="1200"/>
                        </a:lnSpc>
                        <a:spcBef>
                          <a:spcPts val="365"/>
                        </a:spcBef>
                      </a:pPr>
                      <a:r>
                        <a:rPr lang="en-IN" sz="1100" dirty="0"/>
                        <a:t>Context understanding, dialogue management</a:t>
                      </a:r>
                      <a:endParaRPr sz="1100" dirty="0">
                        <a:latin typeface="Times New Roman"/>
                        <a:cs typeface="Times New Roman"/>
                      </a:endParaRPr>
                    </a:p>
                  </a:txBody>
                  <a:tcPr marL="0" marR="0" marT="46355"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1D1"/>
                    </a:solidFill>
                  </a:tcPr>
                </a:tc>
                <a:tc>
                  <a:txBody>
                    <a:bodyPr/>
                    <a:lstStyle/>
                    <a:p>
                      <a:pPr marL="52069" marR="269875">
                        <a:lnSpc>
                          <a:spcPts val="1200"/>
                        </a:lnSpc>
                        <a:spcBef>
                          <a:spcPts val="365"/>
                        </a:spcBef>
                      </a:pPr>
                      <a:r>
                        <a:rPr lang="en-IN" sz="1100" dirty="0">
                          <a:latin typeface="Times New Roman"/>
                          <a:cs typeface="Times New Roman"/>
                        </a:rPr>
                        <a:t>Stanford University</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D1D1D1"/>
                    </a:solidFill>
                  </a:tcPr>
                </a:tc>
                <a:extLst>
                  <a:ext uri="{0D108BD9-81ED-4DB2-BD59-A6C34878D82A}">
                    <a16:rowId xmlns:a16="http://schemas.microsoft.com/office/drawing/2014/main" val="10003"/>
                  </a:ext>
                </a:extLst>
              </a:tr>
              <a:tr h="643571">
                <a:tc>
                  <a:txBody>
                    <a:bodyPr/>
                    <a:lstStyle/>
                    <a:p>
                      <a:pPr marL="52069">
                        <a:lnSpc>
                          <a:spcPct val="100000"/>
                        </a:lnSpc>
                        <a:spcBef>
                          <a:spcPts val="225"/>
                        </a:spcBef>
                      </a:pPr>
                      <a:r>
                        <a:rPr lang="it-IT" sz="1100" dirty="0">
                          <a:latin typeface="Times New Roman"/>
                          <a:cs typeface="Times New Roman"/>
                        </a:rPr>
                        <a:t>MS MARCO</a:t>
                      </a:r>
                      <a:endParaRPr sz="1100" dirty="0">
                        <a:latin typeface="Times New Roman"/>
                        <a:cs typeface="Times New Roma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solidFill>
                      <a:srgbClr val="E9E9E9"/>
                    </a:solidFill>
                  </a:tcPr>
                </a:tc>
                <a:tc>
                  <a:txBody>
                    <a:bodyPr/>
                    <a:lstStyle/>
                    <a:p>
                      <a:pPr marL="51435" marR="119380">
                        <a:lnSpc>
                          <a:spcPts val="1200"/>
                        </a:lnSpc>
                        <a:spcBef>
                          <a:spcPts val="365"/>
                        </a:spcBef>
                      </a:pPr>
                      <a:r>
                        <a:rPr lang="en-IN" sz="1100" dirty="0"/>
                        <a:t>Passage Collection</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solidFill>
                      <a:srgbClr val="E9E9E9"/>
                    </a:solidFill>
                  </a:tcPr>
                </a:tc>
                <a:tc>
                  <a:txBody>
                    <a:bodyPr/>
                    <a:lstStyle/>
                    <a:p>
                      <a:pPr marL="52069" marR="622300">
                        <a:lnSpc>
                          <a:spcPts val="1200"/>
                        </a:lnSpc>
                        <a:spcBef>
                          <a:spcPts val="365"/>
                        </a:spcBef>
                      </a:pPr>
                      <a:r>
                        <a:rPr lang="en-IN" sz="1100" dirty="0"/>
                        <a:t>Large-scale text corpus</a:t>
                      </a:r>
                      <a:endParaRPr sz="1100" dirty="0">
                        <a:latin typeface="Times New Roman"/>
                        <a:cs typeface="Times New Roman"/>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solidFill>
                      <a:srgbClr val="E9E9E9"/>
                    </a:solidFill>
                  </a:tcPr>
                </a:tc>
                <a:tc>
                  <a:txBody>
                    <a:bodyPr/>
                    <a:lstStyle/>
                    <a:p>
                      <a:pPr marL="52069">
                        <a:lnSpc>
                          <a:spcPct val="100000"/>
                        </a:lnSpc>
                        <a:spcBef>
                          <a:spcPts val="225"/>
                        </a:spcBef>
                      </a:pPr>
                      <a:r>
                        <a:rPr lang="en-IN" sz="1100" dirty="0"/>
                        <a:t>Information retrieval</a:t>
                      </a:r>
                      <a:endParaRPr sz="1100" dirty="0">
                        <a:latin typeface="Times New Roman"/>
                        <a:cs typeface="Times New Roman"/>
                      </a:endParaRPr>
                    </a:p>
                  </a:txBody>
                  <a:tcPr marL="0" marR="0" marT="2857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solidFill>
                      <a:srgbClr val="E9E9E9"/>
                    </a:solidFill>
                  </a:tcPr>
                </a:tc>
                <a:tc>
                  <a:txBody>
                    <a:bodyPr/>
                    <a:lstStyle/>
                    <a:p>
                      <a:pPr>
                        <a:buNone/>
                      </a:pPr>
                      <a:r>
                        <a:rPr lang="en-IN" sz="1100" dirty="0"/>
                        <a:t>Microsoft Research</a:t>
                      </a:r>
                    </a:p>
                  </a:txBody>
                  <a:tcPr anchor="ctr">
                    <a:lnL w="12700">
                      <a:solidFill>
                        <a:srgbClr val="FFFFFF"/>
                      </a:solidFill>
                      <a:prstDash val="solid"/>
                    </a:lnL>
                    <a:lnR w="12700">
                      <a:solidFill>
                        <a:srgbClr val="FFFFFF"/>
                      </a:solidFill>
                      <a:prstDash val="solid"/>
                    </a:lnR>
                    <a:lnT w="12700">
                      <a:solidFill>
                        <a:srgbClr val="FFFFFF"/>
                      </a:solidFill>
                      <a:prstDash val="solid"/>
                    </a:lnT>
                    <a:solidFill>
                      <a:srgbClr val="E9E9E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736" y="167938"/>
            <a:ext cx="8234680" cy="756920"/>
          </a:xfrm>
          <a:prstGeom prst="rect">
            <a:avLst/>
          </a:prstGeom>
        </p:spPr>
        <p:txBody>
          <a:bodyPr vert="horz" wrap="square" lIns="0" tIns="12700" rIns="0" bIns="0" rtlCol="0">
            <a:spAutoFit/>
          </a:bodyPr>
          <a:lstStyle/>
          <a:p>
            <a:pPr marL="12700">
              <a:lnSpc>
                <a:spcPct val="100000"/>
              </a:lnSpc>
              <a:spcBef>
                <a:spcPts val="100"/>
              </a:spcBef>
              <a:tabLst>
                <a:tab pos="2407920" algn="l"/>
              </a:tabLst>
            </a:pPr>
            <a:r>
              <a:rPr sz="4800" dirty="0">
                <a:solidFill>
                  <a:srgbClr val="000000"/>
                </a:solidFill>
                <a:latin typeface="Calibri"/>
                <a:cs typeface="Calibri"/>
              </a:rPr>
              <a:t>Existing</a:t>
            </a:r>
            <a:r>
              <a:rPr sz="4800" spc="-160" dirty="0">
                <a:solidFill>
                  <a:srgbClr val="000000"/>
                </a:solidFill>
                <a:latin typeface="Calibri"/>
                <a:cs typeface="Calibri"/>
              </a:rPr>
              <a:t> </a:t>
            </a:r>
            <a:r>
              <a:rPr sz="4800" spc="-50" dirty="0">
                <a:solidFill>
                  <a:srgbClr val="000000"/>
                </a:solidFill>
                <a:latin typeface="Calibri"/>
                <a:cs typeface="Calibri"/>
              </a:rPr>
              <a:t>/</a:t>
            </a:r>
            <a:r>
              <a:rPr sz="4800" dirty="0">
                <a:solidFill>
                  <a:srgbClr val="000000"/>
                </a:solidFill>
                <a:latin typeface="Calibri"/>
                <a:cs typeface="Calibri"/>
              </a:rPr>
              <a:t>	Proposed</a:t>
            </a:r>
            <a:r>
              <a:rPr sz="4800" spc="-215" dirty="0">
                <a:solidFill>
                  <a:srgbClr val="000000"/>
                </a:solidFill>
                <a:latin typeface="Calibri"/>
                <a:cs typeface="Calibri"/>
              </a:rPr>
              <a:t> </a:t>
            </a:r>
            <a:r>
              <a:rPr sz="4800" spc="-10" dirty="0">
                <a:solidFill>
                  <a:srgbClr val="000000"/>
                </a:solidFill>
                <a:latin typeface="Calibri"/>
                <a:cs typeface="Calibri"/>
              </a:rPr>
              <a:t>Methodology</a:t>
            </a:r>
            <a:endParaRPr sz="4800">
              <a:latin typeface="Calibri"/>
              <a:cs typeface="Calibri"/>
            </a:endParaRPr>
          </a:p>
        </p:txBody>
      </p:sp>
      <p:pic>
        <p:nvPicPr>
          <p:cNvPr id="5" name="Picture 4">
            <a:extLst>
              <a:ext uri="{FF2B5EF4-FFF2-40B4-BE49-F238E27FC236}">
                <a16:creationId xmlns:a16="http://schemas.microsoft.com/office/drawing/2014/main" id="{5994680F-40CB-9C20-3874-48281B91AB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888282"/>
            <a:ext cx="8686800" cy="5791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05620" rIns="0" bIns="0" rtlCol="0">
            <a:spAutoFit/>
          </a:bodyPr>
          <a:lstStyle/>
          <a:p>
            <a:pPr marL="975360">
              <a:lnSpc>
                <a:spcPct val="100000"/>
              </a:lnSpc>
              <a:spcBef>
                <a:spcPts val="100"/>
              </a:spcBef>
            </a:pPr>
            <a:r>
              <a:rPr sz="4800" spc="-10" dirty="0"/>
              <a:t>Implementation</a:t>
            </a:r>
            <a:endParaRPr sz="4800"/>
          </a:p>
        </p:txBody>
      </p:sp>
      <p:sp>
        <p:nvSpPr>
          <p:cNvPr id="3" name="object 3"/>
          <p:cNvSpPr txBox="1"/>
          <p:nvPr/>
        </p:nvSpPr>
        <p:spPr>
          <a:xfrm>
            <a:off x="4708433" y="3031827"/>
            <a:ext cx="1657350" cy="360680"/>
          </a:xfrm>
          <a:prstGeom prst="rect">
            <a:avLst/>
          </a:prstGeom>
        </p:spPr>
        <p:txBody>
          <a:bodyPr vert="horz" wrap="square" lIns="0" tIns="12700" rIns="0" bIns="0" rtlCol="0">
            <a:spAutoFit/>
          </a:bodyPr>
          <a:lstStyle/>
          <a:p>
            <a:pPr marL="12700">
              <a:lnSpc>
                <a:spcPct val="100000"/>
              </a:lnSpc>
              <a:spcBef>
                <a:spcPts val="100"/>
              </a:spcBef>
            </a:pPr>
            <a:r>
              <a:rPr sz="2200" b="1" dirty="0">
                <a:solidFill>
                  <a:srgbClr val="404040"/>
                </a:solidFill>
                <a:latin typeface="Calibri"/>
                <a:cs typeface="Calibri"/>
              </a:rPr>
              <a:t>User</a:t>
            </a:r>
            <a:r>
              <a:rPr sz="2200" b="1" spc="-55" dirty="0">
                <a:solidFill>
                  <a:srgbClr val="404040"/>
                </a:solidFill>
                <a:latin typeface="Calibri"/>
                <a:cs typeface="Calibri"/>
              </a:rPr>
              <a:t> </a:t>
            </a:r>
            <a:r>
              <a:rPr sz="2200" b="1" spc="-10" dirty="0">
                <a:solidFill>
                  <a:srgbClr val="404040"/>
                </a:solidFill>
                <a:latin typeface="Calibri"/>
                <a:cs typeface="Calibri"/>
              </a:rPr>
              <a:t>Interface</a:t>
            </a:r>
            <a:endParaRPr sz="2200">
              <a:latin typeface="Calibri"/>
              <a:cs typeface="Calibri"/>
            </a:endParaRPr>
          </a:p>
        </p:txBody>
      </p:sp>
      <p:pic>
        <p:nvPicPr>
          <p:cNvPr id="4" name="object 4"/>
          <p:cNvPicPr/>
          <p:nvPr/>
        </p:nvPicPr>
        <p:blipFill>
          <a:blip r:embed="rId2" cstate="print"/>
          <a:stretch>
            <a:fillRect/>
          </a:stretch>
        </p:blipFill>
        <p:spPr>
          <a:xfrm>
            <a:off x="1147786" y="2056122"/>
            <a:ext cx="2947024" cy="4137771"/>
          </a:xfrm>
          <a:prstGeom prst="rect">
            <a:avLst/>
          </a:prstGeom>
        </p:spPr>
      </p:pic>
      <p:sp>
        <p:nvSpPr>
          <p:cNvPr id="5" name="object 5"/>
          <p:cNvSpPr txBox="1"/>
          <p:nvPr/>
        </p:nvSpPr>
        <p:spPr>
          <a:xfrm>
            <a:off x="1228190" y="2163647"/>
            <a:ext cx="351058" cy="3244215"/>
          </a:xfrm>
          <a:prstGeom prst="rect">
            <a:avLst/>
          </a:prstGeom>
        </p:spPr>
        <p:txBody>
          <a:bodyPr vert="vert270" wrap="square" lIns="0" tIns="0" rIns="0" bIns="0" rtlCol="0">
            <a:spAutoFit/>
          </a:bodyPr>
          <a:lstStyle/>
          <a:p>
            <a:pPr marL="12700" algn="ctr">
              <a:lnSpc>
                <a:spcPts val="2665"/>
              </a:lnSpc>
            </a:pPr>
            <a:r>
              <a:rPr lang="en-IN" sz="2700" dirty="0">
                <a:solidFill>
                  <a:srgbClr val="FFFFFF"/>
                </a:solidFill>
                <a:latin typeface="Calibri"/>
                <a:cs typeface="Calibri"/>
              </a:rPr>
              <a:t>AI Model</a:t>
            </a:r>
            <a:endParaRPr sz="2700" dirty="0">
              <a:latin typeface="Calibri"/>
              <a:cs typeface="Calibri"/>
            </a:endParaRPr>
          </a:p>
        </p:txBody>
      </p:sp>
      <p:sp>
        <p:nvSpPr>
          <p:cNvPr id="6" name="object 6"/>
          <p:cNvSpPr txBox="1"/>
          <p:nvPr/>
        </p:nvSpPr>
        <p:spPr>
          <a:xfrm>
            <a:off x="1703824" y="2064219"/>
            <a:ext cx="2144395" cy="3348161"/>
          </a:xfrm>
          <a:prstGeom prst="rect">
            <a:avLst/>
          </a:prstGeom>
        </p:spPr>
        <p:txBody>
          <a:bodyPr vert="horz" wrap="square" lIns="0" tIns="10795" rIns="0" bIns="0" rtlCol="0">
            <a:spAutoFit/>
          </a:bodyPr>
          <a:lstStyle/>
          <a:p>
            <a:pPr marL="12700" marR="172720" indent="168275">
              <a:lnSpc>
                <a:spcPct val="93700"/>
              </a:lnSpc>
              <a:spcBef>
                <a:spcPts val="85"/>
              </a:spcBef>
              <a:buSzPct val="108695"/>
              <a:buChar char="-"/>
              <a:tabLst>
                <a:tab pos="180975" algn="l"/>
              </a:tabLst>
            </a:pPr>
            <a:r>
              <a:rPr lang="en-IN" sz="2300" dirty="0">
                <a:solidFill>
                  <a:schemeClr val="bg1"/>
                </a:solidFill>
              </a:rPr>
              <a:t>Conversational LLM integration</a:t>
            </a:r>
            <a:endParaRPr sz="2300" dirty="0">
              <a:solidFill>
                <a:schemeClr val="bg1"/>
              </a:solidFill>
              <a:latin typeface="Calibri"/>
              <a:cs typeface="Calibri"/>
            </a:endParaRPr>
          </a:p>
          <a:p>
            <a:pPr marL="12700" marR="5080" indent="155575">
              <a:lnSpc>
                <a:spcPts val="2570"/>
              </a:lnSpc>
              <a:spcBef>
                <a:spcPts val="1105"/>
              </a:spcBef>
              <a:buChar char="-"/>
              <a:tabLst>
                <a:tab pos="168275" algn="l"/>
              </a:tabLst>
            </a:pPr>
            <a:r>
              <a:rPr lang="en-IN" sz="2300" dirty="0">
                <a:solidFill>
                  <a:schemeClr val="bg1"/>
                </a:solidFill>
              </a:rPr>
              <a:t>Context-aware response generation</a:t>
            </a:r>
            <a:endParaRPr sz="2300" dirty="0">
              <a:solidFill>
                <a:schemeClr val="bg1"/>
              </a:solidFill>
              <a:latin typeface="Calibri"/>
              <a:cs typeface="Calibri"/>
            </a:endParaRPr>
          </a:p>
          <a:p>
            <a:pPr marL="168275" indent="-155575">
              <a:lnSpc>
                <a:spcPct val="100000"/>
              </a:lnSpc>
              <a:spcBef>
                <a:spcPts val="725"/>
              </a:spcBef>
              <a:buChar char="-"/>
              <a:tabLst>
                <a:tab pos="168275" algn="l"/>
              </a:tabLst>
            </a:pPr>
            <a:r>
              <a:rPr lang="en-IN" sz="2300" dirty="0">
                <a:solidFill>
                  <a:schemeClr val="bg1"/>
                </a:solidFill>
              </a:rPr>
              <a:t>RAG-based retrieval system</a:t>
            </a:r>
            <a:endParaRPr sz="2300" dirty="0">
              <a:solidFill>
                <a:schemeClr val="bg1"/>
              </a:solidFill>
              <a:latin typeface="Calibri"/>
              <a:cs typeface="Calibri"/>
            </a:endParaRPr>
          </a:p>
        </p:txBody>
      </p:sp>
      <p:grpSp>
        <p:nvGrpSpPr>
          <p:cNvPr id="7" name="object 7"/>
          <p:cNvGrpSpPr/>
          <p:nvPr/>
        </p:nvGrpSpPr>
        <p:grpSpPr>
          <a:xfrm>
            <a:off x="4209145" y="2049772"/>
            <a:ext cx="3461385" cy="4150995"/>
            <a:chOff x="4209145" y="2049772"/>
            <a:chExt cx="3461385" cy="4150995"/>
          </a:xfrm>
        </p:grpSpPr>
        <p:pic>
          <p:nvPicPr>
            <p:cNvPr id="8" name="object 8"/>
            <p:cNvPicPr/>
            <p:nvPr/>
          </p:nvPicPr>
          <p:blipFill>
            <a:blip r:embed="rId3" cstate="print"/>
            <a:stretch>
              <a:fillRect/>
            </a:stretch>
          </p:blipFill>
          <p:spPr>
            <a:xfrm>
              <a:off x="4215495" y="2056122"/>
              <a:ext cx="3448142" cy="4137771"/>
            </a:xfrm>
            <a:prstGeom prst="rect">
              <a:avLst/>
            </a:prstGeom>
          </p:spPr>
        </p:pic>
        <p:sp>
          <p:nvSpPr>
            <p:cNvPr id="9" name="object 9"/>
            <p:cNvSpPr/>
            <p:nvPr/>
          </p:nvSpPr>
          <p:spPr>
            <a:xfrm>
              <a:off x="4215495" y="2056122"/>
              <a:ext cx="3448685" cy="4138295"/>
            </a:xfrm>
            <a:custGeom>
              <a:avLst/>
              <a:gdLst/>
              <a:ahLst/>
              <a:cxnLst/>
              <a:rect l="l" t="t" r="r" b="b"/>
              <a:pathLst>
                <a:path w="3448684" h="4138295">
                  <a:moveTo>
                    <a:pt x="172407" y="0"/>
                  </a:moveTo>
                  <a:lnTo>
                    <a:pt x="3275736" y="0"/>
                  </a:lnTo>
                  <a:lnTo>
                    <a:pt x="3321568" y="6158"/>
                  </a:lnTo>
                  <a:lnTo>
                    <a:pt x="3362752" y="23538"/>
                  </a:lnTo>
                  <a:lnTo>
                    <a:pt x="3397645" y="50496"/>
                  </a:lnTo>
                  <a:lnTo>
                    <a:pt x="3424604" y="85389"/>
                  </a:lnTo>
                  <a:lnTo>
                    <a:pt x="3441984" y="126574"/>
                  </a:lnTo>
                  <a:lnTo>
                    <a:pt x="3448142" y="172407"/>
                  </a:lnTo>
                  <a:lnTo>
                    <a:pt x="3448142" y="3965364"/>
                  </a:lnTo>
                  <a:lnTo>
                    <a:pt x="3441984" y="4011196"/>
                  </a:lnTo>
                  <a:lnTo>
                    <a:pt x="3424604" y="4052380"/>
                  </a:lnTo>
                  <a:lnTo>
                    <a:pt x="3397645" y="4087273"/>
                  </a:lnTo>
                  <a:lnTo>
                    <a:pt x="3362752" y="4114231"/>
                  </a:lnTo>
                  <a:lnTo>
                    <a:pt x="3321568" y="4131611"/>
                  </a:lnTo>
                  <a:lnTo>
                    <a:pt x="3275736" y="4137770"/>
                  </a:lnTo>
                  <a:lnTo>
                    <a:pt x="172407" y="4137770"/>
                  </a:lnTo>
                  <a:lnTo>
                    <a:pt x="126574" y="4131611"/>
                  </a:lnTo>
                  <a:lnTo>
                    <a:pt x="85389" y="4114231"/>
                  </a:lnTo>
                  <a:lnTo>
                    <a:pt x="50496" y="4087273"/>
                  </a:lnTo>
                  <a:lnTo>
                    <a:pt x="23538" y="4052380"/>
                  </a:lnTo>
                  <a:lnTo>
                    <a:pt x="6158" y="4011196"/>
                  </a:lnTo>
                  <a:lnTo>
                    <a:pt x="0" y="3965364"/>
                  </a:lnTo>
                  <a:lnTo>
                    <a:pt x="0" y="172407"/>
                  </a:lnTo>
                  <a:lnTo>
                    <a:pt x="6158" y="126574"/>
                  </a:lnTo>
                  <a:lnTo>
                    <a:pt x="23538" y="85389"/>
                  </a:lnTo>
                  <a:lnTo>
                    <a:pt x="50496" y="50496"/>
                  </a:lnTo>
                  <a:lnTo>
                    <a:pt x="85389" y="23538"/>
                  </a:lnTo>
                  <a:lnTo>
                    <a:pt x="126574" y="6158"/>
                  </a:lnTo>
                  <a:lnTo>
                    <a:pt x="172407" y="0"/>
                  </a:lnTo>
                  <a:close/>
                </a:path>
              </a:pathLst>
            </a:custGeom>
            <a:ln w="12700">
              <a:solidFill>
                <a:srgbClr val="FFFFFF"/>
              </a:solidFill>
            </a:ln>
          </p:spPr>
          <p:txBody>
            <a:bodyPr wrap="square" lIns="0" tIns="0" rIns="0" bIns="0" rtlCol="0"/>
            <a:lstStyle/>
            <a:p>
              <a:endParaRPr/>
            </a:p>
          </p:txBody>
        </p:sp>
      </p:grpSp>
      <p:sp>
        <p:nvSpPr>
          <p:cNvPr id="10" name="object 10"/>
          <p:cNvSpPr txBox="1"/>
          <p:nvPr/>
        </p:nvSpPr>
        <p:spPr>
          <a:xfrm>
            <a:off x="4295898" y="2163356"/>
            <a:ext cx="368300" cy="1197610"/>
          </a:xfrm>
          <a:prstGeom prst="rect">
            <a:avLst/>
          </a:prstGeom>
        </p:spPr>
        <p:txBody>
          <a:bodyPr vert="vert270" wrap="square" lIns="0" tIns="0" rIns="0" bIns="0" rtlCol="0">
            <a:spAutoFit/>
          </a:bodyPr>
          <a:lstStyle/>
          <a:p>
            <a:pPr marL="12700">
              <a:lnSpc>
                <a:spcPts val="2665"/>
              </a:lnSpc>
            </a:pPr>
            <a:r>
              <a:rPr sz="2700" spc="-10" dirty="0">
                <a:solidFill>
                  <a:srgbClr val="FFFFFF"/>
                </a:solidFill>
                <a:latin typeface="Calibri"/>
                <a:cs typeface="Calibri"/>
              </a:rPr>
              <a:t>Backend</a:t>
            </a:r>
            <a:endParaRPr sz="2700">
              <a:latin typeface="Calibri"/>
              <a:cs typeface="Calibri"/>
            </a:endParaRPr>
          </a:p>
        </p:txBody>
      </p:sp>
      <p:grpSp>
        <p:nvGrpSpPr>
          <p:cNvPr id="11" name="object 11"/>
          <p:cNvGrpSpPr/>
          <p:nvPr/>
        </p:nvGrpSpPr>
        <p:grpSpPr>
          <a:xfrm>
            <a:off x="3886928" y="2038558"/>
            <a:ext cx="7271384" cy="4150995"/>
            <a:chOff x="3967776" y="2049772"/>
            <a:chExt cx="7271384" cy="4150995"/>
          </a:xfrm>
        </p:grpSpPr>
        <p:pic>
          <p:nvPicPr>
            <p:cNvPr id="12" name="object 12"/>
            <p:cNvPicPr/>
            <p:nvPr/>
          </p:nvPicPr>
          <p:blipFill>
            <a:blip r:embed="rId4" cstate="print"/>
            <a:stretch>
              <a:fillRect/>
            </a:stretch>
          </p:blipFill>
          <p:spPr>
            <a:xfrm>
              <a:off x="3974125" y="5299285"/>
              <a:ext cx="517221" cy="608093"/>
            </a:xfrm>
            <a:prstGeom prst="rect">
              <a:avLst/>
            </a:prstGeom>
          </p:spPr>
        </p:pic>
        <p:sp>
          <p:nvSpPr>
            <p:cNvPr id="13" name="object 13"/>
            <p:cNvSpPr/>
            <p:nvPr/>
          </p:nvSpPr>
          <p:spPr>
            <a:xfrm>
              <a:off x="3974126" y="5299285"/>
              <a:ext cx="517525" cy="608330"/>
            </a:xfrm>
            <a:custGeom>
              <a:avLst/>
              <a:gdLst/>
              <a:ahLst/>
              <a:cxnLst/>
              <a:rect l="l" t="t" r="r" b="b"/>
              <a:pathLst>
                <a:path w="517525" h="608329">
                  <a:moveTo>
                    <a:pt x="0" y="0"/>
                  </a:moveTo>
                  <a:lnTo>
                    <a:pt x="517220" y="304047"/>
                  </a:lnTo>
                  <a:lnTo>
                    <a:pt x="0" y="608093"/>
                  </a:lnTo>
                  <a:lnTo>
                    <a:pt x="0" y="0"/>
                  </a:lnTo>
                  <a:close/>
                </a:path>
              </a:pathLst>
            </a:custGeom>
            <a:ln w="12700">
              <a:solidFill>
                <a:srgbClr val="5E5E5E"/>
              </a:solidFill>
            </a:ln>
          </p:spPr>
          <p:txBody>
            <a:bodyPr wrap="square" lIns="0" tIns="0" rIns="0" bIns="0" rtlCol="0"/>
            <a:lstStyle/>
            <a:p>
              <a:endParaRPr/>
            </a:p>
          </p:txBody>
        </p:sp>
        <p:pic>
          <p:nvPicPr>
            <p:cNvPr id="14" name="object 14"/>
            <p:cNvPicPr/>
            <p:nvPr/>
          </p:nvPicPr>
          <p:blipFill>
            <a:blip r:embed="rId5" cstate="print"/>
            <a:stretch>
              <a:fillRect/>
            </a:stretch>
          </p:blipFill>
          <p:spPr>
            <a:xfrm>
              <a:off x="7784324" y="2056122"/>
              <a:ext cx="3448142" cy="4137771"/>
            </a:xfrm>
            <a:prstGeom prst="rect">
              <a:avLst/>
            </a:prstGeom>
          </p:spPr>
        </p:pic>
        <p:sp>
          <p:nvSpPr>
            <p:cNvPr id="15" name="object 15"/>
            <p:cNvSpPr/>
            <p:nvPr/>
          </p:nvSpPr>
          <p:spPr>
            <a:xfrm>
              <a:off x="7784324" y="2056122"/>
              <a:ext cx="3448685" cy="4138295"/>
            </a:xfrm>
            <a:custGeom>
              <a:avLst/>
              <a:gdLst/>
              <a:ahLst/>
              <a:cxnLst/>
              <a:rect l="l" t="t" r="r" b="b"/>
              <a:pathLst>
                <a:path w="3448684" h="4138295">
                  <a:moveTo>
                    <a:pt x="172407" y="0"/>
                  </a:moveTo>
                  <a:lnTo>
                    <a:pt x="3275736" y="0"/>
                  </a:lnTo>
                  <a:lnTo>
                    <a:pt x="3321568" y="6158"/>
                  </a:lnTo>
                  <a:lnTo>
                    <a:pt x="3362752" y="23538"/>
                  </a:lnTo>
                  <a:lnTo>
                    <a:pt x="3397645" y="50496"/>
                  </a:lnTo>
                  <a:lnTo>
                    <a:pt x="3424604" y="85389"/>
                  </a:lnTo>
                  <a:lnTo>
                    <a:pt x="3441984" y="126574"/>
                  </a:lnTo>
                  <a:lnTo>
                    <a:pt x="3448142" y="172407"/>
                  </a:lnTo>
                  <a:lnTo>
                    <a:pt x="3448142" y="3965364"/>
                  </a:lnTo>
                  <a:lnTo>
                    <a:pt x="3441984" y="4011196"/>
                  </a:lnTo>
                  <a:lnTo>
                    <a:pt x="3424604" y="4052380"/>
                  </a:lnTo>
                  <a:lnTo>
                    <a:pt x="3397645" y="4087273"/>
                  </a:lnTo>
                  <a:lnTo>
                    <a:pt x="3362752" y="4114231"/>
                  </a:lnTo>
                  <a:lnTo>
                    <a:pt x="3321568" y="4131611"/>
                  </a:lnTo>
                  <a:lnTo>
                    <a:pt x="3275736" y="4137770"/>
                  </a:lnTo>
                  <a:lnTo>
                    <a:pt x="172407" y="4137770"/>
                  </a:lnTo>
                  <a:lnTo>
                    <a:pt x="126574" y="4131611"/>
                  </a:lnTo>
                  <a:lnTo>
                    <a:pt x="85389" y="4114231"/>
                  </a:lnTo>
                  <a:lnTo>
                    <a:pt x="50496" y="4087273"/>
                  </a:lnTo>
                  <a:lnTo>
                    <a:pt x="23538" y="4052380"/>
                  </a:lnTo>
                  <a:lnTo>
                    <a:pt x="6158" y="4011196"/>
                  </a:lnTo>
                  <a:lnTo>
                    <a:pt x="0" y="3965364"/>
                  </a:lnTo>
                  <a:lnTo>
                    <a:pt x="0" y="172407"/>
                  </a:lnTo>
                  <a:lnTo>
                    <a:pt x="6158" y="126574"/>
                  </a:lnTo>
                  <a:lnTo>
                    <a:pt x="23538" y="85389"/>
                  </a:lnTo>
                  <a:lnTo>
                    <a:pt x="50496" y="50496"/>
                  </a:lnTo>
                  <a:lnTo>
                    <a:pt x="85389" y="23538"/>
                  </a:lnTo>
                  <a:lnTo>
                    <a:pt x="126574" y="6158"/>
                  </a:lnTo>
                  <a:lnTo>
                    <a:pt x="172407" y="0"/>
                  </a:lnTo>
                  <a:close/>
                </a:path>
              </a:pathLst>
            </a:custGeom>
            <a:ln w="12700">
              <a:solidFill>
                <a:srgbClr val="FFFFFF"/>
              </a:solidFill>
            </a:ln>
          </p:spPr>
          <p:txBody>
            <a:bodyPr wrap="square" lIns="0" tIns="0" rIns="0" bIns="0" rtlCol="0"/>
            <a:lstStyle/>
            <a:p>
              <a:endParaRPr/>
            </a:p>
          </p:txBody>
        </p:sp>
      </p:grpSp>
      <p:sp>
        <p:nvSpPr>
          <p:cNvPr id="16" name="object 16"/>
          <p:cNvSpPr txBox="1"/>
          <p:nvPr/>
        </p:nvSpPr>
        <p:spPr>
          <a:xfrm>
            <a:off x="4825449" y="2086002"/>
            <a:ext cx="2458720" cy="720710"/>
          </a:xfrm>
          <a:prstGeom prst="rect">
            <a:avLst/>
          </a:prstGeom>
        </p:spPr>
        <p:txBody>
          <a:bodyPr vert="horz" wrap="square" lIns="0" tIns="12700" rIns="0" bIns="0" rtlCol="0">
            <a:spAutoFit/>
          </a:bodyPr>
          <a:lstStyle/>
          <a:p>
            <a:pPr marL="12700">
              <a:lnSpc>
                <a:spcPct val="100000"/>
              </a:lnSpc>
              <a:spcBef>
                <a:spcPts val="100"/>
              </a:spcBef>
            </a:pPr>
            <a:r>
              <a:rPr sz="2300" dirty="0">
                <a:solidFill>
                  <a:srgbClr val="FFFFFF"/>
                </a:solidFill>
                <a:latin typeface="Calibri"/>
                <a:cs typeface="Calibri"/>
              </a:rPr>
              <a:t>-</a:t>
            </a:r>
            <a:r>
              <a:rPr sz="2300" spc="-20" dirty="0">
                <a:solidFill>
                  <a:srgbClr val="FFFFFF"/>
                </a:solidFill>
                <a:latin typeface="Calibri"/>
                <a:cs typeface="Calibri"/>
              </a:rPr>
              <a:t> </a:t>
            </a:r>
            <a:r>
              <a:rPr lang="en-IN" sz="2300" dirty="0" err="1">
                <a:solidFill>
                  <a:schemeClr val="bg1"/>
                </a:solidFill>
              </a:rPr>
              <a:t>FastAPI</a:t>
            </a:r>
            <a:r>
              <a:rPr lang="en-IN" sz="2300" dirty="0">
                <a:solidFill>
                  <a:schemeClr val="bg1"/>
                </a:solidFill>
              </a:rPr>
              <a:t> backend architecture</a:t>
            </a:r>
            <a:endParaRPr sz="2300" dirty="0">
              <a:solidFill>
                <a:schemeClr val="bg1"/>
              </a:solidFill>
              <a:latin typeface="Calibri"/>
              <a:cs typeface="Calibri"/>
            </a:endParaRPr>
          </a:p>
        </p:txBody>
      </p:sp>
      <p:sp>
        <p:nvSpPr>
          <p:cNvPr id="17" name="object 17"/>
          <p:cNvSpPr txBox="1"/>
          <p:nvPr/>
        </p:nvSpPr>
        <p:spPr>
          <a:xfrm>
            <a:off x="4855304" y="2790844"/>
            <a:ext cx="2305050" cy="1074653"/>
          </a:xfrm>
          <a:prstGeom prst="rect">
            <a:avLst/>
          </a:prstGeom>
        </p:spPr>
        <p:txBody>
          <a:bodyPr vert="horz" wrap="square" lIns="0" tIns="12700" rIns="0" bIns="0" rtlCol="0">
            <a:spAutoFit/>
          </a:bodyPr>
          <a:lstStyle/>
          <a:p>
            <a:pPr marL="12700">
              <a:lnSpc>
                <a:spcPct val="100000"/>
              </a:lnSpc>
              <a:spcBef>
                <a:spcPts val="100"/>
              </a:spcBef>
            </a:pPr>
            <a:r>
              <a:rPr sz="2300" dirty="0">
                <a:solidFill>
                  <a:srgbClr val="FFFFFF"/>
                </a:solidFill>
                <a:latin typeface="Calibri"/>
                <a:cs typeface="Calibri"/>
              </a:rPr>
              <a:t>-</a:t>
            </a:r>
            <a:r>
              <a:rPr sz="2300" spc="-30" dirty="0">
                <a:solidFill>
                  <a:srgbClr val="FFFFFF"/>
                </a:solidFill>
                <a:latin typeface="Calibri"/>
                <a:cs typeface="Calibri"/>
              </a:rPr>
              <a:t> </a:t>
            </a:r>
            <a:r>
              <a:rPr lang="en-IN" sz="2300" dirty="0">
                <a:solidFill>
                  <a:schemeClr val="bg1"/>
                </a:solidFill>
              </a:rPr>
              <a:t>API handling and model routing</a:t>
            </a:r>
            <a:endParaRPr sz="2300" dirty="0">
              <a:solidFill>
                <a:schemeClr val="bg1"/>
              </a:solidFill>
              <a:latin typeface="Calibri"/>
              <a:cs typeface="Calibri"/>
            </a:endParaRPr>
          </a:p>
        </p:txBody>
      </p:sp>
      <p:sp>
        <p:nvSpPr>
          <p:cNvPr id="19" name="object 19"/>
          <p:cNvSpPr txBox="1"/>
          <p:nvPr/>
        </p:nvSpPr>
        <p:spPr>
          <a:xfrm>
            <a:off x="4828093" y="3862369"/>
            <a:ext cx="1854200" cy="720710"/>
          </a:xfrm>
          <a:prstGeom prst="rect">
            <a:avLst/>
          </a:prstGeom>
        </p:spPr>
        <p:txBody>
          <a:bodyPr vert="horz" wrap="square" lIns="0" tIns="12700" rIns="0" bIns="0" rtlCol="0">
            <a:spAutoFit/>
          </a:bodyPr>
          <a:lstStyle/>
          <a:p>
            <a:pPr marL="12700">
              <a:lnSpc>
                <a:spcPct val="100000"/>
              </a:lnSpc>
              <a:spcBef>
                <a:spcPts val="100"/>
              </a:spcBef>
            </a:pPr>
            <a:r>
              <a:rPr sz="2300" dirty="0">
                <a:solidFill>
                  <a:srgbClr val="FFFFFF"/>
                </a:solidFill>
                <a:latin typeface="Calibri"/>
                <a:cs typeface="Calibri"/>
              </a:rPr>
              <a:t>-</a:t>
            </a:r>
            <a:r>
              <a:rPr sz="2300" spc="-15" dirty="0">
                <a:solidFill>
                  <a:srgbClr val="FFFFFF"/>
                </a:solidFill>
                <a:latin typeface="Calibri"/>
                <a:cs typeface="Calibri"/>
              </a:rPr>
              <a:t> </a:t>
            </a:r>
            <a:r>
              <a:rPr lang="en-IN" sz="2300" dirty="0">
                <a:solidFill>
                  <a:schemeClr val="bg1"/>
                </a:solidFill>
              </a:rPr>
              <a:t>Database connectivity</a:t>
            </a:r>
            <a:endParaRPr sz="2300" dirty="0">
              <a:solidFill>
                <a:schemeClr val="bg1"/>
              </a:solidFill>
              <a:latin typeface="Calibri"/>
              <a:cs typeface="Calibri"/>
            </a:endParaRPr>
          </a:p>
        </p:txBody>
      </p:sp>
      <p:sp>
        <p:nvSpPr>
          <p:cNvPr id="21" name="object 21"/>
          <p:cNvSpPr txBox="1"/>
          <p:nvPr/>
        </p:nvSpPr>
        <p:spPr>
          <a:xfrm>
            <a:off x="7864727" y="2163521"/>
            <a:ext cx="368300" cy="1990089"/>
          </a:xfrm>
          <a:prstGeom prst="rect">
            <a:avLst/>
          </a:prstGeom>
        </p:spPr>
        <p:txBody>
          <a:bodyPr vert="vert270" wrap="square" lIns="0" tIns="0" rIns="0" bIns="0" rtlCol="0">
            <a:spAutoFit/>
          </a:bodyPr>
          <a:lstStyle/>
          <a:p>
            <a:pPr marL="12700">
              <a:lnSpc>
                <a:spcPts val="2665"/>
              </a:lnSpc>
            </a:pPr>
            <a:r>
              <a:rPr sz="2700" dirty="0">
                <a:solidFill>
                  <a:srgbClr val="FFFFFF"/>
                </a:solidFill>
                <a:latin typeface="Calibri"/>
                <a:cs typeface="Calibri"/>
              </a:rPr>
              <a:t>User</a:t>
            </a:r>
            <a:r>
              <a:rPr sz="2700" spc="-20" dirty="0">
                <a:solidFill>
                  <a:srgbClr val="FFFFFF"/>
                </a:solidFill>
                <a:latin typeface="Calibri"/>
                <a:cs typeface="Calibri"/>
              </a:rPr>
              <a:t> </a:t>
            </a:r>
            <a:r>
              <a:rPr sz="2700" spc="-10" dirty="0">
                <a:solidFill>
                  <a:srgbClr val="FFFFFF"/>
                </a:solidFill>
                <a:latin typeface="Calibri"/>
                <a:cs typeface="Calibri"/>
              </a:rPr>
              <a:t>Interface</a:t>
            </a:r>
            <a:endParaRPr sz="2700">
              <a:latin typeface="Calibri"/>
              <a:cs typeface="Calibri"/>
            </a:endParaRPr>
          </a:p>
        </p:txBody>
      </p:sp>
      <p:grpSp>
        <p:nvGrpSpPr>
          <p:cNvPr id="22" name="object 22"/>
          <p:cNvGrpSpPr/>
          <p:nvPr/>
        </p:nvGrpSpPr>
        <p:grpSpPr>
          <a:xfrm>
            <a:off x="7536604" y="5292935"/>
            <a:ext cx="530225" cy="621030"/>
            <a:chOff x="7536604" y="5292935"/>
            <a:chExt cx="530225" cy="621030"/>
          </a:xfrm>
        </p:grpSpPr>
        <p:pic>
          <p:nvPicPr>
            <p:cNvPr id="23" name="object 23"/>
            <p:cNvPicPr/>
            <p:nvPr/>
          </p:nvPicPr>
          <p:blipFill>
            <a:blip r:embed="rId6" cstate="print"/>
            <a:stretch>
              <a:fillRect/>
            </a:stretch>
          </p:blipFill>
          <p:spPr>
            <a:xfrm>
              <a:off x="7542953" y="5299285"/>
              <a:ext cx="517221" cy="608092"/>
            </a:xfrm>
            <a:prstGeom prst="rect">
              <a:avLst/>
            </a:prstGeom>
          </p:spPr>
        </p:pic>
        <p:sp>
          <p:nvSpPr>
            <p:cNvPr id="24" name="object 24"/>
            <p:cNvSpPr/>
            <p:nvPr/>
          </p:nvSpPr>
          <p:spPr>
            <a:xfrm>
              <a:off x="7542954" y="5299285"/>
              <a:ext cx="517525" cy="608330"/>
            </a:xfrm>
            <a:custGeom>
              <a:avLst/>
              <a:gdLst/>
              <a:ahLst/>
              <a:cxnLst/>
              <a:rect l="l" t="t" r="r" b="b"/>
              <a:pathLst>
                <a:path w="517525" h="608329">
                  <a:moveTo>
                    <a:pt x="0" y="0"/>
                  </a:moveTo>
                  <a:lnTo>
                    <a:pt x="517220" y="304047"/>
                  </a:lnTo>
                  <a:lnTo>
                    <a:pt x="0" y="608093"/>
                  </a:lnTo>
                  <a:lnTo>
                    <a:pt x="0" y="0"/>
                  </a:lnTo>
                  <a:close/>
                </a:path>
              </a:pathLst>
            </a:custGeom>
            <a:ln w="12700">
              <a:solidFill>
                <a:srgbClr val="5E5E5E"/>
              </a:solidFill>
            </a:ln>
          </p:spPr>
          <p:txBody>
            <a:bodyPr wrap="square" lIns="0" tIns="0" rIns="0" bIns="0" rtlCol="0"/>
            <a:lstStyle/>
            <a:p>
              <a:endParaRPr/>
            </a:p>
          </p:txBody>
        </p:sp>
      </p:grpSp>
      <p:sp>
        <p:nvSpPr>
          <p:cNvPr id="25" name="object 25"/>
          <p:cNvSpPr txBox="1"/>
          <p:nvPr/>
        </p:nvSpPr>
        <p:spPr>
          <a:xfrm>
            <a:off x="8398212" y="2080206"/>
            <a:ext cx="2058670" cy="720710"/>
          </a:xfrm>
          <a:prstGeom prst="rect">
            <a:avLst/>
          </a:prstGeom>
        </p:spPr>
        <p:txBody>
          <a:bodyPr vert="horz" wrap="square" lIns="0" tIns="12700" rIns="0" bIns="0" rtlCol="0">
            <a:spAutoFit/>
          </a:bodyPr>
          <a:lstStyle/>
          <a:p>
            <a:pPr marL="12700">
              <a:lnSpc>
                <a:spcPct val="100000"/>
              </a:lnSpc>
              <a:spcBef>
                <a:spcPts val="100"/>
              </a:spcBef>
            </a:pPr>
            <a:r>
              <a:rPr sz="2300" dirty="0">
                <a:solidFill>
                  <a:srgbClr val="FFFFFF"/>
                </a:solidFill>
                <a:latin typeface="Calibri"/>
                <a:cs typeface="Calibri"/>
              </a:rPr>
              <a:t>-</a:t>
            </a:r>
            <a:r>
              <a:rPr sz="2300" spc="-45" dirty="0">
                <a:solidFill>
                  <a:srgbClr val="FFFFFF"/>
                </a:solidFill>
                <a:latin typeface="Calibri"/>
                <a:cs typeface="Calibri"/>
              </a:rPr>
              <a:t> </a:t>
            </a:r>
            <a:r>
              <a:rPr lang="en-IN" sz="2300" dirty="0">
                <a:solidFill>
                  <a:schemeClr val="bg1"/>
                </a:solidFill>
              </a:rPr>
              <a:t>Next.js frontend</a:t>
            </a:r>
            <a:endParaRPr sz="2300" dirty="0">
              <a:solidFill>
                <a:schemeClr val="bg1"/>
              </a:solidFill>
              <a:latin typeface="Calibri"/>
              <a:cs typeface="Calibri"/>
            </a:endParaRPr>
          </a:p>
        </p:txBody>
      </p:sp>
      <p:sp>
        <p:nvSpPr>
          <p:cNvPr id="27" name="object 27"/>
          <p:cNvSpPr txBox="1"/>
          <p:nvPr/>
        </p:nvSpPr>
        <p:spPr>
          <a:xfrm>
            <a:off x="8398633" y="2810807"/>
            <a:ext cx="2183906" cy="720710"/>
          </a:xfrm>
          <a:prstGeom prst="rect">
            <a:avLst/>
          </a:prstGeom>
        </p:spPr>
        <p:txBody>
          <a:bodyPr vert="horz" wrap="square" lIns="0" tIns="12700" rIns="0" bIns="0" rtlCol="0">
            <a:spAutoFit/>
          </a:bodyPr>
          <a:lstStyle/>
          <a:p>
            <a:pPr marL="12700">
              <a:lnSpc>
                <a:spcPct val="100000"/>
              </a:lnSpc>
              <a:spcBef>
                <a:spcPts val="100"/>
              </a:spcBef>
            </a:pPr>
            <a:r>
              <a:rPr sz="2300" dirty="0">
                <a:solidFill>
                  <a:srgbClr val="FFFFFF"/>
                </a:solidFill>
                <a:latin typeface="Calibri"/>
                <a:cs typeface="Calibri"/>
              </a:rPr>
              <a:t>-</a:t>
            </a:r>
            <a:r>
              <a:rPr sz="2300" spc="-10" dirty="0">
                <a:solidFill>
                  <a:srgbClr val="FFFFFF"/>
                </a:solidFill>
                <a:latin typeface="Calibri"/>
                <a:cs typeface="Calibri"/>
              </a:rPr>
              <a:t> </a:t>
            </a:r>
            <a:r>
              <a:rPr lang="en-IN" sz="2300" dirty="0">
                <a:solidFill>
                  <a:schemeClr val="bg1"/>
                </a:solidFill>
              </a:rPr>
              <a:t>Tailwind CSS styling</a:t>
            </a:r>
            <a:endParaRPr sz="2300" dirty="0">
              <a:solidFill>
                <a:schemeClr val="bg1"/>
              </a:solidFill>
              <a:latin typeface="Calibri"/>
              <a:cs typeface="Calibri"/>
            </a:endParaRPr>
          </a:p>
        </p:txBody>
      </p:sp>
      <p:sp>
        <p:nvSpPr>
          <p:cNvPr id="30" name="object 30"/>
          <p:cNvSpPr txBox="1"/>
          <p:nvPr/>
        </p:nvSpPr>
        <p:spPr>
          <a:xfrm>
            <a:off x="8394278" y="3624334"/>
            <a:ext cx="2472690" cy="720710"/>
          </a:xfrm>
          <a:prstGeom prst="rect">
            <a:avLst/>
          </a:prstGeom>
        </p:spPr>
        <p:txBody>
          <a:bodyPr vert="horz" wrap="square" lIns="0" tIns="12700" rIns="0" bIns="0" rtlCol="0">
            <a:spAutoFit/>
          </a:bodyPr>
          <a:lstStyle/>
          <a:p>
            <a:pPr marL="12700">
              <a:lnSpc>
                <a:spcPct val="100000"/>
              </a:lnSpc>
              <a:spcBef>
                <a:spcPts val="100"/>
              </a:spcBef>
            </a:pPr>
            <a:r>
              <a:rPr sz="2300" dirty="0">
                <a:solidFill>
                  <a:srgbClr val="FFFFFF"/>
                </a:solidFill>
                <a:latin typeface="Calibri"/>
                <a:cs typeface="Calibri"/>
              </a:rPr>
              <a:t>-</a:t>
            </a:r>
            <a:r>
              <a:rPr sz="2300" spc="-50" dirty="0">
                <a:solidFill>
                  <a:srgbClr val="FFFFFF"/>
                </a:solidFill>
                <a:latin typeface="Calibri"/>
                <a:cs typeface="Calibri"/>
              </a:rPr>
              <a:t> </a:t>
            </a:r>
            <a:r>
              <a:rPr lang="en-IN" sz="2300" dirty="0">
                <a:solidFill>
                  <a:schemeClr val="bg1"/>
                </a:solidFill>
              </a:rPr>
              <a:t>Interactive chatbot interface</a:t>
            </a:r>
            <a:endParaRPr sz="2300" dirty="0">
              <a:solidFill>
                <a:schemeClr val="bg1"/>
              </a:solidFill>
              <a:latin typeface="Calibri"/>
              <a:cs typeface="Calibri"/>
            </a:endParaRPr>
          </a:p>
        </p:txBody>
      </p:sp>
      <p:sp>
        <p:nvSpPr>
          <p:cNvPr id="33" name="TextBox 32">
            <a:extLst>
              <a:ext uri="{FF2B5EF4-FFF2-40B4-BE49-F238E27FC236}">
                <a16:creationId xmlns:a16="http://schemas.microsoft.com/office/drawing/2014/main" id="{7AC40848-D4C1-FD70-E4D9-D3A6DBCB6904}"/>
              </a:ext>
            </a:extLst>
          </p:cNvPr>
          <p:cNvSpPr txBox="1"/>
          <p:nvPr/>
        </p:nvSpPr>
        <p:spPr>
          <a:xfrm>
            <a:off x="8320911" y="4317820"/>
            <a:ext cx="2306304" cy="1090042"/>
          </a:xfrm>
          <a:prstGeom prst="rect">
            <a:avLst/>
          </a:prstGeom>
          <a:noFill/>
        </p:spPr>
        <p:txBody>
          <a:bodyPr wrap="square">
            <a:spAutoFit/>
          </a:bodyPr>
          <a:lstStyle/>
          <a:p>
            <a:pPr marL="12700">
              <a:spcBef>
                <a:spcPts val="100"/>
              </a:spcBef>
            </a:pPr>
            <a:r>
              <a:rPr lang="en-IN" sz="2300" dirty="0">
                <a:solidFill>
                  <a:srgbClr val="FFFFFF"/>
                </a:solidFill>
                <a:latin typeface="Calibri"/>
                <a:cs typeface="Calibri"/>
              </a:rPr>
              <a:t>-</a:t>
            </a:r>
            <a:r>
              <a:rPr lang="en-IN" sz="2300" spc="-50" dirty="0">
                <a:solidFill>
                  <a:srgbClr val="FFFFFF"/>
                </a:solidFill>
                <a:latin typeface="Calibri"/>
                <a:cs typeface="Calibri"/>
              </a:rPr>
              <a:t> </a:t>
            </a:r>
            <a:r>
              <a:rPr lang="en-IN" sz="2300" dirty="0">
                <a:solidFill>
                  <a:schemeClr val="bg1"/>
                </a:solidFill>
              </a:rPr>
              <a:t>Theme support (Dark / Light)</a:t>
            </a:r>
          </a:p>
          <a:p>
            <a:pPr marL="12700">
              <a:lnSpc>
                <a:spcPct val="100000"/>
              </a:lnSpc>
              <a:spcBef>
                <a:spcPts val="100"/>
              </a:spcBef>
            </a:pPr>
            <a:endParaRPr lang="en-IN" sz="1800" dirty="0">
              <a:solidFill>
                <a:schemeClr val="bg1"/>
              </a:solidFill>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6300" y="304800"/>
            <a:ext cx="4003675" cy="756920"/>
          </a:xfrm>
          <a:prstGeom prst="rect">
            <a:avLst/>
          </a:prstGeom>
        </p:spPr>
        <p:txBody>
          <a:bodyPr vert="horz" wrap="square" lIns="0" tIns="12700" rIns="0" bIns="0" rtlCol="0">
            <a:spAutoFit/>
          </a:bodyPr>
          <a:lstStyle/>
          <a:p>
            <a:pPr marL="12700">
              <a:lnSpc>
                <a:spcPct val="100000"/>
              </a:lnSpc>
              <a:spcBef>
                <a:spcPts val="100"/>
              </a:spcBef>
            </a:pPr>
            <a:r>
              <a:rPr sz="4800" spc="-10" dirty="0">
                <a:latin typeface="Calibri"/>
                <a:cs typeface="Calibri"/>
              </a:rPr>
              <a:t>Implementation</a:t>
            </a:r>
            <a:endParaRPr sz="4800" dirty="0">
              <a:latin typeface="Calibri"/>
              <a:cs typeface="Calibri"/>
            </a:endParaRPr>
          </a:p>
        </p:txBody>
      </p:sp>
      <p:pic>
        <p:nvPicPr>
          <p:cNvPr id="5" name="Picture 4">
            <a:extLst>
              <a:ext uri="{FF2B5EF4-FFF2-40B4-BE49-F238E27FC236}">
                <a16:creationId xmlns:a16="http://schemas.microsoft.com/office/drawing/2014/main" id="{4C5F3B04-484D-D108-B758-C39410296E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300" y="960565"/>
            <a:ext cx="10439400" cy="57154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096000" y="0"/>
            <a:ext cx="3657600" cy="6858000"/>
          </a:xfrm>
          <a:custGeom>
            <a:avLst/>
            <a:gdLst/>
            <a:ahLst/>
            <a:cxnLst/>
            <a:rect l="l" t="t" r="r" b="b"/>
            <a:pathLst>
              <a:path w="3657600" h="6858000">
                <a:moveTo>
                  <a:pt x="3657600" y="0"/>
                </a:moveTo>
                <a:lnTo>
                  <a:pt x="0" y="0"/>
                </a:lnTo>
                <a:lnTo>
                  <a:pt x="0" y="6858000"/>
                </a:lnTo>
                <a:lnTo>
                  <a:pt x="3657600" y="6858000"/>
                </a:lnTo>
                <a:lnTo>
                  <a:pt x="3657600" y="0"/>
                </a:lnTo>
                <a:close/>
              </a:path>
            </a:pathLst>
          </a:custGeom>
          <a:solidFill>
            <a:srgbClr val="EFEDEC"/>
          </a:solidFill>
        </p:spPr>
        <p:txBody>
          <a:bodyPr wrap="square" lIns="0" tIns="0" rIns="0" bIns="0" rtlCol="0"/>
          <a:lstStyle/>
          <a:p>
            <a:endParaRPr/>
          </a:p>
        </p:txBody>
      </p:sp>
      <p:sp>
        <p:nvSpPr>
          <p:cNvPr id="3" name="object 3"/>
          <p:cNvSpPr/>
          <p:nvPr/>
        </p:nvSpPr>
        <p:spPr>
          <a:xfrm>
            <a:off x="11353800" y="566056"/>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sp>
        <p:nvSpPr>
          <p:cNvPr id="4" name="object 4"/>
          <p:cNvSpPr/>
          <p:nvPr/>
        </p:nvSpPr>
        <p:spPr>
          <a:xfrm>
            <a:off x="11353800" y="653143"/>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sp>
        <p:nvSpPr>
          <p:cNvPr id="5" name="object 5"/>
          <p:cNvSpPr txBox="1"/>
          <p:nvPr/>
        </p:nvSpPr>
        <p:spPr>
          <a:xfrm>
            <a:off x="914400" y="1441605"/>
            <a:ext cx="9930317" cy="5245409"/>
          </a:xfrm>
          <a:prstGeom prst="rect">
            <a:avLst/>
          </a:prstGeom>
        </p:spPr>
        <p:txBody>
          <a:bodyPr vert="horz" wrap="square" lIns="0" tIns="52069" rIns="0" bIns="0" rtlCol="0">
            <a:spAutoFit/>
          </a:bodyPr>
          <a:lstStyle/>
          <a:p>
            <a:pPr marL="297815" marR="924560" indent="-285750">
              <a:lnSpc>
                <a:spcPct val="150000"/>
              </a:lnSpc>
              <a:spcBef>
                <a:spcPts val="409"/>
              </a:spcBef>
              <a:buFont typeface="Arial MT"/>
              <a:buChar char="•"/>
              <a:tabLst>
                <a:tab pos="297815" algn="l"/>
              </a:tabLst>
            </a:pPr>
            <a:r>
              <a:rPr lang="en-US" sz="1600" dirty="0">
                <a:solidFill>
                  <a:schemeClr val="tx1">
                    <a:lumMod val="65000"/>
                    <a:lumOff val="35000"/>
                  </a:schemeClr>
                </a:solidFill>
              </a:rPr>
              <a:t>Successfully integrated conversational AI with document retrieval capability into a unified system. This allows users to interact naturally while retrieving relevant information from uploaded documents</a:t>
            </a:r>
            <a:r>
              <a:rPr lang="en-US" sz="1600" dirty="0"/>
              <a:t>.</a:t>
            </a:r>
          </a:p>
          <a:p>
            <a:pPr marL="297815" marR="924560" indent="-285750">
              <a:lnSpc>
                <a:spcPct val="150000"/>
              </a:lnSpc>
              <a:spcBef>
                <a:spcPts val="409"/>
              </a:spcBef>
              <a:buFont typeface="Arial MT"/>
              <a:buChar char="•"/>
              <a:tabLst>
                <a:tab pos="297815" algn="l"/>
              </a:tabLst>
            </a:pPr>
            <a:r>
              <a:rPr lang="en-US" sz="1600" dirty="0">
                <a:solidFill>
                  <a:schemeClr val="tx1">
                    <a:lumMod val="65000"/>
                    <a:lumOff val="35000"/>
                  </a:schemeClr>
                </a:solidFill>
              </a:rPr>
              <a:t>Implemented context-aware intelligent response generation using Retrieval-Augmented Generation (RAG). The system generates responses by combining user queries with retrieved contextual information</a:t>
            </a:r>
            <a:r>
              <a:rPr sz="1600" spc="-10" dirty="0">
                <a:solidFill>
                  <a:schemeClr val="tx1">
                    <a:lumMod val="65000"/>
                    <a:lumOff val="35000"/>
                  </a:schemeClr>
                </a:solidFill>
                <a:latin typeface="Times New Roman"/>
                <a:cs typeface="Times New Roman"/>
              </a:rPr>
              <a:t>.</a:t>
            </a:r>
            <a:endParaRPr sz="1600" dirty="0">
              <a:solidFill>
                <a:schemeClr val="tx1">
                  <a:lumMod val="65000"/>
                  <a:lumOff val="35000"/>
                </a:schemeClr>
              </a:solidFill>
              <a:latin typeface="Times New Roman"/>
              <a:cs typeface="Times New Roman"/>
            </a:endParaRPr>
          </a:p>
          <a:p>
            <a:pPr marL="297815" marR="198120" indent="-285750">
              <a:lnSpc>
                <a:spcPct val="150000"/>
              </a:lnSpc>
              <a:spcBef>
                <a:spcPts val="1035"/>
              </a:spcBef>
              <a:buFont typeface="Arial MT"/>
              <a:buChar char="•"/>
              <a:tabLst>
                <a:tab pos="297815" algn="l"/>
              </a:tabLst>
            </a:pPr>
            <a:r>
              <a:rPr lang="en-US" sz="1600" dirty="0">
                <a:solidFill>
                  <a:schemeClr val="tx1">
                    <a:lumMod val="65000"/>
                    <a:lumOff val="35000"/>
                  </a:schemeClr>
                </a:solidFill>
              </a:rPr>
              <a:t>Built an interactive and responsive user interface using Next.js and Tailwind CSS technologies. The interface provides smooth navigation, improved usability, and an enhanced user experience</a:t>
            </a:r>
            <a:r>
              <a:rPr lang="en-US" sz="1600" dirty="0"/>
              <a:t>.</a:t>
            </a:r>
          </a:p>
          <a:p>
            <a:pPr marL="297815" marR="198120" indent="-285750">
              <a:lnSpc>
                <a:spcPct val="150000"/>
              </a:lnSpc>
              <a:spcBef>
                <a:spcPts val="1035"/>
              </a:spcBef>
              <a:buFont typeface="Arial MT"/>
              <a:buChar char="•"/>
              <a:tabLst>
                <a:tab pos="297815" algn="l"/>
              </a:tabLst>
            </a:pPr>
            <a:r>
              <a:rPr lang="en-US" sz="1600" dirty="0">
                <a:solidFill>
                  <a:schemeClr val="tx1">
                    <a:lumMod val="65000"/>
                    <a:lumOff val="35000"/>
                  </a:schemeClr>
                </a:solidFill>
              </a:rPr>
              <a:t>Achieved faster and more accurate information retrieval using vector embeddings and similarity search techniques. Semantic retrieval improves relevance by identifying contextually related information instead of exact keyword matches.</a:t>
            </a:r>
          </a:p>
          <a:p>
            <a:pPr marL="297815" marR="198120" indent="-285750">
              <a:lnSpc>
                <a:spcPct val="150000"/>
              </a:lnSpc>
              <a:spcBef>
                <a:spcPts val="1035"/>
              </a:spcBef>
              <a:buFont typeface="Arial MT"/>
              <a:buChar char="•"/>
              <a:tabLst>
                <a:tab pos="297815" algn="l"/>
              </a:tabLst>
            </a:pPr>
            <a:r>
              <a:rPr lang="en-US" sz="1600" dirty="0">
                <a:solidFill>
                  <a:schemeClr val="tx1">
                    <a:lumMod val="65000"/>
                    <a:lumOff val="35000"/>
                  </a:schemeClr>
                </a:solidFill>
              </a:rPr>
              <a:t>Improved overall user experience through personalized interaction and conversational assistance.</a:t>
            </a:r>
            <a:br>
              <a:rPr lang="en-US" sz="1600" dirty="0">
                <a:solidFill>
                  <a:schemeClr val="tx1">
                    <a:lumMod val="65000"/>
                    <a:lumOff val="35000"/>
                  </a:schemeClr>
                </a:solidFill>
              </a:rPr>
            </a:br>
            <a:r>
              <a:rPr lang="en-US" sz="1600" dirty="0">
                <a:solidFill>
                  <a:schemeClr val="tx1">
                    <a:lumMod val="65000"/>
                    <a:lumOff val="35000"/>
                  </a:schemeClr>
                </a:solidFill>
              </a:rPr>
              <a:t>Users can receive adaptive responses while maintaining contextual continuity during interactions.</a:t>
            </a:r>
            <a:endParaRPr sz="1600" dirty="0">
              <a:solidFill>
                <a:schemeClr val="tx1">
                  <a:lumMod val="65000"/>
                  <a:lumOff val="35000"/>
                </a:schemeClr>
              </a:solidFill>
              <a:latin typeface="Times New Roman"/>
              <a:cs typeface="Times New Roman"/>
            </a:endParaRPr>
          </a:p>
        </p:txBody>
      </p:sp>
      <p:sp>
        <p:nvSpPr>
          <p:cNvPr id="6" name="object 6"/>
          <p:cNvSpPr txBox="1">
            <a:spLocks noGrp="1"/>
          </p:cNvSpPr>
          <p:nvPr>
            <p:ph type="title"/>
          </p:nvPr>
        </p:nvSpPr>
        <p:spPr>
          <a:prstGeom prst="rect">
            <a:avLst/>
          </a:prstGeom>
        </p:spPr>
        <p:txBody>
          <a:bodyPr vert="horz" wrap="square" lIns="0" tIns="543261" rIns="0" bIns="0" rtlCol="0">
            <a:spAutoFit/>
          </a:bodyPr>
          <a:lstStyle/>
          <a:p>
            <a:pPr marL="629285">
              <a:lnSpc>
                <a:spcPct val="100000"/>
              </a:lnSpc>
              <a:spcBef>
                <a:spcPts val="100"/>
              </a:spcBef>
            </a:pPr>
            <a:r>
              <a:rPr sz="4800" spc="-10" dirty="0">
                <a:latin typeface="Calibri"/>
                <a:cs typeface="Calibri"/>
              </a:rPr>
              <a:t>Result</a:t>
            </a:r>
            <a:endParaRPr sz="48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096000" y="1"/>
            <a:ext cx="6096000" cy="6858000"/>
            <a:chOff x="6096000" y="1"/>
            <a:chExt cx="6096000" cy="6858000"/>
          </a:xfrm>
        </p:grpSpPr>
        <p:sp>
          <p:nvSpPr>
            <p:cNvPr id="3" name="object 3"/>
            <p:cNvSpPr/>
            <p:nvPr/>
          </p:nvSpPr>
          <p:spPr>
            <a:xfrm>
              <a:off x="6096000" y="1"/>
              <a:ext cx="6096000" cy="6858000"/>
            </a:xfrm>
            <a:custGeom>
              <a:avLst/>
              <a:gdLst/>
              <a:ahLst/>
              <a:cxnLst/>
              <a:rect l="l" t="t" r="r" b="b"/>
              <a:pathLst>
                <a:path w="6096000" h="6858000">
                  <a:moveTo>
                    <a:pt x="6096000" y="0"/>
                  </a:moveTo>
                  <a:lnTo>
                    <a:pt x="0" y="0"/>
                  </a:lnTo>
                  <a:lnTo>
                    <a:pt x="0" y="6858000"/>
                  </a:lnTo>
                  <a:lnTo>
                    <a:pt x="6096000" y="6858000"/>
                  </a:lnTo>
                  <a:lnTo>
                    <a:pt x="6096000" y="0"/>
                  </a:lnTo>
                  <a:close/>
                </a:path>
              </a:pathLst>
            </a:custGeom>
            <a:solidFill>
              <a:srgbClr val="F1F4F4"/>
            </a:solidFill>
          </p:spPr>
          <p:txBody>
            <a:bodyPr wrap="square" lIns="0" tIns="0" rIns="0" bIns="0" rtlCol="0"/>
            <a:lstStyle/>
            <a:p>
              <a:endParaRPr/>
            </a:p>
          </p:txBody>
        </p:sp>
        <p:sp>
          <p:nvSpPr>
            <p:cNvPr id="4" name="object 4"/>
            <p:cNvSpPr/>
            <p:nvPr/>
          </p:nvSpPr>
          <p:spPr>
            <a:xfrm>
              <a:off x="11353800" y="566056"/>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sp>
          <p:nvSpPr>
            <p:cNvPr id="5" name="object 5"/>
            <p:cNvSpPr/>
            <p:nvPr/>
          </p:nvSpPr>
          <p:spPr>
            <a:xfrm>
              <a:off x="11353800" y="653143"/>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605620" rIns="0" bIns="0" rtlCol="0">
            <a:spAutoFit/>
          </a:bodyPr>
          <a:lstStyle/>
          <a:p>
            <a:pPr marL="624205">
              <a:lnSpc>
                <a:spcPct val="100000"/>
              </a:lnSpc>
              <a:spcBef>
                <a:spcPts val="100"/>
              </a:spcBef>
            </a:pPr>
            <a:r>
              <a:rPr sz="4800" spc="-10" dirty="0"/>
              <a:t>Conclusion</a:t>
            </a:r>
            <a:endParaRPr sz="4800" dirty="0"/>
          </a:p>
        </p:txBody>
      </p:sp>
      <p:sp>
        <p:nvSpPr>
          <p:cNvPr id="8" name="object 8"/>
          <p:cNvSpPr txBox="1"/>
          <p:nvPr/>
        </p:nvSpPr>
        <p:spPr>
          <a:xfrm>
            <a:off x="996503" y="1707051"/>
            <a:ext cx="10198994" cy="4082271"/>
          </a:xfrm>
          <a:prstGeom prst="rect">
            <a:avLst/>
          </a:prstGeom>
        </p:spPr>
        <p:txBody>
          <a:bodyPr vert="horz" wrap="square" lIns="0" tIns="12700" rIns="0" bIns="0" rtlCol="0">
            <a:spAutoFit/>
          </a:bodyPr>
          <a:lstStyle/>
          <a:p>
            <a:pPr marL="298450" indent="-285750">
              <a:lnSpc>
                <a:spcPct val="150000"/>
              </a:lnSpc>
              <a:spcBef>
                <a:spcPts val="100"/>
              </a:spcBef>
              <a:buFont typeface="Arial" panose="020B0604020202020204" pitchFamily="34" charset="0"/>
              <a:buChar char="•"/>
            </a:pPr>
            <a:r>
              <a:rPr lang="en-US" sz="1600" dirty="0">
                <a:solidFill>
                  <a:schemeClr val="tx1">
                    <a:lumMod val="65000"/>
                    <a:lumOff val="35000"/>
                  </a:schemeClr>
                </a:solidFill>
              </a:rPr>
              <a:t>ORION provides a modern AI-based learning assistant system designed to simplify knowledge retrieval and user interaction. It offers an intelligent and dynamic platform for accessing information effectively.</a:t>
            </a:r>
          </a:p>
          <a:p>
            <a:pPr marL="298450" indent="-285750">
              <a:lnSpc>
                <a:spcPct val="150000"/>
              </a:lnSpc>
              <a:spcBef>
                <a:spcPts val="100"/>
              </a:spcBef>
              <a:buFont typeface="Arial" panose="020B0604020202020204" pitchFamily="34" charset="0"/>
              <a:buChar char="•"/>
            </a:pPr>
            <a:r>
              <a:rPr lang="en-US" sz="1600" dirty="0">
                <a:solidFill>
                  <a:schemeClr val="tx1">
                    <a:lumMod val="65000"/>
                    <a:lumOff val="35000"/>
                  </a:schemeClr>
                </a:solidFill>
              </a:rPr>
              <a:t>Context-aware retrieval improves the relevance and accuracy of responses generated by the system. This ensures users receive meaningful information based on their queries and available documents.</a:t>
            </a:r>
          </a:p>
          <a:p>
            <a:pPr marL="298450" indent="-285750">
              <a:lnSpc>
                <a:spcPct val="150000"/>
              </a:lnSpc>
              <a:spcBef>
                <a:spcPts val="100"/>
              </a:spcBef>
              <a:buFont typeface="Arial" panose="020B0604020202020204" pitchFamily="34" charset="0"/>
              <a:buChar char="•"/>
            </a:pPr>
            <a:r>
              <a:rPr lang="en-US" sz="1600" dirty="0">
                <a:solidFill>
                  <a:schemeClr val="tx1">
                    <a:lumMod val="65000"/>
                    <a:lumOff val="35000"/>
                  </a:schemeClr>
                </a:solidFill>
              </a:rPr>
              <a:t>Integration of Retrieval-Augmented Generation (RAG) architecture helps reduce misinformation and hallucination issues. By grounding responses in retrieved knowledge sources, reliability is significantly improved.</a:t>
            </a:r>
          </a:p>
          <a:p>
            <a:pPr marL="298450" indent="-285750">
              <a:lnSpc>
                <a:spcPct val="150000"/>
              </a:lnSpc>
              <a:spcBef>
                <a:spcPts val="100"/>
              </a:spcBef>
              <a:buFont typeface="Arial" panose="020B0604020202020204" pitchFamily="34" charset="0"/>
              <a:buChar char="•"/>
            </a:pPr>
            <a:r>
              <a:rPr lang="en-US" sz="1600" dirty="0">
                <a:solidFill>
                  <a:schemeClr val="tx1">
                    <a:lumMod val="65000"/>
                    <a:lumOff val="35000"/>
                  </a:schemeClr>
                </a:solidFill>
              </a:rPr>
              <a:t>The system enhances learning efficiency and overall user interaction through conversational AI capabilities. Users can communicate naturally and obtain personalized responses in real time.</a:t>
            </a:r>
          </a:p>
          <a:p>
            <a:pPr marL="298450" indent="-285750">
              <a:lnSpc>
                <a:spcPct val="150000"/>
              </a:lnSpc>
              <a:spcBef>
                <a:spcPts val="100"/>
              </a:spcBef>
              <a:buFont typeface="Arial" panose="020B0604020202020204" pitchFamily="34" charset="0"/>
              <a:buChar char="•"/>
            </a:pPr>
            <a:r>
              <a:rPr lang="en-US" sz="1600" dirty="0">
                <a:solidFill>
                  <a:schemeClr val="tx1">
                    <a:lumMod val="65000"/>
                    <a:lumOff val="35000"/>
                  </a:schemeClr>
                </a:solidFill>
              </a:rPr>
              <a:t>The modular architecture of ORION enables scalability and supports future feature expansion. This design allows easy integration of additional technologies and functionalities.</a:t>
            </a:r>
            <a:endParaRPr sz="1600" dirty="0">
              <a:solidFill>
                <a:schemeClr val="tx1">
                  <a:lumMod val="65000"/>
                  <a:lumOff val="35000"/>
                </a:schemeClr>
              </a:solidFill>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096000" y="1"/>
            <a:ext cx="6096000" cy="6858000"/>
            <a:chOff x="6096000" y="1"/>
            <a:chExt cx="6096000" cy="6858000"/>
          </a:xfrm>
        </p:grpSpPr>
        <p:sp>
          <p:nvSpPr>
            <p:cNvPr id="3" name="object 3"/>
            <p:cNvSpPr/>
            <p:nvPr/>
          </p:nvSpPr>
          <p:spPr>
            <a:xfrm>
              <a:off x="6096000" y="1"/>
              <a:ext cx="6096000" cy="6858000"/>
            </a:xfrm>
            <a:custGeom>
              <a:avLst/>
              <a:gdLst/>
              <a:ahLst/>
              <a:cxnLst/>
              <a:rect l="l" t="t" r="r" b="b"/>
              <a:pathLst>
                <a:path w="6096000" h="6858000">
                  <a:moveTo>
                    <a:pt x="6096000" y="0"/>
                  </a:moveTo>
                  <a:lnTo>
                    <a:pt x="0" y="0"/>
                  </a:lnTo>
                  <a:lnTo>
                    <a:pt x="0" y="6858000"/>
                  </a:lnTo>
                  <a:lnTo>
                    <a:pt x="6096000" y="6858000"/>
                  </a:lnTo>
                  <a:lnTo>
                    <a:pt x="6096000" y="0"/>
                  </a:lnTo>
                  <a:close/>
                </a:path>
              </a:pathLst>
            </a:custGeom>
            <a:solidFill>
              <a:srgbClr val="F1F4F4"/>
            </a:solidFill>
          </p:spPr>
          <p:txBody>
            <a:bodyPr wrap="square" lIns="0" tIns="0" rIns="0" bIns="0" rtlCol="0"/>
            <a:lstStyle/>
            <a:p>
              <a:endParaRPr/>
            </a:p>
          </p:txBody>
        </p:sp>
        <p:sp>
          <p:nvSpPr>
            <p:cNvPr id="4" name="object 4"/>
            <p:cNvSpPr/>
            <p:nvPr/>
          </p:nvSpPr>
          <p:spPr>
            <a:xfrm>
              <a:off x="11353800" y="566056"/>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sp>
          <p:nvSpPr>
            <p:cNvPr id="5" name="object 5"/>
            <p:cNvSpPr/>
            <p:nvPr/>
          </p:nvSpPr>
          <p:spPr>
            <a:xfrm>
              <a:off x="11353800" y="653143"/>
              <a:ext cx="304800" cy="0"/>
            </a:xfrm>
            <a:custGeom>
              <a:avLst/>
              <a:gdLst/>
              <a:ahLst/>
              <a:cxnLst/>
              <a:rect l="l" t="t" r="r" b="b"/>
              <a:pathLst>
                <a:path w="304800">
                  <a:moveTo>
                    <a:pt x="0" y="0"/>
                  </a:moveTo>
                  <a:lnTo>
                    <a:pt x="304800" y="0"/>
                  </a:lnTo>
                </a:path>
              </a:pathLst>
            </a:custGeom>
            <a:ln w="19050">
              <a:solidFill>
                <a:srgbClr val="262626"/>
              </a:solidFill>
            </a:ln>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600595" rIns="0" bIns="0" rtlCol="0">
            <a:spAutoFit/>
          </a:bodyPr>
          <a:lstStyle/>
          <a:p>
            <a:pPr marL="346075">
              <a:lnSpc>
                <a:spcPct val="100000"/>
              </a:lnSpc>
              <a:spcBef>
                <a:spcPts val="100"/>
              </a:spcBef>
            </a:pPr>
            <a:r>
              <a:rPr dirty="0"/>
              <a:t>Future</a:t>
            </a:r>
            <a:r>
              <a:rPr spc="-105" dirty="0"/>
              <a:t> </a:t>
            </a:r>
            <a:r>
              <a:rPr spc="-10" dirty="0"/>
              <a:t>Scope</a:t>
            </a:r>
          </a:p>
        </p:txBody>
      </p:sp>
      <p:grpSp>
        <p:nvGrpSpPr>
          <p:cNvPr id="7" name="object 7"/>
          <p:cNvGrpSpPr/>
          <p:nvPr/>
        </p:nvGrpSpPr>
        <p:grpSpPr>
          <a:xfrm>
            <a:off x="1306357" y="1239960"/>
            <a:ext cx="8128000" cy="5080000"/>
            <a:chOff x="1492986" y="1168262"/>
            <a:chExt cx="8128000" cy="5080000"/>
          </a:xfrm>
        </p:grpSpPr>
        <p:sp>
          <p:nvSpPr>
            <p:cNvPr id="8" name="object 8"/>
            <p:cNvSpPr/>
            <p:nvPr/>
          </p:nvSpPr>
          <p:spPr>
            <a:xfrm>
              <a:off x="1492986" y="1180961"/>
              <a:ext cx="8128000" cy="5067300"/>
            </a:xfrm>
            <a:custGeom>
              <a:avLst/>
              <a:gdLst/>
              <a:ahLst/>
              <a:cxnLst/>
              <a:rect l="l" t="t" r="r" b="b"/>
              <a:pathLst>
                <a:path w="8128000" h="5067300">
                  <a:moveTo>
                    <a:pt x="6786452" y="0"/>
                  </a:moveTo>
                  <a:lnTo>
                    <a:pt x="6858000" y="635000"/>
                  </a:lnTo>
                  <a:lnTo>
                    <a:pt x="6795240" y="635000"/>
                  </a:lnTo>
                  <a:lnTo>
                    <a:pt x="6424371" y="711200"/>
                  </a:lnTo>
                  <a:lnTo>
                    <a:pt x="6363507" y="736600"/>
                  </a:lnTo>
                  <a:lnTo>
                    <a:pt x="5827930" y="850900"/>
                  </a:lnTo>
                  <a:lnTo>
                    <a:pt x="5769776" y="876300"/>
                  </a:lnTo>
                  <a:lnTo>
                    <a:pt x="5539870" y="927100"/>
                  </a:lnTo>
                  <a:lnTo>
                    <a:pt x="5483071" y="952500"/>
                  </a:lnTo>
                  <a:lnTo>
                    <a:pt x="5314299" y="990600"/>
                  </a:lnTo>
                  <a:lnTo>
                    <a:pt x="5258583" y="1016000"/>
                  </a:lnTo>
                  <a:lnTo>
                    <a:pt x="5093062" y="1054100"/>
                  </a:lnTo>
                  <a:lnTo>
                    <a:pt x="5038431" y="1079500"/>
                  </a:lnTo>
                  <a:lnTo>
                    <a:pt x="4929980" y="1104900"/>
                  </a:lnTo>
                  <a:lnTo>
                    <a:pt x="4876161" y="1130300"/>
                  </a:lnTo>
                  <a:lnTo>
                    <a:pt x="4822613" y="1143000"/>
                  </a:lnTo>
                  <a:lnTo>
                    <a:pt x="4769336" y="1168400"/>
                  </a:lnTo>
                  <a:lnTo>
                    <a:pt x="4663594" y="1193800"/>
                  </a:lnTo>
                  <a:lnTo>
                    <a:pt x="4611130" y="1219200"/>
                  </a:lnTo>
                  <a:lnTo>
                    <a:pt x="4558937" y="1231900"/>
                  </a:lnTo>
                  <a:lnTo>
                    <a:pt x="4507014" y="1257300"/>
                  </a:lnTo>
                  <a:lnTo>
                    <a:pt x="4455363" y="1270000"/>
                  </a:lnTo>
                  <a:lnTo>
                    <a:pt x="4403982" y="1295400"/>
                  </a:lnTo>
                  <a:lnTo>
                    <a:pt x="4302034" y="1320800"/>
                  </a:lnTo>
                  <a:lnTo>
                    <a:pt x="4251466" y="1346200"/>
                  </a:lnTo>
                  <a:lnTo>
                    <a:pt x="4201169" y="1358900"/>
                  </a:lnTo>
                  <a:lnTo>
                    <a:pt x="4101388" y="1409700"/>
                  </a:lnTo>
                  <a:lnTo>
                    <a:pt x="4051904" y="1422400"/>
                  </a:lnTo>
                  <a:lnTo>
                    <a:pt x="4002691" y="1447800"/>
                  </a:lnTo>
                  <a:lnTo>
                    <a:pt x="3953749" y="1460500"/>
                  </a:lnTo>
                  <a:lnTo>
                    <a:pt x="3905078" y="1485900"/>
                  </a:lnTo>
                  <a:lnTo>
                    <a:pt x="3856677" y="1498600"/>
                  </a:lnTo>
                  <a:lnTo>
                    <a:pt x="3760690" y="1549400"/>
                  </a:lnTo>
                  <a:lnTo>
                    <a:pt x="3713102" y="1562100"/>
                  </a:lnTo>
                  <a:lnTo>
                    <a:pt x="3618740" y="1612900"/>
                  </a:lnTo>
                  <a:lnTo>
                    <a:pt x="3571965" y="1625600"/>
                  </a:lnTo>
                  <a:lnTo>
                    <a:pt x="3479229" y="1676400"/>
                  </a:lnTo>
                  <a:lnTo>
                    <a:pt x="3433267" y="1689100"/>
                  </a:lnTo>
                  <a:lnTo>
                    <a:pt x="3342156" y="1739900"/>
                  </a:lnTo>
                  <a:lnTo>
                    <a:pt x="3297006" y="1752600"/>
                  </a:lnTo>
                  <a:lnTo>
                    <a:pt x="3119119" y="1854200"/>
                  </a:lnTo>
                  <a:lnTo>
                    <a:pt x="3075325" y="1866900"/>
                  </a:lnTo>
                  <a:lnTo>
                    <a:pt x="2902857" y="1968500"/>
                  </a:lnTo>
                  <a:lnTo>
                    <a:pt x="2860417" y="1981200"/>
                  </a:lnTo>
                  <a:lnTo>
                    <a:pt x="2693367" y="2082800"/>
                  </a:lnTo>
                  <a:lnTo>
                    <a:pt x="2530652" y="2184400"/>
                  </a:lnTo>
                  <a:lnTo>
                    <a:pt x="2372272" y="2286000"/>
                  </a:lnTo>
                  <a:lnTo>
                    <a:pt x="2218227" y="2387600"/>
                  </a:lnTo>
                  <a:lnTo>
                    <a:pt x="2068517" y="2489200"/>
                  </a:lnTo>
                  <a:lnTo>
                    <a:pt x="1959080" y="2565400"/>
                  </a:lnTo>
                  <a:lnTo>
                    <a:pt x="1923142" y="2603500"/>
                  </a:lnTo>
                  <a:lnTo>
                    <a:pt x="1887476" y="2628900"/>
                  </a:lnTo>
                  <a:lnTo>
                    <a:pt x="1782102" y="2705100"/>
                  </a:lnTo>
                  <a:lnTo>
                    <a:pt x="1747519" y="2743200"/>
                  </a:lnTo>
                  <a:lnTo>
                    <a:pt x="1713208" y="2768600"/>
                  </a:lnTo>
                  <a:lnTo>
                    <a:pt x="1611898" y="2844800"/>
                  </a:lnTo>
                  <a:lnTo>
                    <a:pt x="1578670" y="2882900"/>
                  </a:lnTo>
                  <a:lnTo>
                    <a:pt x="1513027" y="2933700"/>
                  </a:lnTo>
                  <a:lnTo>
                    <a:pt x="1480611" y="2971800"/>
                  </a:lnTo>
                  <a:lnTo>
                    <a:pt x="1416594" y="3022600"/>
                  </a:lnTo>
                  <a:lnTo>
                    <a:pt x="1384991" y="3060700"/>
                  </a:lnTo>
                  <a:lnTo>
                    <a:pt x="1322599" y="3111500"/>
                  </a:lnTo>
                  <a:lnTo>
                    <a:pt x="1291810" y="3149600"/>
                  </a:lnTo>
                  <a:lnTo>
                    <a:pt x="1231043" y="3200400"/>
                  </a:lnTo>
                  <a:lnTo>
                    <a:pt x="1201066" y="3238500"/>
                  </a:lnTo>
                  <a:lnTo>
                    <a:pt x="1171360" y="3263900"/>
                  </a:lnTo>
                  <a:lnTo>
                    <a:pt x="1141925" y="3302000"/>
                  </a:lnTo>
                  <a:lnTo>
                    <a:pt x="1112761" y="3327400"/>
                  </a:lnTo>
                  <a:lnTo>
                    <a:pt x="1083868" y="3365500"/>
                  </a:lnTo>
                  <a:lnTo>
                    <a:pt x="1026895" y="3416300"/>
                  </a:lnTo>
                  <a:lnTo>
                    <a:pt x="998815" y="3454400"/>
                  </a:lnTo>
                  <a:lnTo>
                    <a:pt x="971005" y="3479800"/>
                  </a:lnTo>
                  <a:lnTo>
                    <a:pt x="943467" y="3517900"/>
                  </a:lnTo>
                  <a:lnTo>
                    <a:pt x="916199" y="3556000"/>
                  </a:lnTo>
                  <a:lnTo>
                    <a:pt x="889203" y="3581400"/>
                  </a:lnTo>
                  <a:lnTo>
                    <a:pt x="862477" y="3619500"/>
                  </a:lnTo>
                  <a:lnTo>
                    <a:pt x="836022" y="3644900"/>
                  </a:lnTo>
                  <a:lnTo>
                    <a:pt x="809839" y="3683000"/>
                  </a:lnTo>
                  <a:lnTo>
                    <a:pt x="783926" y="3708400"/>
                  </a:lnTo>
                  <a:lnTo>
                    <a:pt x="758284" y="3746500"/>
                  </a:lnTo>
                  <a:lnTo>
                    <a:pt x="732913" y="3784600"/>
                  </a:lnTo>
                  <a:lnTo>
                    <a:pt x="707813" y="3810000"/>
                  </a:lnTo>
                  <a:lnTo>
                    <a:pt x="682984" y="3848100"/>
                  </a:lnTo>
                  <a:lnTo>
                    <a:pt x="658425" y="3873500"/>
                  </a:lnTo>
                  <a:lnTo>
                    <a:pt x="634138" y="3911600"/>
                  </a:lnTo>
                  <a:lnTo>
                    <a:pt x="610122" y="3949700"/>
                  </a:lnTo>
                  <a:lnTo>
                    <a:pt x="586377" y="3975100"/>
                  </a:lnTo>
                  <a:lnTo>
                    <a:pt x="562902" y="4013200"/>
                  </a:lnTo>
                  <a:lnTo>
                    <a:pt x="539699" y="4051300"/>
                  </a:lnTo>
                  <a:lnTo>
                    <a:pt x="516766" y="4089400"/>
                  </a:lnTo>
                  <a:lnTo>
                    <a:pt x="494104" y="4114800"/>
                  </a:lnTo>
                  <a:lnTo>
                    <a:pt x="471714" y="4152900"/>
                  </a:lnTo>
                  <a:lnTo>
                    <a:pt x="449594" y="4191000"/>
                  </a:lnTo>
                  <a:lnTo>
                    <a:pt x="427745" y="4229100"/>
                  </a:lnTo>
                  <a:lnTo>
                    <a:pt x="406167" y="4254500"/>
                  </a:lnTo>
                  <a:lnTo>
                    <a:pt x="384860" y="4292600"/>
                  </a:lnTo>
                  <a:lnTo>
                    <a:pt x="363824" y="4330700"/>
                  </a:lnTo>
                  <a:lnTo>
                    <a:pt x="343059" y="4368800"/>
                  </a:lnTo>
                  <a:lnTo>
                    <a:pt x="322565" y="4406900"/>
                  </a:lnTo>
                  <a:lnTo>
                    <a:pt x="302342" y="4432300"/>
                  </a:lnTo>
                  <a:lnTo>
                    <a:pt x="282389" y="4470400"/>
                  </a:lnTo>
                  <a:lnTo>
                    <a:pt x="262708" y="4508500"/>
                  </a:lnTo>
                  <a:lnTo>
                    <a:pt x="243298" y="4546600"/>
                  </a:lnTo>
                  <a:lnTo>
                    <a:pt x="224158" y="4584700"/>
                  </a:lnTo>
                  <a:lnTo>
                    <a:pt x="205290" y="4622800"/>
                  </a:lnTo>
                  <a:lnTo>
                    <a:pt x="186692" y="4660900"/>
                  </a:lnTo>
                  <a:lnTo>
                    <a:pt x="168365" y="4699000"/>
                  </a:lnTo>
                  <a:lnTo>
                    <a:pt x="150309" y="4737100"/>
                  </a:lnTo>
                  <a:lnTo>
                    <a:pt x="132525" y="4775200"/>
                  </a:lnTo>
                  <a:lnTo>
                    <a:pt x="115011" y="4800600"/>
                  </a:lnTo>
                  <a:lnTo>
                    <a:pt x="97768" y="4838700"/>
                  </a:lnTo>
                  <a:lnTo>
                    <a:pt x="80796" y="4876800"/>
                  </a:lnTo>
                  <a:lnTo>
                    <a:pt x="64095" y="4914900"/>
                  </a:lnTo>
                  <a:lnTo>
                    <a:pt x="47664" y="4953000"/>
                  </a:lnTo>
                  <a:lnTo>
                    <a:pt x="31505" y="4991100"/>
                  </a:lnTo>
                  <a:lnTo>
                    <a:pt x="15617" y="5029200"/>
                  </a:lnTo>
                  <a:lnTo>
                    <a:pt x="0" y="5067300"/>
                  </a:lnTo>
                  <a:lnTo>
                    <a:pt x="25355" y="5041900"/>
                  </a:lnTo>
                  <a:lnTo>
                    <a:pt x="50937" y="5003800"/>
                  </a:lnTo>
                  <a:lnTo>
                    <a:pt x="76746" y="4965700"/>
                  </a:lnTo>
                  <a:lnTo>
                    <a:pt x="102781" y="4940300"/>
                  </a:lnTo>
                  <a:lnTo>
                    <a:pt x="129043" y="4902200"/>
                  </a:lnTo>
                  <a:lnTo>
                    <a:pt x="155532" y="4876800"/>
                  </a:lnTo>
                  <a:lnTo>
                    <a:pt x="182247" y="4838700"/>
                  </a:lnTo>
                  <a:lnTo>
                    <a:pt x="209189" y="4800600"/>
                  </a:lnTo>
                  <a:lnTo>
                    <a:pt x="236358" y="4775200"/>
                  </a:lnTo>
                  <a:lnTo>
                    <a:pt x="263753" y="4737100"/>
                  </a:lnTo>
                  <a:lnTo>
                    <a:pt x="291374" y="4711700"/>
                  </a:lnTo>
                  <a:lnTo>
                    <a:pt x="319223" y="4673600"/>
                  </a:lnTo>
                  <a:lnTo>
                    <a:pt x="347298" y="4648200"/>
                  </a:lnTo>
                  <a:lnTo>
                    <a:pt x="375599" y="4610100"/>
                  </a:lnTo>
                  <a:lnTo>
                    <a:pt x="404127" y="4584700"/>
                  </a:lnTo>
                  <a:lnTo>
                    <a:pt x="432882" y="4546600"/>
                  </a:lnTo>
                  <a:lnTo>
                    <a:pt x="461864" y="4521200"/>
                  </a:lnTo>
                  <a:lnTo>
                    <a:pt x="491072" y="4483100"/>
                  </a:lnTo>
                  <a:lnTo>
                    <a:pt x="520506" y="4457700"/>
                  </a:lnTo>
                  <a:lnTo>
                    <a:pt x="550168" y="4419600"/>
                  </a:lnTo>
                  <a:lnTo>
                    <a:pt x="610170" y="4368800"/>
                  </a:lnTo>
                  <a:lnTo>
                    <a:pt x="640511" y="4330700"/>
                  </a:lnTo>
                  <a:lnTo>
                    <a:pt x="701874" y="4279900"/>
                  </a:lnTo>
                  <a:lnTo>
                    <a:pt x="732895" y="4241800"/>
                  </a:lnTo>
                  <a:lnTo>
                    <a:pt x="795616" y="4191000"/>
                  </a:lnTo>
                  <a:lnTo>
                    <a:pt x="827317" y="4152900"/>
                  </a:lnTo>
                  <a:lnTo>
                    <a:pt x="923780" y="4076700"/>
                  </a:lnTo>
                  <a:lnTo>
                    <a:pt x="956387" y="4038600"/>
                  </a:lnTo>
                  <a:lnTo>
                    <a:pt x="1055569" y="3962400"/>
                  </a:lnTo>
                  <a:lnTo>
                    <a:pt x="1089082" y="3937000"/>
                  </a:lnTo>
                  <a:lnTo>
                    <a:pt x="1122823" y="3898900"/>
                  </a:lnTo>
                  <a:lnTo>
                    <a:pt x="1260051" y="3797300"/>
                  </a:lnTo>
                  <a:lnTo>
                    <a:pt x="1400905" y="3695700"/>
                  </a:lnTo>
                  <a:lnTo>
                    <a:pt x="1545385" y="3594100"/>
                  </a:lnTo>
                  <a:lnTo>
                    <a:pt x="1693490" y="3492500"/>
                  </a:lnTo>
                  <a:lnTo>
                    <a:pt x="1883721" y="3365500"/>
                  </a:lnTo>
                  <a:lnTo>
                    <a:pt x="1922447" y="3340100"/>
                  </a:lnTo>
                  <a:lnTo>
                    <a:pt x="1961400" y="3327400"/>
                  </a:lnTo>
                  <a:lnTo>
                    <a:pt x="2119477" y="3225800"/>
                  </a:lnTo>
                  <a:lnTo>
                    <a:pt x="2159563" y="3213100"/>
                  </a:lnTo>
                  <a:lnTo>
                    <a:pt x="2281180" y="3136900"/>
                  </a:lnTo>
                  <a:lnTo>
                    <a:pt x="2322172" y="3124200"/>
                  </a:lnTo>
                  <a:lnTo>
                    <a:pt x="2404836" y="3073400"/>
                  </a:lnTo>
                  <a:lnTo>
                    <a:pt x="2446508" y="3060700"/>
                  </a:lnTo>
                  <a:lnTo>
                    <a:pt x="2530532" y="3009900"/>
                  </a:lnTo>
                  <a:lnTo>
                    <a:pt x="2572884" y="2997200"/>
                  </a:lnTo>
                  <a:lnTo>
                    <a:pt x="2615463" y="2971800"/>
                  </a:lnTo>
                  <a:lnTo>
                    <a:pt x="2658268" y="2959100"/>
                  </a:lnTo>
                  <a:lnTo>
                    <a:pt x="2744558" y="2908300"/>
                  </a:lnTo>
                  <a:lnTo>
                    <a:pt x="2788044" y="2895600"/>
                  </a:lnTo>
                  <a:lnTo>
                    <a:pt x="2831755" y="2870200"/>
                  </a:lnTo>
                  <a:lnTo>
                    <a:pt x="2875694" y="2857500"/>
                  </a:lnTo>
                  <a:lnTo>
                    <a:pt x="2919858" y="2832100"/>
                  </a:lnTo>
                  <a:lnTo>
                    <a:pt x="2964250" y="2819400"/>
                  </a:lnTo>
                  <a:lnTo>
                    <a:pt x="3008868" y="2794000"/>
                  </a:lnTo>
                  <a:lnTo>
                    <a:pt x="3053713" y="2781300"/>
                  </a:lnTo>
                  <a:lnTo>
                    <a:pt x="3098784" y="2755900"/>
                  </a:lnTo>
                  <a:lnTo>
                    <a:pt x="3189607" y="2730500"/>
                  </a:lnTo>
                  <a:lnTo>
                    <a:pt x="3235358" y="2705100"/>
                  </a:lnTo>
                  <a:lnTo>
                    <a:pt x="3281336" y="2692400"/>
                  </a:lnTo>
                  <a:lnTo>
                    <a:pt x="3327541" y="2667000"/>
                  </a:lnTo>
                  <a:lnTo>
                    <a:pt x="3420629" y="2641600"/>
                  </a:lnTo>
                  <a:lnTo>
                    <a:pt x="3467514" y="2616200"/>
                  </a:lnTo>
                  <a:lnTo>
                    <a:pt x="3561962" y="2590800"/>
                  </a:lnTo>
                  <a:lnTo>
                    <a:pt x="3609527" y="2565400"/>
                  </a:lnTo>
                  <a:lnTo>
                    <a:pt x="3753579" y="2527300"/>
                  </a:lnTo>
                  <a:lnTo>
                    <a:pt x="3802050" y="2501900"/>
                  </a:lnTo>
                  <a:lnTo>
                    <a:pt x="3948821" y="2463800"/>
                  </a:lnTo>
                  <a:lnTo>
                    <a:pt x="3998198" y="2438400"/>
                  </a:lnTo>
                  <a:lnTo>
                    <a:pt x="4401374" y="2336800"/>
                  </a:lnTo>
                  <a:lnTo>
                    <a:pt x="4452791" y="2311400"/>
                  </a:lnTo>
                  <a:lnTo>
                    <a:pt x="4819053" y="2222500"/>
                  </a:lnTo>
                  <a:lnTo>
                    <a:pt x="4872283" y="2222500"/>
                  </a:lnTo>
                  <a:lnTo>
                    <a:pt x="5306279" y="2120900"/>
                  </a:lnTo>
                  <a:lnTo>
                    <a:pt x="5361548" y="2120900"/>
                  </a:lnTo>
                  <a:lnTo>
                    <a:pt x="5528715" y="2082800"/>
                  </a:lnTo>
                  <a:lnTo>
                    <a:pt x="5584891" y="2082800"/>
                  </a:lnTo>
                  <a:lnTo>
                    <a:pt x="5754778" y="2044700"/>
                  </a:lnTo>
                  <a:lnTo>
                    <a:pt x="5811860" y="2044700"/>
                  </a:lnTo>
                  <a:lnTo>
                    <a:pt x="5926704" y="2019300"/>
                  </a:lnTo>
                  <a:lnTo>
                    <a:pt x="5984466" y="2019300"/>
                  </a:lnTo>
                  <a:lnTo>
                    <a:pt x="6100670" y="1993900"/>
                  </a:lnTo>
                  <a:lnTo>
                    <a:pt x="6159112" y="1993900"/>
                  </a:lnTo>
                  <a:lnTo>
                    <a:pt x="6276676" y="1968500"/>
                  </a:lnTo>
                  <a:lnTo>
                    <a:pt x="6335798" y="1968500"/>
                  </a:lnTo>
                  <a:lnTo>
                    <a:pt x="6395146" y="1955800"/>
                  </a:lnTo>
                  <a:lnTo>
                    <a:pt x="6454721" y="1955800"/>
                  </a:lnTo>
                  <a:lnTo>
                    <a:pt x="6514523" y="1943100"/>
                  </a:lnTo>
                  <a:lnTo>
                    <a:pt x="6574551" y="1943100"/>
                  </a:lnTo>
                  <a:lnTo>
                    <a:pt x="6634806" y="1930400"/>
                  </a:lnTo>
                  <a:lnTo>
                    <a:pt x="6695287" y="1930400"/>
                  </a:lnTo>
                  <a:lnTo>
                    <a:pt x="6755996" y="1917700"/>
                  </a:lnTo>
                  <a:lnTo>
                    <a:pt x="6816930" y="1917700"/>
                  </a:lnTo>
                  <a:lnTo>
                    <a:pt x="6878092" y="1905000"/>
                  </a:lnTo>
                  <a:lnTo>
                    <a:pt x="7512374" y="1905000"/>
                  </a:lnTo>
                  <a:lnTo>
                    <a:pt x="8128000" y="1016000"/>
                  </a:lnTo>
                  <a:lnTo>
                    <a:pt x="6786452" y="0"/>
                  </a:lnTo>
                  <a:close/>
                </a:path>
                <a:path w="8128000" h="5067300">
                  <a:moveTo>
                    <a:pt x="7512374" y="1905000"/>
                  </a:moveTo>
                  <a:lnTo>
                    <a:pt x="7001094" y="1905000"/>
                  </a:lnTo>
                  <a:lnTo>
                    <a:pt x="7072641" y="2540000"/>
                  </a:lnTo>
                  <a:lnTo>
                    <a:pt x="7512374" y="1905000"/>
                  </a:lnTo>
                  <a:close/>
                </a:path>
              </a:pathLst>
            </a:custGeom>
            <a:solidFill>
              <a:srgbClr val="00B0F0"/>
            </a:solidFill>
          </p:spPr>
          <p:txBody>
            <a:bodyPr wrap="square" lIns="0" tIns="0" rIns="0" bIns="0" rtlCol="0"/>
            <a:lstStyle/>
            <a:p>
              <a:endParaRPr/>
            </a:p>
          </p:txBody>
        </p:sp>
        <p:sp>
          <p:nvSpPr>
            <p:cNvPr id="9" name="object 9"/>
            <p:cNvSpPr/>
            <p:nvPr/>
          </p:nvSpPr>
          <p:spPr>
            <a:xfrm>
              <a:off x="1492986" y="1168262"/>
              <a:ext cx="8128000" cy="5080000"/>
            </a:xfrm>
            <a:custGeom>
              <a:avLst/>
              <a:gdLst/>
              <a:ahLst/>
              <a:cxnLst/>
              <a:rect l="l" t="t" r="r" b="b"/>
              <a:pathLst>
                <a:path w="8128000" h="5080000">
                  <a:moveTo>
                    <a:pt x="0" y="5079998"/>
                  </a:moveTo>
                  <a:lnTo>
                    <a:pt x="15617" y="5041370"/>
                  </a:lnTo>
                  <a:lnTo>
                    <a:pt x="31505" y="5002893"/>
                  </a:lnTo>
                  <a:lnTo>
                    <a:pt x="47664" y="4964568"/>
                  </a:lnTo>
                  <a:lnTo>
                    <a:pt x="64095" y="4926396"/>
                  </a:lnTo>
                  <a:lnTo>
                    <a:pt x="80796" y="4888375"/>
                  </a:lnTo>
                  <a:lnTo>
                    <a:pt x="97768" y="4850507"/>
                  </a:lnTo>
                  <a:lnTo>
                    <a:pt x="115011" y="4812790"/>
                  </a:lnTo>
                  <a:lnTo>
                    <a:pt x="132525" y="4775226"/>
                  </a:lnTo>
                  <a:lnTo>
                    <a:pt x="150309" y="4737814"/>
                  </a:lnTo>
                  <a:lnTo>
                    <a:pt x="168365" y="4700553"/>
                  </a:lnTo>
                  <a:lnTo>
                    <a:pt x="186692" y="4663445"/>
                  </a:lnTo>
                  <a:lnTo>
                    <a:pt x="205290" y="4626489"/>
                  </a:lnTo>
                  <a:lnTo>
                    <a:pt x="224158" y="4589685"/>
                  </a:lnTo>
                  <a:lnTo>
                    <a:pt x="243298" y="4553033"/>
                  </a:lnTo>
                  <a:lnTo>
                    <a:pt x="262708" y="4516533"/>
                  </a:lnTo>
                  <a:lnTo>
                    <a:pt x="282389" y="4480185"/>
                  </a:lnTo>
                  <a:lnTo>
                    <a:pt x="302342" y="4443989"/>
                  </a:lnTo>
                  <a:lnTo>
                    <a:pt x="322565" y="4407946"/>
                  </a:lnTo>
                  <a:lnTo>
                    <a:pt x="343059" y="4372054"/>
                  </a:lnTo>
                  <a:lnTo>
                    <a:pt x="363824" y="4336314"/>
                  </a:lnTo>
                  <a:lnTo>
                    <a:pt x="384860" y="4300727"/>
                  </a:lnTo>
                  <a:lnTo>
                    <a:pt x="406167" y="4265291"/>
                  </a:lnTo>
                  <a:lnTo>
                    <a:pt x="427745" y="4230007"/>
                  </a:lnTo>
                  <a:lnTo>
                    <a:pt x="449594" y="4194876"/>
                  </a:lnTo>
                  <a:lnTo>
                    <a:pt x="471714" y="4159897"/>
                  </a:lnTo>
                  <a:lnTo>
                    <a:pt x="494105" y="4125069"/>
                  </a:lnTo>
                  <a:lnTo>
                    <a:pt x="516766" y="4090394"/>
                  </a:lnTo>
                  <a:lnTo>
                    <a:pt x="539699" y="4055871"/>
                  </a:lnTo>
                  <a:lnTo>
                    <a:pt x="562902" y="4021499"/>
                  </a:lnTo>
                  <a:lnTo>
                    <a:pt x="586377" y="3987280"/>
                  </a:lnTo>
                  <a:lnTo>
                    <a:pt x="610122" y="3953213"/>
                  </a:lnTo>
                  <a:lnTo>
                    <a:pt x="634138" y="3919298"/>
                  </a:lnTo>
                  <a:lnTo>
                    <a:pt x="658426" y="3885535"/>
                  </a:lnTo>
                  <a:lnTo>
                    <a:pt x="682984" y="3851924"/>
                  </a:lnTo>
                  <a:lnTo>
                    <a:pt x="707813" y="3818465"/>
                  </a:lnTo>
                  <a:lnTo>
                    <a:pt x="732913" y="3785159"/>
                  </a:lnTo>
                  <a:lnTo>
                    <a:pt x="758284" y="3752004"/>
                  </a:lnTo>
                  <a:lnTo>
                    <a:pt x="783926" y="3719001"/>
                  </a:lnTo>
                  <a:lnTo>
                    <a:pt x="809839" y="3686150"/>
                  </a:lnTo>
                  <a:lnTo>
                    <a:pt x="836022" y="3653452"/>
                  </a:lnTo>
                  <a:lnTo>
                    <a:pt x="862477" y="3620905"/>
                  </a:lnTo>
                  <a:lnTo>
                    <a:pt x="889203" y="3588511"/>
                  </a:lnTo>
                  <a:lnTo>
                    <a:pt x="916199" y="3556268"/>
                  </a:lnTo>
                  <a:lnTo>
                    <a:pt x="943467" y="3524178"/>
                  </a:lnTo>
                  <a:lnTo>
                    <a:pt x="971005" y="3492240"/>
                  </a:lnTo>
                  <a:lnTo>
                    <a:pt x="998815" y="3460453"/>
                  </a:lnTo>
                  <a:lnTo>
                    <a:pt x="1026895" y="3428819"/>
                  </a:lnTo>
                  <a:lnTo>
                    <a:pt x="1055246" y="3397337"/>
                  </a:lnTo>
                  <a:lnTo>
                    <a:pt x="1083868" y="3366007"/>
                  </a:lnTo>
                  <a:lnTo>
                    <a:pt x="1112761" y="3334829"/>
                  </a:lnTo>
                  <a:lnTo>
                    <a:pt x="1141926" y="3303803"/>
                  </a:lnTo>
                  <a:lnTo>
                    <a:pt x="1171360" y="3272929"/>
                  </a:lnTo>
                  <a:lnTo>
                    <a:pt x="1201066" y="3242207"/>
                  </a:lnTo>
                  <a:lnTo>
                    <a:pt x="1231043" y="3211637"/>
                  </a:lnTo>
                  <a:lnTo>
                    <a:pt x="1261291" y="3181219"/>
                  </a:lnTo>
                  <a:lnTo>
                    <a:pt x="1291810" y="3150953"/>
                  </a:lnTo>
                  <a:lnTo>
                    <a:pt x="1322599" y="3120840"/>
                  </a:lnTo>
                  <a:lnTo>
                    <a:pt x="1353660" y="3090878"/>
                  </a:lnTo>
                  <a:lnTo>
                    <a:pt x="1384991" y="3061069"/>
                  </a:lnTo>
                  <a:lnTo>
                    <a:pt x="1416594" y="3031411"/>
                  </a:lnTo>
                  <a:lnTo>
                    <a:pt x="1448467" y="3001906"/>
                  </a:lnTo>
                  <a:lnTo>
                    <a:pt x="1480612" y="2972552"/>
                  </a:lnTo>
                  <a:lnTo>
                    <a:pt x="1513027" y="2943351"/>
                  </a:lnTo>
                  <a:lnTo>
                    <a:pt x="1545713" y="2914302"/>
                  </a:lnTo>
                  <a:lnTo>
                    <a:pt x="1578670" y="2885404"/>
                  </a:lnTo>
                  <a:lnTo>
                    <a:pt x="1611898" y="2856659"/>
                  </a:lnTo>
                  <a:lnTo>
                    <a:pt x="1645397" y="2828066"/>
                  </a:lnTo>
                  <a:lnTo>
                    <a:pt x="1679167" y="2799625"/>
                  </a:lnTo>
                  <a:lnTo>
                    <a:pt x="1713208" y="2771336"/>
                  </a:lnTo>
                  <a:lnTo>
                    <a:pt x="1747520" y="2743199"/>
                  </a:lnTo>
                  <a:lnTo>
                    <a:pt x="1782102" y="2715214"/>
                  </a:lnTo>
                  <a:lnTo>
                    <a:pt x="1816956" y="2687381"/>
                  </a:lnTo>
                  <a:lnTo>
                    <a:pt x="1852080" y="2659700"/>
                  </a:lnTo>
                  <a:lnTo>
                    <a:pt x="1887476" y="2632172"/>
                  </a:lnTo>
                  <a:lnTo>
                    <a:pt x="1923142" y="2604795"/>
                  </a:lnTo>
                  <a:lnTo>
                    <a:pt x="1959080" y="2577570"/>
                  </a:lnTo>
                  <a:lnTo>
                    <a:pt x="1995288" y="2550498"/>
                  </a:lnTo>
                  <a:lnTo>
                    <a:pt x="2031767" y="2523577"/>
                  </a:lnTo>
                  <a:lnTo>
                    <a:pt x="2068517" y="2496809"/>
                  </a:lnTo>
                  <a:lnTo>
                    <a:pt x="2105539" y="2470192"/>
                  </a:lnTo>
                  <a:lnTo>
                    <a:pt x="2142831" y="2443728"/>
                  </a:lnTo>
                  <a:lnTo>
                    <a:pt x="2180394" y="2417415"/>
                  </a:lnTo>
                  <a:lnTo>
                    <a:pt x="2218228" y="2391255"/>
                  </a:lnTo>
                  <a:lnTo>
                    <a:pt x="2256332" y="2365247"/>
                  </a:lnTo>
                  <a:lnTo>
                    <a:pt x="2294708" y="2339391"/>
                  </a:lnTo>
                  <a:lnTo>
                    <a:pt x="2333355" y="2313687"/>
                  </a:lnTo>
                  <a:lnTo>
                    <a:pt x="2372272" y="2288135"/>
                  </a:lnTo>
                  <a:lnTo>
                    <a:pt x="2411461" y="2262735"/>
                  </a:lnTo>
                  <a:lnTo>
                    <a:pt x="2450921" y="2237487"/>
                  </a:lnTo>
                  <a:lnTo>
                    <a:pt x="2490651" y="2212391"/>
                  </a:lnTo>
                  <a:lnTo>
                    <a:pt x="2530652" y="2187447"/>
                  </a:lnTo>
                  <a:lnTo>
                    <a:pt x="2570925" y="2162655"/>
                  </a:lnTo>
                  <a:lnTo>
                    <a:pt x="2611468" y="2138015"/>
                  </a:lnTo>
                  <a:lnTo>
                    <a:pt x="2652282" y="2113528"/>
                  </a:lnTo>
                  <a:lnTo>
                    <a:pt x="2693367" y="2089192"/>
                  </a:lnTo>
                  <a:lnTo>
                    <a:pt x="2734723" y="2065009"/>
                  </a:lnTo>
                  <a:lnTo>
                    <a:pt x="2776350" y="2040977"/>
                  </a:lnTo>
                  <a:lnTo>
                    <a:pt x="2818248" y="2017098"/>
                  </a:lnTo>
                  <a:lnTo>
                    <a:pt x="2860417" y="1993370"/>
                  </a:lnTo>
                  <a:lnTo>
                    <a:pt x="2902857" y="1969795"/>
                  </a:lnTo>
                  <a:lnTo>
                    <a:pt x="2945567" y="1946372"/>
                  </a:lnTo>
                  <a:lnTo>
                    <a:pt x="2988549" y="1923100"/>
                  </a:lnTo>
                  <a:lnTo>
                    <a:pt x="3031802" y="1899981"/>
                  </a:lnTo>
                  <a:lnTo>
                    <a:pt x="3075325" y="1877014"/>
                  </a:lnTo>
                  <a:lnTo>
                    <a:pt x="3119120" y="1854199"/>
                  </a:lnTo>
                  <a:lnTo>
                    <a:pt x="3163185" y="1831536"/>
                  </a:lnTo>
                  <a:lnTo>
                    <a:pt x="3207521" y="1809025"/>
                  </a:lnTo>
                  <a:lnTo>
                    <a:pt x="3252128" y="1786666"/>
                  </a:lnTo>
                  <a:lnTo>
                    <a:pt x="3297007" y="1764459"/>
                  </a:lnTo>
                  <a:lnTo>
                    <a:pt x="3342156" y="1742404"/>
                  </a:lnTo>
                  <a:lnTo>
                    <a:pt x="3387576" y="1720502"/>
                  </a:lnTo>
                  <a:lnTo>
                    <a:pt x="3433267" y="1698751"/>
                  </a:lnTo>
                  <a:lnTo>
                    <a:pt x="3479229" y="1677152"/>
                  </a:lnTo>
                  <a:lnTo>
                    <a:pt x="3525461" y="1655706"/>
                  </a:lnTo>
                  <a:lnTo>
                    <a:pt x="3571965" y="1634411"/>
                  </a:lnTo>
                  <a:lnTo>
                    <a:pt x="3618740" y="1613269"/>
                  </a:lnTo>
                  <a:lnTo>
                    <a:pt x="3665786" y="1592278"/>
                  </a:lnTo>
                  <a:lnTo>
                    <a:pt x="3713102" y="1571440"/>
                  </a:lnTo>
                  <a:lnTo>
                    <a:pt x="3760690" y="1550754"/>
                  </a:lnTo>
                  <a:lnTo>
                    <a:pt x="3808548" y="1530219"/>
                  </a:lnTo>
                  <a:lnTo>
                    <a:pt x="3856677" y="1509837"/>
                  </a:lnTo>
                  <a:lnTo>
                    <a:pt x="3905078" y="1489607"/>
                  </a:lnTo>
                  <a:lnTo>
                    <a:pt x="3953749" y="1469529"/>
                  </a:lnTo>
                  <a:lnTo>
                    <a:pt x="4002691" y="1449603"/>
                  </a:lnTo>
                  <a:lnTo>
                    <a:pt x="4051904" y="1429829"/>
                  </a:lnTo>
                  <a:lnTo>
                    <a:pt x="4101388" y="1410207"/>
                  </a:lnTo>
                  <a:lnTo>
                    <a:pt x="4151143" y="1390737"/>
                  </a:lnTo>
                  <a:lnTo>
                    <a:pt x="4201169" y="1371419"/>
                  </a:lnTo>
                  <a:lnTo>
                    <a:pt x="4251466" y="1352254"/>
                  </a:lnTo>
                  <a:lnTo>
                    <a:pt x="4302034" y="1333240"/>
                  </a:lnTo>
                  <a:lnTo>
                    <a:pt x="4352872" y="1314378"/>
                  </a:lnTo>
                  <a:lnTo>
                    <a:pt x="4403982" y="1295669"/>
                  </a:lnTo>
                  <a:lnTo>
                    <a:pt x="4455363" y="1277111"/>
                  </a:lnTo>
                  <a:lnTo>
                    <a:pt x="4507014" y="1258706"/>
                  </a:lnTo>
                  <a:lnTo>
                    <a:pt x="4558937" y="1240452"/>
                  </a:lnTo>
                  <a:lnTo>
                    <a:pt x="4611130" y="1222351"/>
                  </a:lnTo>
                  <a:lnTo>
                    <a:pt x="4663594" y="1204402"/>
                  </a:lnTo>
                  <a:lnTo>
                    <a:pt x="4716330" y="1186604"/>
                  </a:lnTo>
                  <a:lnTo>
                    <a:pt x="4769336" y="1168959"/>
                  </a:lnTo>
                  <a:lnTo>
                    <a:pt x="4822613" y="1151466"/>
                  </a:lnTo>
                  <a:lnTo>
                    <a:pt x="4876161" y="1134125"/>
                  </a:lnTo>
                  <a:lnTo>
                    <a:pt x="4929980" y="1116936"/>
                  </a:lnTo>
                  <a:lnTo>
                    <a:pt x="4984070" y="1099899"/>
                  </a:lnTo>
                  <a:lnTo>
                    <a:pt x="5038431" y="1083014"/>
                  </a:lnTo>
                  <a:lnTo>
                    <a:pt x="5093062" y="1066281"/>
                  </a:lnTo>
                  <a:lnTo>
                    <a:pt x="5147965" y="1049700"/>
                  </a:lnTo>
                  <a:lnTo>
                    <a:pt x="5203139" y="1033271"/>
                  </a:lnTo>
                  <a:lnTo>
                    <a:pt x="5258583" y="1016995"/>
                  </a:lnTo>
                  <a:lnTo>
                    <a:pt x="5314299" y="1000870"/>
                  </a:lnTo>
                  <a:lnTo>
                    <a:pt x="5370285" y="984897"/>
                  </a:lnTo>
                  <a:lnTo>
                    <a:pt x="5426543" y="969077"/>
                  </a:lnTo>
                  <a:lnTo>
                    <a:pt x="5483071" y="953408"/>
                  </a:lnTo>
                  <a:lnTo>
                    <a:pt x="5539870" y="937892"/>
                  </a:lnTo>
                  <a:lnTo>
                    <a:pt x="5596940" y="922527"/>
                  </a:lnTo>
                  <a:lnTo>
                    <a:pt x="5654281" y="907315"/>
                  </a:lnTo>
                  <a:lnTo>
                    <a:pt x="5711893" y="892255"/>
                  </a:lnTo>
                  <a:lnTo>
                    <a:pt x="5769776" y="877346"/>
                  </a:lnTo>
                  <a:lnTo>
                    <a:pt x="5827930" y="862590"/>
                  </a:lnTo>
                  <a:lnTo>
                    <a:pt x="5886355" y="847986"/>
                  </a:lnTo>
                  <a:lnTo>
                    <a:pt x="5945051" y="833534"/>
                  </a:lnTo>
                  <a:lnTo>
                    <a:pt x="6004018" y="819234"/>
                  </a:lnTo>
                  <a:lnTo>
                    <a:pt x="6063255" y="805086"/>
                  </a:lnTo>
                  <a:lnTo>
                    <a:pt x="6122764" y="791090"/>
                  </a:lnTo>
                  <a:lnTo>
                    <a:pt x="6182543" y="777246"/>
                  </a:lnTo>
                  <a:lnTo>
                    <a:pt x="6242594" y="763554"/>
                  </a:lnTo>
                  <a:lnTo>
                    <a:pt x="6302915" y="750015"/>
                  </a:lnTo>
                  <a:lnTo>
                    <a:pt x="6363507" y="736627"/>
                  </a:lnTo>
                  <a:lnTo>
                    <a:pt x="6424371" y="723391"/>
                  </a:lnTo>
                  <a:lnTo>
                    <a:pt x="6485505" y="710308"/>
                  </a:lnTo>
                  <a:lnTo>
                    <a:pt x="6546910" y="697376"/>
                  </a:lnTo>
                  <a:lnTo>
                    <a:pt x="6608586" y="684597"/>
                  </a:lnTo>
                  <a:lnTo>
                    <a:pt x="6670533" y="671969"/>
                  </a:lnTo>
                  <a:lnTo>
                    <a:pt x="6732751" y="659494"/>
                  </a:lnTo>
                  <a:lnTo>
                    <a:pt x="6795240" y="647171"/>
                  </a:lnTo>
                  <a:lnTo>
                    <a:pt x="6858000" y="635000"/>
                  </a:lnTo>
                  <a:lnTo>
                    <a:pt x="6786453" y="0"/>
                  </a:lnTo>
                  <a:lnTo>
                    <a:pt x="8128000" y="1015999"/>
                  </a:lnTo>
                  <a:lnTo>
                    <a:pt x="7072641" y="2540000"/>
                  </a:lnTo>
                  <a:lnTo>
                    <a:pt x="7001094" y="1905000"/>
                  </a:lnTo>
                  <a:lnTo>
                    <a:pt x="6939480" y="1910348"/>
                  </a:lnTo>
                  <a:lnTo>
                    <a:pt x="6878092" y="1915876"/>
                  </a:lnTo>
                  <a:lnTo>
                    <a:pt x="6816930" y="1921584"/>
                  </a:lnTo>
                  <a:lnTo>
                    <a:pt x="6755996" y="1927472"/>
                  </a:lnTo>
                  <a:lnTo>
                    <a:pt x="6695288" y="1933539"/>
                  </a:lnTo>
                  <a:lnTo>
                    <a:pt x="6634806" y="1939786"/>
                  </a:lnTo>
                  <a:lnTo>
                    <a:pt x="6574551" y="1946212"/>
                  </a:lnTo>
                  <a:lnTo>
                    <a:pt x="6514523" y="1952819"/>
                  </a:lnTo>
                  <a:lnTo>
                    <a:pt x="6454721" y="1959604"/>
                  </a:lnTo>
                  <a:lnTo>
                    <a:pt x="6395146" y="1966570"/>
                  </a:lnTo>
                  <a:lnTo>
                    <a:pt x="6335798" y="1973715"/>
                  </a:lnTo>
                  <a:lnTo>
                    <a:pt x="6276676" y="1981040"/>
                  </a:lnTo>
                  <a:lnTo>
                    <a:pt x="6217781" y="1988544"/>
                  </a:lnTo>
                  <a:lnTo>
                    <a:pt x="6159113" y="1996228"/>
                  </a:lnTo>
                  <a:lnTo>
                    <a:pt x="6100671" y="2004092"/>
                  </a:lnTo>
                  <a:lnTo>
                    <a:pt x="6042455" y="2012135"/>
                  </a:lnTo>
                  <a:lnTo>
                    <a:pt x="5984467" y="2020358"/>
                  </a:lnTo>
                  <a:lnTo>
                    <a:pt x="5926705" y="2028761"/>
                  </a:lnTo>
                  <a:lnTo>
                    <a:pt x="5869169" y="2037343"/>
                  </a:lnTo>
                  <a:lnTo>
                    <a:pt x="5811861" y="2046105"/>
                  </a:lnTo>
                  <a:lnTo>
                    <a:pt x="5754778" y="2055047"/>
                  </a:lnTo>
                  <a:lnTo>
                    <a:pt x="5697923" y="2064168"/>
                  </a:lnTo>
                  <a:lnTo>
                    <a:pt x="5641294" y="2073469"/>
                  </a:lnTo>
                  <a:lnTo>
                    <a:pt x="5584892" y="2082949"/>
                  </a:lnTo>
                  <a:lnTo>
                    <a:pt x="5528716" y="2092609"/>
                  </a:lnTo>
                  <a:lnTo>
                    <a:pt x="5472767" y="2102449"/>
                  </a:lnTo>
                  <a:lnTo>
                    <a:pt x="5417044" y="2112469"/>
                  </a:lnTo>
                  <a:lnTo>
                    <a:pt x="5361548" y="2122668"/>
                  </a:lnTo>
                  <a:lnTo>
                    <a:pt x="5306279" y="2133047"/>
                  </a:lnTo>
                  <a:lnTo>
                    <a:pt x="5251237" y="2143605"/>
                  </a:lnTo>
                  <a:lnTo>
                    <a:pt x="5196421" y="2154343"/>
                  </a:lnTo>
                  <a:lnTo>
                    <a:pt x="5141831" y="2165261"/>
                  </a:lnTo>
                  <a:lnTo>
                    <a:pt x="5087468" y="2176358"/>
                  </a:lnTo>
                  <a:lnTo>
                    <a:pt x="5033332" y="2187635"/>
                  </a:lnTo>
                  <a:lnTo>
                    <a:pt x="4979423" y="2199092"/>
                  </a:lnTo>
                  <a:lnTo>
                    <a:pt x="4925740" y="2210728"/>
                  </a:lnTo>
                  <a:lnTo>
                    <a:pt x="4872284" y="2222544"/>
                  </a:lnTo>
                  <a:lnTo>
                    <a:pt x="4819054" y="2234540"/>
                  </a:lnTo>
                  <a:lnTo>
                    <a:pt x="4766051" y="2246715"/>
                  </a:lnTo>
                  <a:lnTo>
                    <a:pt x="4713274" y="2259070"/>
                  </a:lnTo>
                  <a:lnTo>
                    <a:pt x="4660725" y="2271605"/>
                  </a:lnTo>
                  <a:lnTo>
                    <a:pt x="4608401" y="2284319"/>
                  </a:lnTo>
                  <a:lnTo>
                    <a:pt x="4556305" y="2297213"/>
                  </a:lnTo>
                  <a:lnTo>
                    <a:pt x="4504435" y="2310286"/>
                  </a:lnTo>
                  <a:lnTo>
                    <a:pt x="4452792" y="2323539"/>
                  </a:lnTo>
                  <a:lnTo>
                    <a:pt x="4401375" y="2336972"/>
                  </a:lnTo>
                  <a:lnTo>
                    <a:pt x="4350185" y="2350584"/>
                  </a:lnTo>
                  <a:lnTo>
                    <a:pt x="4299221" y="2364377"/>
                  </a:lnTo>
                  <a:lnTo>
                    <a:pt x="4248484" y="2378348"/>
                  </a:lnTo>
                  <a:lnTo>
                    <a:pt x="4197974" y="2392500"/>
                  </a:lnTo>
                  <a:lnTo>
                    <a:pt x="4147690" y="2406831"/>
                  </a:lnTo>
                  <a:lnTo>
                    <a:pt x="4097633" y="2421341"/>
                  </a:lnTo>
                  <a:lnTo>
                    <a:pt x="4047803" y="2436032"/>
                  </a:lnTo>
                  <a:lnTo>
                    <a:pt x="3998199" y="2450902"/>
                  </a:lnTo>
                  <a:lnTo>
                    <a:pt x="3948822" y="2465951"/>
                  </a:lnTo>
                  <a:lnTo>
                    <a:pt x="3899672" y="2481181"/>
                  </a:lnTo>
                  <a:lnTo>
                    <a:pt x="3850748" y="2496590"/>
                  </a:lnTo>
                  <a:lnTo>
                    <a:pt x="3802050" y="2512178"/>
                  </a:lnTo>
                  <a:lnTo>
                    <a:pt x="3753580" y="2527946"/>
                  </a:lnTo>
                  <a:lnTo>
                    <a:pt x="3705336" y="2543894"/>
                  </a:lnTo>
                  <a:lnTo>
                    <a:pt x="3657318" y="2560022"/>
                  </a:lnTo>
                  <a:lnTo>
                    <a:pt x="3609527" y="2576329"/>
                  </a:lnTo>
                  <a:lnTo>
                    <a:pt x="3561963" y="2592816"/>
                  </a:lnTo>
                  <a:lnTo>
                    <a:pt x="3514626" y="2609482"/>
                  </a:lnTo>
                  <a:lnTo>
                    <a:pt x="3467515" y="2626328"/>
                  </a:lnTo>
                  <a:lnTo>
                    <a:pt x="3420630" y="2643354"/>
                  </a:lnTo>
                  <a:lnTo>
                    <a:pt x="3373973" y="2660559"/>
                  </a:lnTo>
                  <a:lnTo>
                    <a:pt x="3327542" y="2677945"/>
                  </a:lnTo>
                  <a:lnTo>
                    <a:pt x="3281337" y="2695509"/>
                  </a:lnTo>
                  <a:lnTo>
                    <a:pt x="3235359" y="2713254"/>
                  </a:lnTo>
                  <a:lnTo>
                    <a:pt x="3189608" y="2731178"/>
                  </a:lnTo>
                  <a:lnTo>
                    <a:pt x="3144083" y="2749281"/>
                  </a:lnTo>
                  <a:lnTo>
                    <a:pt x="3098785" y="2767565"/>
                  </a:lnTo>
                  <a:lnTo>
                    <a:pt x="3053714" y="2786028"/>
                  </a:lnTo>
                  <a:lnTo>
                    <a:pt x="3008869" y="2804670"/>
                  </a:lnTo>
                  <a:lnTo>
                    <a:pt x="2964251" y="2823492"/>
                  </a:lnTo>
                  <a:lnTo>
                    <a:pt x="2919859" y="2842494"/>
                  </a:lnTo>
                  <a:lnTo>
                    <a:pt x="2875694" y="2861676"/>
                  </a:lnTo>
                  <a:lnTo>
                    <a:pt x="2831756" y="2881037"/>
                  </a:lnTo>
                  <a:lnTo>
                    <a:pt x="2788045" y="2900578"/>
                  </a:lnTo>
                  <a:lnTo>
                    <a:pt x="2744559" y="2920298"/>
                  </a:lnTo>
                  <a:lnTo>
                    <a:pt x="2701301" y="2940198"/>
                  </a:lnTo>
                  <a:lnTo>
                    <a:pt x="2658269" y="2960278"/>
                  </a:lnTo>
                  <a:lnTo>
                    <a:pt x="2615464" y="2980538"/>
                  </a:lnTo>
                  <a:lnTo>
                    <a:pt x="2572885" y="3000977"/>
                  </a:lnTo>
                  <a:lnTo>
                    <a:pt x="2530533" y="3021596"/>
                  </a:lnTo>
                  <a:lnTo>
                    <a:pt x="2488408" y="3042394"/>
                  </a:lnTo>
                  <a:lnTo>
                    <a:pt x="2446509" y="3063372"/>
                  </a:lnTo>
                  <a:lnTo>
                    <a:pt x="2404837" y="3084530"/>
                  </a:lnTo>
                  <a:lnTo>
                    <a:pt x="2363392" y="3105867"/>
                  </a:lnTo>
                  <a:lnTo>
                    <a:pt x="2322173" y="3127384"/>
                  </a:lnTo>
                  <a:lnTo>
                    <a:pt x="2281181" y="3149081"/>
                  </a:lnTo>
                  <a:lnTo>
                    <a:pt x="2240415" y="3170957"/>
                  </a:lnTo>
                  <a:lnTo>
                    <a:pt x="2199876" y="3193013"/>
                  </a:lnTo>
                  <a:lnTo>
                    <a:pt x="2159564" y="3215248"/>
                  </a:lnTo>
                  <a:lnTo>
                    <a:pt x="2119478" y="3237663"/>
                  </a:lnTo>
                  <a:lnTo>
                    <a:pt x="2079619" y="3260258"/>
                  </a:lnTo>
                  <a:lnTo>
                    <a:pt x="2039986" y="3283033"/>
                  </a:lnTo>
                  <a:lnTo>
                    <a:pt x="2000580" y="3305987"/>
                  </a:lnTo>
                  <a:lnTo>
                    <a:pt x="1961401" y="3329121"/>
                  </a:lnTo>
                  <a:lnTo>
                    <a:pt x="1922448" y="3352434"/>
                  </a:lnTo>
                  <a:lnTo>
                    <a:pt x="1883722" y="3375927"/>
                  </a:lnTo>
                  <a:lnTo>
                    <a:pt x="1845223" y="3399600"/>
                  </a:lnTo>
                  <a:lnTo>
                    <a:pt x="1806950" y="3423453"/>
                  </a:lnTo>
                  <a:lnTo>
                    <a:pt x="1768904" y="3447485"/>
                  </a:lnTo>
                  <a:lnTo>
                    <a:pt x="1731084" y="3471696"/>
                  </a:lnTo>
                  <a:lnTo>
                    <a:pt x="1693491" y="3496088"/>
                  </a:lnTo>
                  <a:lnTo>
                    <a:pt x="1656125" y="3520659"/>
                  </a:lnTo>
                  <a:lnTo>
                    <a:pt x="1618985" y="3545409"/>
                  </a:lnTo>
                  <a:lnTo>
                    <a:pt x="1582072" y="3570340"/>
                  </a:lnTo>
                  <a:lnTo>
                    <a:pt x="1545385" y="3595450"/>
                  </a:lnTo>
                  <a:lnTo>
                    <a:pt x="1508925" y="3620739"/>
                  </a:lnTo>
                  <a:lnTo>
                    <a:pt x="1472692" y="3646208"/>
                  </a:lnTo>
                  <a:lnTo>
                    <a:pt x="1436686" y="3671857"/>
                  </a:lnTo>
                  <a:lnTo>
                    <a:pt x="1400906" y="3697686"/>
                  </a:lnTo>
                  <a:lnTo>
                    <a:pt x="1365352" y="3723694"/>
                  </a:lnTo>
                  <a:lnTo>
                    <a:pt x="1330025" y="3749882"/>
                  </a:lnTo>
                  <a:lnTo>
                    <a:pt x="1294925" y="3776249"/>
                  </a:lnTo>
                  <a:lnTo>
                    <a:pt x="1260052" y="3802796"/>
                  </a:lnTo>
                  <a:lnTo>
                    <a:pt x="1225405" y="3829523"/>
                  </a:lnTo>
                  <a:lnTo>
                    <a:pt x="1190984" y="3856430"/>
                  </a:lnTo>
                  <a:lnTo>
                    <a:pt x="1156791" y="3883516"/>
                  </a:lnTo>
                  <a:lnTo>
                    <a:pt x="1122824" y="3910781"/>
                  </a:lnTo>
                  <a:lnTo>
                    <a:pt x="1089083" y="3938227"/>
                  </a:lnTo>
                  <a:lnTo>
                    <a:pt x="1055569" y="3965852"/>
                  </a:lnTo>
                  <a:lnTo>
                    <a:pt x="1022282" y="3993656"/>
                  </a:lnTo>
                  <a:lnTo>
                    <a:pt x="989222" y="4021641"/>
                  </a:lnTo>
                  <a:lnTo>
                    <a:pt x="956388" y="4049805"/>
                  </a:lnTo>
                  <a:lnTo>
                    <a:pt x="923780" y="4078148"/>
                  </a:lnTo>
                  <a:lnTo>
                    <a:pt x="891399" y="4106672"/>
                  </a:lnTo>
                  <a:lnTo>
                    <a:pt x="859245" y="4135374"/>
                  </a:lnTo>
                  <a:lnTo>
                    <a:pt x="827318" y="4164257"/>
                  </a:lnTo>
                  <a:lnTo>
                    <a:pt x="795617" y="4193319"/>
                  </a:lnTo>
                  <a:lnTo>
                    <a:pt x="764143" y="4222561"/>
                  </a:lnTo>
                  <a:lnTo>
                    <a:pt x="732895" y="4251983"/>
                  </a:lnTo>
                  <a:lnTo>
                    <a:pt x="701874" y="4281584"/>
                  </a:lnTo>
                  <a:lnTo>
                    <a:pt x="671080" y="4311365"/>
                  </a:lnTo>
                  <a:lnTo>
                    <a:pt x="640512" y="4341325"/>
                  </a:lnTo>
                  <a:lnTo>
                    <a:pt x="610171" y="4371465"/>
                  </a:lnTo>
                  <a:lnTo>
                    <a:pt x="580056" y="4401785"/>
                  </a:lnTo>
                  <a:lnTo>
                    <a:pt x="550168" y="4432284"/>
                  </a:lnTo>
                  <a:lnTo>
                    <a:pt x="520507" y="4462963"/>
                  </a:lnTo>
                  <a:lnTo>
                    <a:pt x="491072" y="4493822"/>
                  </a:lnTo>
                  <a:lnTo>
                    <a:pt x="461864" y="4524860"/>
                  </a:lnTo>
                  <a:lnTo>
                    <a:pt x="432883" y="4556078"/>
                  </a:lnTo>
                  <a:lnTo>
                    <a:pt x="404128" y="4587476"/>
                  </a:lnTo>
                  <a:lnTo>
                    <a:pt x="375600" y="4619053"/>
                  </a:lnTo>
                  <a:lnTo>
                    <a:pt x="347298" y="4650810"/>
                  </a:lnTo>
                  <a:lnTo>
                    <a:pt x="319223" y="4682747"/>
                  </a:lnTo>
                  <a:lnTo>
                    <a:pt x="291375" y="4714863"/>
                  </a:lnTo>
                  <a:lnTo>
                    <a:pt x="263753" y="4747159"/>
                  </a:lnTo>
                  <a:lnTo>
                    <a:pt x="236358" y="4779634"/>
                  </a:lnTo>
                  <a:lnTo>
                    <a:pt x="209189" y="4812290"/>
                  </a:lnTo>
                  <a:lnTo>
                    <a:pt x="182247" y="4845124"/>
                  </a:lnTo>
                  <a:lnTo>
                    <a:pt x="155532" y="4878139"/>
                  </a:lnTo>
                  <a:lnTo>
                    <a:pt x="129043" y="4911333"/>
                  </a:lnTo>
                  <a:lnTo>
                    <a:pt x="102781" y="4944707"/>
                  </a:lnTo>
                  <a:lnTo>
                    <a:pt x="76746" y="4978260"/>
                  </a:lnTo>
                  <a:lnTo>
                    <a:pt x="50937" y="5011993"/>
                  </a:lnTo>
                  <a:lnTo>
                    <a:pt x="25355" y="5045906"/>
                  </a:lnTo>
                  <a:lnTo>
                    <a:pt x="0" y="5079998"/>
                  </a:lnTo>
                  <a:close/>
                </a:path>
              </a:pathLst>
            </a:custGeom>
            <a:ln w="9525">
              <a:solidFill>
                <a:srgbClr val="5E5E5E"/>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2010781" y="5228703"/>
              <a:ext cx="199644" cy="199644"/>
            </a:xfrm>
            <a:prstGeom prst="rect">
              <a:avLst/>
            </a:prstGeom>
          </p:spPr>
        </p:pic>
      </p:grpSp>
      <p:sp>
        <p:nvSpPr>
          <p:cNvPr id="11" name="object 11"/>
          <p:cNvSpPr txBox="1"/>
          <p:nvPr/>
        </p:nvSpPr>
        <p:spPr>
          <a:xfrm>
            <a:off x="2298845" y="5228703"/>
            <a:ext cx="1274445" cy="763670"/>
          </a:xfrm>
          <a:prstGeom prst="rect">
            <a:avLst/>
          </a:prstGeom>
        </p:spPr>
        <p:txBody>
          <a:bodyPr vert="horz" wrap="square" lIns="0" tIns="32384" rIns="0" bIns="0" rtlCol="0">
            <a:spAutoFit/>
          </a:bodyPr>
          <a:lstStyle/>
          <a:p>
            <a:pPr marL="12700" marR="5080" indent="-8890">
              <a:lnSpc>
                <a:spcPts val="1930"/>
              </a:lnSpc>
              <a:spcBef>
                <a:spcPts val="254"/>
              </a:spcBef>
              <a:buSzPct val="94117"/>
              <a:buFont typeface="Arial MT"/>
              <a:buChar char="•"/>
              <a:tabLst>
                <a:tab pos="88265" algn="l"/>
              </a:tabLst>
            </a:pPr>
            <a:r>
              <a:rPr sz="1700" spc="-10" dirty="0">
                <a:latin typeface="Calibri"/>
                <a:cs typeface="Calibri"/>
              </a:rPr>
              <a:t>	</a:t>
            </a:r>
            <a:r>
              <a:rPr lang="en-IN" sz="1600" dirty="0"/>
              <a:t>Voice-based interaction support</a:t>
            </a:r>
            <a:endParaRPr sz="1600" dirty="0">
              <a:latin typeface="Calibri"/>
              <a:cs typeface="Calibri"/>
            </a:endParaRPr>
          </a:p>
        </p:txBody>
      </p:sp>
      <p:grpSp>
        <p:nvGrpSpPr>
          <p:cNvPr id="12" name="object 12"/>
          <p:cNvGrpSpPr/>
          <p:nvPr/>
        </p:nvGrpSpPr>
        <p:grpSpPr>
          <a:xfrm>
            <a:off x="2668920" y="4354183"/>
            <a:ext cx="346298" cy="325121"/>
            <a:chOff x="3593215" y="3735134"/>
            <a:chExt cx="346298" cy="325121"/>
          </a:xfrm>
        </p:grpSpPr>
        <p:sp>
          <p:nvSpPr>
            <p:cNvPr id="13" name="object 13"/>
            <p:cNvSpPr/>
            <p:nvPr/>
          </p:nvSpPr>
          <p:spPr>
            <a:xfrm>
              <a:off x="3593215" y="3735134"/>
              <a:ext cx="325120" cy="325120"/>
            </a:xfrm>
            <a:custGeom>
              <a:avLst/>
              <a:gdLst/>
              <a:ahLst/>
              <a:cxnLst/>
              <a:rect l="l" t="t" r="r" b="b"/>
              <a:pathLst>
                <a:path w="325120" h="325120">
                  <a:moveTo>
                    <a:pt x="162559" y="0"/>
                  </a:moveTo>
                  <a:lnTo>
                    <a:pt x="121322" y="5290"/>
                  </a:lnTo>
                  <a:lnTo>
                    <a:pt x="82276" y="21161"/>
                  </a:lnTo>
                  <a:lnTo>
                    <a:pt x="47612" y="47612"/>
                  </a:lnTo>
                  <a:lnTo>
                    <a:pt x="21161" y="82276"/>
                  </a:lnTo>
                  <a:lnTo>
                    <a:pt x="5290" y="121322"/>
                  </a:lnTo>
                  <a:lnTo>
                    <a:pt x="0" y="162560"/>
                  </a:lnTo>
                  <a:lnTo>
                    <a:pt x="5290" y="203798"/>
                  </a:lnTo>
                  <a:lnTo>
                    <a:pt x="21161" y="242844"/>
                  </a:lnTo>
                  <a:lnTo>
                    <a:pt x="47612" y="277508"/>
                  </a:lnTo>
                  <a:lnTo>
                    <a:pt x="82276" y="303959"/>
                  </a:lnTo>
                  <a:lnTo>
                    <a:pt x="121322" y="319830"/>
                  </a:lnTo>
                  <a:lnTo>
                    <a:pt x="162559" y="325120"/>
                  </a:lnTo>
                  <a:lnTo>
                    <a:pt x="203797" y="319830"/>
                  </a:lnTo>
                  <a:lnTo>
                    <a:pt x="242843" y="303959"/>
                  </a:lnTo>
                  <a:lnTo>
                    <a:pt x="277506" y="277508"/>
                  </a:lnTo>
                  <a:lnTo>
                    <a:pt x="303958" y="242844"/>
                  </a:lnTo>
                  <a:lnTo>
                    <a:pt x="319829" y="203798"/>
                  </a:lnTo>
                  <a:lnTo>
                    <a:pt x="325119" y="162560"/>
                  </a:lnTo>
                  <a:lnTo>
                    <a:pt x="319829" y="121322"/>
                  </a:lnTo>
                  <a:lnTo>
                    <a:pt x="303958" y="82276"/>
                  </a:lnTo>
                  <a:lnTo>
                    <a:pt x="277506" y="47612"/>
                  </a:lnTo>
                  <a:lnTo>
                    <a:pt x="242843" y="21161"/>
                  </a:lnTo>
                  <a:lnTo>
                    <a:pt x="203797" y="5290"/>
                  </a:lnTo>
                  <a:lnTo>
                    <a:pt x="162559" y="0"/>
                  </a:lnTo>
                  <a:close/>
                </a:path>
              </a:pathLst>
            </a:custGeom>
            <a:solidFill>
              <a:srgbClr val="718DB2"/>
            </a:solidFill>
          </p:spPr>
          <p:txBody>
            <a:bodyPr wrap="square" lIns="0" tIns="0" rIns="0" bIns="0" rtlCol="0"/>
            <a:lstStyle/>
            <a:p>
              <a:endParaRPr dirty="0"/>
            </a:p>
          </p:txBody>
        </p:sp>
        <p:sp>
          <p:nvSpPr>
            <p:cNvPr id="14" name="object 14"/>
            <p:cNvSpPr/>
            <p:nvPr/>
          </p:nvSpPr>
          <p:spPr>
            <a:xfrm>
              <a:off x="3614393" y="3735135"/>
              <a:ext cx="325120" cy="325120"/>
            </a:xfrm>
            <a:custGeom>
              <a:avLst/>
              <a:gdLst/>
              <a:ahLst/>
              <a:cxnLst/>
              <a:rect l="l" t="t" r="r" b="b"/>
              <a:pathLst>
                <a:path w="325120" h="325120">
                  <a:moveTo>
                    <a:pt x="277507" y="47612"/>
                  </a:moveTo>
                  <a:lnTo>
                    <a:pt x="303958" y="82276"/>
                  </a:lnTo>
                  <a:lnTo>
                    <a:pt x="319829" y="121322"/>
                  </a:lnTo>
                  <a:lnTo>
                    <a:pt x="325120" y="162560"/>
                  </a:lnTo>
                  <a:lnTo>
                    <a:pt x="319829" y="203797"/>
                  </a:lnTo>
                  <a:lnTo>
                    <a:pt x="303958" y="242843"/>
                  </a:lnTo>
                  <a:lnTo>
                    <a:pt x="277507" y="277507"/>
                  </a:lnTo>
                  <a:lnTo>
                    <a:pt x="242843" y="303958"/>
                  </a:lnTo>
                  <a:lnTo>
                    <a:pt x="203797" y="319829"/>
                  </a:lnTo>
                  <a:lnTo>
                    <a:pt x="162560" y="325120"/>
                  </a:lnTo>
                  <a:lnTo>
                    <a:pt x="121322" y="319829"/>
                  </a:lnTo>
                  <a:lnTo>
                    <a:pt x="82276" y="303958"/>
                  </a:lnTo>
                  <a:lnTo>
                    <a:pt x="47612" y="277507"/>
                  </a:lnTo>
                  <a:lnTo>
                    <a:pt x="21161" y="242843"/>
                  </a:lnTo>
                  <a:lnTo>
                    <a:pt x="5290" y="203797"/>
                  </a:lnTo>
                  <a:lnTo>
                    <a:pt x="0" y="162560"/>
                  </a:lnTo>
                  <a:lnTo>
                    <a:pt x="5290" y="121322"/>
                  </a:lnTo>
                  <a:lnTo>
                    <a:pt x="21161" y="82276"/>
                  </a:lnTo>
                  <a:lnTo>
                    <a:pt x="47612" y="47612"/>
                  </a:lnTo>
                  <a:lnTo>
                    <a:pt x="82276" y="21161"/>
                  </a:lnTo>
                  <a:lnTo>
                    <a:pt x="121322" y="5290"/>
                  </a:lnTo>
                  <a:lnTo>
                    <a:pt x="162560" y="0"/>
                  </a:lnTo>
                  <a:lnTo>
                    <a:pt x="203797" y="5290"/>
                  </a:lnTo>
                  <a:lnTo>
                    <a:pt x="242843" y="21161"/>
                  </a:lnTo>
                  <a:lnTo>
                    <a:pt x="277507" y="47612"/>
                  </a:lnTo>
                  <a:close/>
                </a:path>
              </a:pathLst>
            </a:custGeom>
            <a:ln w="12700">
              <a:solidFill>
                <a:srgbClr val="FFFFFF"/>
              </a:solidFill>
            </a:ln>
          </p:spPr>
          <p:txBody>
            <a:bodyPr wrap="square" lIns="0" tIns="0" rIns="0" bIns="0" rtlCol="0"/>
            <a:lstStyle/>
            <a:p>
              <a:endParaRPr/>
            </a:p>
          </p:txBody>
        </p:sp>
      </p:grpSp>
      <p:sp>
        <p:nvSpPr>
          <p:cNvPr id="15" name="object 15"/>
          <p:cNvSpPr txBox="1"/>
          <p:nvPr/>
        </p:nvSpPr>
        <p:spPr>
          <a:xfrm>
            <a:off x="3100601" y="4641110"/>
            <a:ext cx="1433830" cy="520013"/>
          </a:xfrm>
          <a:prstGeom prst="rect">
            <a:avLst/>
          </a:prstGeom>
        </p:spPr>
        <p:txBody>
          <a:bodyPr vert="horz" wrap="square" lIns="0" tIns="32384" rIns="0" bIns="0" rtlCol="0">
            <a:spAutoFit/>
          </a:bodyPr>
          <a:lstStyle/>
          <a:p>
            <a:pPr marL="12700" marR="5080" indent="-8890">
              <a:lnSpc>
                <a:spcPts val="1930"/>
              </a:lnSpc>
              <a:spcBef>
                <a:spcPts val="254"/>
              </a:spcBef>
              <a:buSzPct val="94117"/>
              <a:buFont typeface="Arial MT"/>
              <a:buChar char="•"/>
              <a:tabLst>
                <a:tab pos="88265" algn="l"/>
              </a:tabLst>
            </a:pPr>
            <a:r>
              <a:rPr sz="1700" spc="-10" dirty="0">
                <a:latin typeface="Calibri"/>
                <a:cs typeface="Calibri"/>
              </a:rPr>
              <a:t>	</a:t>
            </a:r>
            <a:r>
              <a:rPr lang="en-IN" sz="1600" dirty="0"/>
              <a:t>Multi-language communication</a:t>
            </a:r>
            <a:endParaRPr sz="1700" dirty="0">
              <a:latin typeface="Calibri"/>
              <a:cs typeface="Calibri"/>
            </a:endParaRPr>
          </a:p>
        </p:txBody>
      </p:sp>
      <p:grpSp>
        <p:nvGrpSpPr>
          <p:cNvPr id="16" name="object 16"/>
          <p:cNvGrpSpPr/>
          <p:nvPr/>
        </p:nvGrpSpPr>
        <p:grpSpPr>
          <a:xfrm>
            <a:off x="5253695" y="3056377"/>
            <a:ext cx="441325" cy="441325"/>
            <a:chOff x="5295890" y="2859361"/>
            <a:chExt cx="441325" cy="441325"/>
          </a:xfrm>
        </p:grpSpPr>
        <p:sp>
          <p:nvSpPr>
            <p:cNvPr id="17" name="object 17"/>
            <p:cNvSpPr/>
            <p:nvPr/>
          </p:nvSpPr>
          <p:spPr>
            <a:xfrm>
              <a:off x="5302241" y="2865711"/>
              <a:ext cx="428625" cy="428625"/>
            </a:xfrm>
            <a:custGeom>
              <a:avLst/>
              <a:gdLst/>
              <a:ahLst/>
              <a:cxnLst/>
              <a:rect l="l" t="t" r="r" b="b"/>
              <a:pathLst>
                <a:path w="428625" h="428625">
                  <a:moveTo>
                    <a:pt x="237691" y="0"/>
                  </a:moveTo>
                  <a:lnTo>
                    <a:pt x="190518" y="0"/>
                  </a:lnTo>
                  <a:lnTo>
                    <a:pt x="144259" y="10299"/>
                  </a:lnTo>
                  <a:lnTo>
                    <a:pt x="100744" y="30899"/>
                  </a:lnTo>
                  <a:lnTo>
                    <a:pt x="61799" y="61799"/>
                  </a:lnTo>
                  <a:lnTo>
                    <a:pt x="30899" y="100744"/>
                  </a:lnTo>
                  <a:lnTo>
                    <a:pt x="10299" y="144259"/>
                  </a:lnTo>
                  <a:lnTo>
                    <a:pt x="0" y="190517"/>
                  </a:lnTo>
                  <a:lnTo>
                    <a:pt x="0" y="237690"/>
                  </a:lnTo>
                  <a:lnTo>
                    <a:pt x="10299" y="283948"/>
                  </a:lnTo>
                  <a:lnTo>
                    <a:pt x="30899" y="327464"/>
                  </a:lnTo>
                  <a:lnTo>
                    <a:pt x="61799" y="366408"/>
                  </a:lnTo>
                  <a:lnTo>
                    <a:pt x="100744" y="397308"/>
                  </a:lnTo>
                  <a:lnTo>
                    <a:pt x="144259" y="417908"/>
                  </a:lnTo>
                  <a:lnTo>
                    <a:pt x="190518" y="428208"/>
                  </a:lnTo>
                  <a:lnTo>
                    <a:pt x="237691" y="428208"/>
                  </a:lnTo>
                  <a:lnTo>
                    <a:pt x="283949" y="417908"/>
                  </a:lnTo>
                  <a:lnTo>
                    <a:pt x="327465" y="397308"/>
                  </a:lnTo>
                  <a:lnTo>
                    <a:pt x="366410" y="366408"/>
                  </a:lnTo>
                  <a:lnTo>
                    <a:pt x="397309" y="327464"/>
                  </a:lnTo>
                  <a:lnTo>
                    <a:pt x="417909" y="283948"/>
                  </a:lnTo>
                  <a:lnTo>
                    <a:pt x="428209" y="237690"/>
                  </a:lnTo>
                  <a:lnTo>
                    <a:pt x="428209" y="190517"/>
                  </a:lnTo>
                  <a:lnTo>
                    <a:pt x="417909" y="144259"/>
                  </a:lnTo>
                  <a:lnTo>
                    <a:pt x="397309" y="100744"/>
                  </a:lnTo>
                  <a:lnTo>
                    <a:pt x="366410" y="61799"/>
                  </a:lnTo>
                  <a:lnTo>
                    <a:pt x="327465" y="30899"/>
                  </a:lnTo>
                  <a:lnTo>
                    <a:pt x="283949" y="10299"/>
                  </a:lnTo>
                  <a:lnTo>
                    <a:pt x="237691" y="0"/>
                  </a:lnTo>
                  <a:close/>
                </a:path>
              </a:pathLst>
            </a:custGeom>
            <a:solidFill>
              <a:srgbClr val="EF292E"/>
            </a:solidFill>
          </p:spPr>
          <p:txBody>
            <a:bodyPr wrap="square" lIns="0" tIns="0" rIns="0" bIns="0" rtlCol="0"/>
            <a:lstStyle/>
            <a:p>
              <a:endParaRPr/>
            </a:p>
          </p:txBody>
        </p:sp>
        <p:sp>
          <p:nvSpPr>
            <p:cNvPr id="18" name="object 18"/>
            <p:cNvSpPr/>
            <p:nvPr/>
          </p:nvSpPr>
          <p:spPr>
            <a:xfrm>
              <a:off x="5302240" y="2865711"/>
              <a:ext cx="428625" cy="428625"/>
            </a:xfrm>
            <a:custGeom>
              <a:avLst/>
              <a:gdLst/>
              <a:ahLst/>
              <a:cxnLst/>
              <a:rect l="l" t="t" r="r" b="b"/>
              <a:pathLst>
                <a:path w="428625" h="428625">
                  <a:moveTo>
                    <a:pt x="366409" y="61799"/>
                  </a:moveTo>
                  <a:lnTo>
                    <a:pt x="397309" y="100744"/>
                  </a:lnTo>
                  <a:lnTo>
                    <a:pt x="417909" y="144259"/>
                  </a:lnTo>
                  <a:lnTo>
                    <a:pt x="428208" y="190518"/>
                  </a:lnTo>
                  <a:lnTo>
                    <a:pt x="428208" y="237690"/>
                  </a:lnTo>
                  <a:lnTo>
                    <a:pt x="417909" y="283949"/>
                  </a:lnTo>
                  <a:lnTo>
                    <a:pt x="397309" y="327464"/>
                  </a:lnTo>
                  <a:lnTo>
                    <a:pt x="366409" y="366409"/>
                  </a:lnTo>
                  <a:lnTo>
                    <a:pt x="327464" y="397309"/>
                  </a:lnTo>
                  <a:lnTo>
                    <a:pt x="283949" y="417909"/>
                  </a:lnTo>
                  <a:lnTo>
                    <a:pt x="237690" y="428208"/>
                  </a:lnTo>
                  <a:lnTo>
                    <a:pt x="190518" y="428208"/>
                  </a:lnTo>
                  <a:lnTo>
                    <a:pt x="144259" y="417909"/>
                  </a:lnTo>
                  <a:lnTo>
                    <a:pt x="100744" y="397309"/>
                  </a:lnTo>
                  <a:lnTo>
                    <a:pt x="61799" y="366409"/>
                  </a:lnTo>
                  <a:lnTo>
                    <a:pt x="30899" y="327464"/>
                  </a:lnTo>
                  <a:lnTo>
                    <a:pt x="10299" y="283949"/>
                  </a:lnTo>
                  <a:lnTo>
                    <a:pt x="0" y="237690"/>
                  </a:lnTo>
                  <a:lnTo>
                    <a:pt x="0" y="190518"/>
                  </a:lnTo>
                  <a:lnTo>
                    <a:pt x="10299" y="144259"/>
                  </a:lnTo>
                  <a:lnTo>
                    <a:pt x="30899" y="100744"/>
                  </a:lnTo>
                  <a:lnTo>
                    <a:pt x="61799" y="61799"/>
                  </a:lnTo>
                  <a:lnTo>
                    <a:pt x="100744" y="30899"/>
                  </a:lnTo>
                  <a:lnTo>
                    <a:pt x="144259" y="10299"/>
                  </a:lnTo>
                  <a:lnTo>
                    <a:pt x="190518" y="0"/>
                  </a:lnTo>
                  <a:lnTo>
                    <a:pt x="237690" y="0"/>
                  </a:lnTo>
                  <a:lnTo>
                    <a:pt x="283949" y="10299"/>
                  </a:lnTo>
                  <a:lnTo>
                    <a:pt x="327464" y="30899"/>
                  </a:lnTo>
                  <a:lnTo>
                    <a:pt x="366409" y="61799"/>
                  </a:lnTo>
                  <a:close/>
                </a:path>
              </a:pathLst>
            </a:custGeom>
            <a:ln w="12700">
              <a:solidFill>
                <a:srgbClr val="FFFFFF"/>
              </a:solidFill>
            </a:ln>
          </p:spPr>
          <p:txBody>
            <a:bodyPr wrap="square" lIns="0" tIns="0" rIns="0" bIns="0" rtlCol="0"/>
            <a:lstStyle/>
            <a:p>
              <a:endParaRPr/>
            </a:p>
          </p:txBody>
        </p:sp>
      </p:grpSp>
      <p:sp>
        <p:nvSpPr>
          <p:cNvPr id="19" name="object 19"/>
          <p:cNvSpPr txBox="1"/>
          <p:nvPr/>
        </p:nvSpPr>
        <p:spPr>
          <a:xfrm>
            <a:off x="5719493" y="3491352"/>
            <a:ext cx="1530745" cy="763670"/>
          </a:xfrm>
          <a:prstGeom prst="rect">
            <a:avLst/>
          </a:prstGeom>
        </p:spPr>
        <p:txBody>
          <a:bodyPr vert="horz" wrap="square" lIns="0" tIns="32384" rIns="0" bIns="0" rtlCol="0">
            <a:spAutoFit/>
          </a:bodyPr>
          <a:lstStyle/>
          <a:p>
            <a:pPr marL="12700" marR="5080" indent="-8890">
              <a:lnSpc>
                <a:spcPts val="1930"/>
              </a:lnSpc>
              <a:spcBef>
                <a:spcPts val="254"/>
              </a:spcBef>
              <a:buSzPct val="94117"/>
              <a:buFont typeface="Arial MT"/>
              <a:buChar char="•"/>
              <a:tabLst>
                <a:tab pos="88265" algn="l"/>
              </a:tabLst>
            </a:pPr>
            <a:r>
              <a:rPr sz="1700" spc="-10" dirty="0">
                <a:latin typeface="Calibri"/>
                <a:cs typeface="Calibri"/>
              </a:rPr>
              <a:t>	</a:t>
            </a:r>
            <a:r>
              <a:rPr lang="en-US" sz="1600" dirty="0"/>
              <a:t>Improved memory and context retention</a:t>
            </a:r>
            <a:endParaRPr sz="1700" dirty="0">
              <a:latin typeface="Calibri"/>
              <a:cs typeface="Calibri"/>
            </a:endParaRPr>
          </a:p>
        </p:txBody>
      </p:sp>
      <p:grpSp>
        <p:nvGrpSpPr>
          <p:cNvPr id="20" name="object 20"/>
          <p:cNvGrpSpPr/>
          <p:nvPr/>
        </p:nvGrpSpPr>
        <p:grpSpPr>
          <a:xfrm>
            <a:off x="6888779" y="2653089"/>
            <a:ext cx="504000" cy="504000"/>
            <a:chOff x="7131532" y="2282001"/>
            <a:chExt cx="589915" cy="589915"/>
          </a:xfrm>
        </p:grpSpPr>
        <p:sp>
          <p:nvSpPr>
            <p:cNvPr id="21" name="object 21"/>
            <p:cNvSpPr/>
            <p:nvPr/>
          </p:nvSpPr>
          <p:spPr>
            <a:xfrm>
              <a:off x="7137882" y="2288351"/>
              <a:ext cx="577215" cy="577215"/>
            </a:xfrm>
            <a:custGeom>
              <a:avLst/>
              <a:gdLst/>
              <a:ahLst/>
              <a:cxnLst/>
              <a:rect l="l" t="t" r="r" b="b"/>
              <a:pathLst>
                <a:path w="577215" h="577214">
                  <a:moveTo>
                    <a:pt x="288543" y="0"/>
                  </a:moveTo>
                  <a:lnTo>
                    <a:pt x="244376" y="3380"/>
                  </a:lnTo>
                  <a:lnTo>
                    <a:pt x="201050" y="13521"/>
                  </a:lnTo>
                  <a:lnTo>
                    <a:pt x="159403" y="30424"/>
                  </a:lnTo>
                  <a:lnTo>
                    <a:pt x="120277" y="54087"/>
                  </a:lnTo>
                  <a:lnTo>
                    <a:pt x="84512" y="84512"/>
                  </a:lnTo>
                  <a:lnTo>
                    <a:pt x="54087" y="120277"/>
                  </a:lnTo>
                  <a:lnTo>
                    <a:pt x="30424" y="159403"/>
                  </a:lnTo>
                  <a:lnTo>
                    <a:pt x="13521" y="201050"/>
                  </a:lnTo>
                  <a:lnTo>
                    <a:pt x="3380" y="244377"/>
                  </a:lnTo>
                  <a:lnTo>
                    <a:pt x="0" y="288544"/>
                  </a:lnTo>
                  <a:lnTo>
                    <a:pt x="3380" y="332711"/>
                  </a:lnTo>
                  <a:lnTo>
                    <a:pt x="13521" y="376038"/>
                  </a:lnTo>
                  <a:lnTo>
                    <a:pt x="30424" y="417684"/>
                  </a:lnTo>
                  <a:lnTo>
                    <a:pt x="54087" y="456810"/>
                  </a:lnTo>
                  <a:lnTo>
                    <a:pt x="84512" y="492576"/>
                  </a:lnTo>
                  <a:lnTo>
                    <a:pt x="120277" y="523000"/>
                  </a:lnTo>
                  <a:lnTo>
                    <a:pt x="159403" y="546664"/>
                  </a:lnTo>
                  <a:lnTo>
                    <a:pt x="201050" y="563566"/>
                  </a:lnTo>
                  <a:lnTo>
                    <a:pt x="244376" y="573708"/>
                  </a:lnTo>
                  <a:lnTo>
                    <a:pt x="288543" y="577088"/>
                  </a:lnTo>
                  <a:lnTo>
                    <a:pt x="332710" y="573708"/>
                  </a:lnTo>
                  <a:lnTo>
                    <a:pt x="376037" y="563566"/>
                  </a:lnTo>
                  <a:lnTo>
                    <a:pt x="417683" y="546664"/>
                  </a:lnTo>
                  <a:lnTo>
                    <a:pt x="456809" y="523000"/>
                  </a:lnTo>
                  <a:lnTo>
                    <a:pt x="492574" y="492576"/>
                  </a:lnTo>
                  <a:lnTo>
                    <a:pt x="522999" y="456810"/>
                  </a:lnTo>
                  <a:lnTo>
                    <a:pt x="546662" y="417684"/>
                  </a:lnTo>
                  <a:lnTo>
                    <a:pt x="563565" y="376038"/>
                  </a:lnTo>
                  <a:lnTo>
                    <a:pt x="573706" y="332711"/>
                  </a:lnTo>
                  <a:lnTo>
                    <a:pt x="577087" y="288544"/>
                  </a:lnTo>
                  <a:lnTo>
                    <a:pt x="573706" y="244377"/>
                  </a:lnTo>
                  <a:lnTo>
                    <a:pt x="563565" y="201050"/>
                  </a:lnTo>
                  <a:lnTo>
                    <a:pt x="546662" y="159403"/>
                  </a:lnTo>
                  <a:lnTo>
                    <a:pt x="522999" y="120277"/>
                  </a:lnTo>
                  <a:lnTo>
                    <a:pt x="492574" y="84512"/>
                  </a:lnTo>
                  <a:lnTo>
                    <a:pt x="456809" y="54087"/>
                  </a:lnTo>
                  <a:lnTo>
                    <a:pt x="417683" y="30424"/>
                  </a:lnTo>
                  <a:lnTo>
                    <a:pt x="376037" y="13521"/>
                  </a:lnTo>
                  <a:lnTo>
                    <a:pt x="332710" y="3380"/>
                  </a:lnTo>
                  <a:lnTo>
                    <a:pt x="288543" y="0"/>
                  </a:lnTo>
                  <a:close/>
                </a:path>
              </a:pathLst>
            </a:custGeom>
            <a:solidFill>
              <a:srgbClr val="E3E8F0"/>
            </a:solidFill>
          </p:spPr>
          <p:txBody>
            <a:bodyPr wrap="square" lIns="0" tIns="0" rIns="0" bIns="0" rtlCol="0"/>
            <a:lstStyle/>
            <a:p>
              <a:endParaRPr/>
            </a:p>
          </p:txBody>
        </p:sp>
        <p:sp>
          <p:nvSpPr>
            <p:cNvPr id="22" name="object 22"/>
            <p:cNvSpPr/>
            <p:nvPr/>
          </p:nvSpPr>
          <p:spPr>
            <a:xfrm>
              <a:off x="7137882" y="2288351"/>
              <a:ext cx="577215" cy="577215"/>
            </a:xfrm>
            <a:custGeom>
              <a:avLst/>
              <a:gdLst/>
              <a:ahLst/>
              <a:cxnLst/>
              <a:rect l="l" t="t" r="r" b="b"/>
              <a:pathLst>
                <a:path w="577215" h="577214">
                  <a:moveTo>
                    <a:pt x="492575" y="84512"/>
                  </a:moveTo>
                  <a:lnTo>
                    <a:pt x="522999" y="120277"/>
                  </a:lnTo>
                  <a:lnTo>
                    <a:pt x="546663" y="159403"/>
                  </a:lnTo>
                  <a:lnTo>
                    <a:pt x="563566" y="201050"/>
                  </a:lnTo>
                  <a:lnTo>
                    <a:pt x="573707" y="244377"/>
                  </a:lnTo>
                  <a:lnTo>
                    <a:pt x="577088" y="288544"/>
                  </a:lnTo>
                  <a:lnTo>
                    <a:pt x="573707" y="332710"/>
                  </a:lnTo>
                  <a:lnTo>
                    <a:pt x="563566" y="376037"/>
                  </a:lnTo>
                  <a:lnTo>
                    <a:pt x="546663" y="417684"/>
                  </a:lnTo>
                  <a:lnTo>
                    <a:pt x="522999" y="456810"/>
                  </a:lnTo>
                  <a:lnTo>
                    <a:pt x="492575" y="492575"/>
                  </a:lnTo>
                  <a:lnTo>
                    <a:pt x="456810" y="522999"/>
                  </a:lnTo>
                  <a:lnTo>
                    <a:pt x="417684" y="546663"/>
                  </a:lnTo>
                  <a:lnTo>
                    <a:pt x="376037" y="563566"/>
                  </a:lnTo>
                  <a:lnTo>
                    <a:pt x="332710" y="573707"/>
                  </a:lnTo>
                  <a:lnTo>
                    <a:pt x="288544" y="577088"/>
                  </a:lnTo>
                  <a:lnTo>
                    <a:pt x="244377" y="573707"/>
                  </a:lnTo>
                  <a:lnTo>
                    <a:pt x="201050" y="563566"/>
                  </a:lnTo>
                  <a:lnTo>
                    <a:pt x="159403" y="546663"/>
                  </a:lnTo>
                  <a:lnTo>
                    <a:pt x="120277" y="522999"/>
                  </a:lnTo>
                  <a:lnTo>
                    <a:pt x="84512" y="492575"/>
                  </a:lnTo>
                  <a:lnTo>
                    <a:pt x="54088" y="456810"/>
                  </a:lnTo>
                  <a:lnTo>
                    <a:pt x="30424" y="417684"/>
                  </a:lnTo>
                  <a:lnTo>
                    <a:pt x="13522" y="376037"/>
                  </a:lnTo>
                  <a:lnTo>
                    <a:pt x="3380" y="332710"/>
                  </a:lnTo>
                  <a:lnTo>
                    <a:pt x="0" y="288544"/>
                  </a:lnTo>
                  <a:lnTo>
                    <a:pt x="3380" y="244377"/>
                  </a:lnTo>
                  <a:lnTo>
                    <a:pt x="13522" y="201050"/>
                  </a:lnTo>
                  <a:lnTo>
                    <a:pt x="30424" y="159403"/>
                  </a:lnTo>
                  <a:lnTo>
                    <a:pt x="54088" y="120277"/>
                  </a:lnTo>
                  <a:lnTo>
                    <a:pt x="84512" y="84512"/>
                  </a:lnTo>
                  <a:lnTo>
                    <a:pt x="120277" y="54088"/>
                  </a:lnTo>
                  <a:lnTo>
                    <a:pt x="159403" y="30424"/>
                  </a:lnTo>
                  <a:lnTo>
                    <a:pt x="201050" y="13522"/>
                  </a:lnTo>
                  <a:lnTo>
                    <a:pt x="244377" y="3380"/>
                  </a:lnTo>
                  <a:lnTo>
                    <a:pt x="288544" y="0"/>
                  </a:lnTo>
                  <a:lnTo>
                    <a:pt x="332710" y="3380"/>
                  </a:lnTo>
                  <a:lnTo>
                    <a:pt x="376037" y="13522"/>
                  </a:lnTo>
                  <a:lnTo>
                    <a:pt x="417684" y="30424"/>
                  </a:lnTo>
                  <a:lnTo>
                    <a:pt x="456810" y="54088"/>
                  </a:lnTo>
                  <a:lnTo>
                    <a:pt x="492575" y="84512"/>
                  </a:lnTo>
                  <a:close/>
                </a:path>
              </a:pathLst>
            </a:custGeom>
            <a:ln w="12700">
              <a:solidFill>
                <a:srgbClr val="FFFFFF"/>
              </a:solidFill>
            </a:ln>
          </p:spPr>
          <p:txBody>
            <a:bodyPr wrap="square" lIns="0" tIns="0" rIns="0" bIns="0" rtlCol="0"/>
            <a:lstStyle/>
            <a:p>
              <a:endParaRPr/>
            </a:p>
          </p:txBody>
        </p:sp>
      </p:grpSp>
      <p:sp>
        <p:nvSpPr>
          <p:cNvPr id="23" name="object 23"/>
          <p:cNvSpPr txBox="1"/>
          <p:nvPr/>
        </p:nvSpPr>
        <p:spPr>
          <a:xfrm>
            <a:off x="7416208" y="3228308"/>
            <a:ext cx="1530745" cy="763670"/>
          </a:xfrm>
          <a:prstGeom prst="rect">
            <a:avLst/>
          </a:prstGeom>
        </p:spPr>
        <p:txBody>
          <a:bodyPr vert="horz" wrap="square" lIns="0" tIns="32384" rIns="0" bIns="0" rtlCol="0">
            <a:spAutoFit/>
          </a:bodyPr>
          <a:lstStyle/>
          <a:p>
            <a:pPr marL="12700" marR="5080" indent="-8890">
              <a:lnSpc>
                <a:spcPts val="1930"/>
              </a:lnSpc>
              <a:spcBef>
                <a:spcPts val="254"/>
              </a:spcBef>
              <a:buSzPct val="94117"/>
              <a:buFont typeface="Arial MT"/>
              <a:buChar char="•"/>
              <a:tabLst>
                <a:tab pos="88265" algn="l"/>
              </a:tabLst>
            </a:pPr>
            <a:r>
              <a:rPr sz="1700" dirty="0">
                <a:latin typeface="Calibri"/>
                <a:cs typeface="Calibri"/>
              </a:rPr>
              <a:t>	</a:t>
            </a:r>
            <a:r>
              <a:rPr lang="en-IN" sz="1600" dirty="0"/>
              <a:t>Integration with educational platforms</a:t>
            </a:r>
            <a:endParaRPr sz="1700" dirty="0">
              <a:latin typeface="Calibri"/>
              <a:cs typeface="Calibri"/>
            </a:endParaRPr>
          </a:p>
        </p:txBody>
      </p:sp>
      <p:grpSp>
        <p:nvGrpSpPr>
          <p:cNvPr id="24" name="object 12">
            <a:extLst>
              <a:ext uri="{FF2B5EF4-FFF2-40B4-BE49-F238E27FC236}">
                <a16:creationId xmlns:a16="http://schemas.microsoft.com/office/drawing/2014/main" id="{1E4144EC-8E5F-38F2-D054-1046C588A02B}"/>
              </a:ext>
            </a:extLst>
          </p:cNvPr>
          <p:cNvGrpSpPr/>
          <p:nvPr/>
        </p:nvGrpSpPr>
        <p:grpSpPr>
          <a:xfrm>
            <a:off x="3886692" y="3647889"/>
            <a:ext cx="360000" cy="360000"/>
            <a:chOff x="3608043" y="3728785"/>
            <a:chExt cx="337820" cy="337820"/>
          </a:xfrm>
          <a:solidFill>
            <a:srgbClr val="FFFF00"/>
          </a:solidFill>
        </p:grpSpPr>
        <p:sp>
          <p:nvSpPr>
            <p:cNvPr id="25" name="object 13">
              <a:extLst>
                <a:ext uri="{FF2B5EF4-FFF2-40B4-BE49-F238E27FC236}">
                  <a16:creationId xmlns:a16="http://schemas.microsoft.com/office/drawing/2014/main" id="{841C4601-4772-4BA8-1DFA-6F836DDFF95B}"/>
                </a:ext>
              </a:extLst>
            </p:cNvPr>
            <p:cNvSpPr/>
            <p:nvPr/>
          </p:nvSpPr>
          <p:spPr>
            <a:xfrm>
              <a:off x="3614394" y="3735135"/>
              <a:ext cx="325120" cy="325120"/>
            </a:xfrm>
            <a:custGeom>
              <a:avLst/>
              <a:gdLst/>
              <a:ahLst/>
              <a:cxnLst/>
              <a:rect l="l" t="t" r="r" b="b"/>
              <a:pathLst>
                <a:path w="325120" h="325120">
                  <a:moveTo>
                    <a:pt x="162559" y="0"/>
                  </a:moveTo>
                  <a:lnTo>
                    <a:pt x="121322" y="5290"/>
                  </a:lnTo>
                  <a:lnTo>
                    <a:pt x="82276" y="21161"/>
                  </a:lnTo>
                  <a:lnTo>
                    <a:pt x="47612" y="47612"/>
                  </a:lnTo>
                  <a:lnTo>
                    <a:pt x="21161" y="82276"/>
                  </a:lnTo>
                  <a:lnTo>
                    <a:pt x="5290" y="121322"/>
                  </a:lnTo>
                  <a:lnTo>
                    <a:pt x="0" y="162560"/>
                  </a:lnTo>
                  <a:lnTo>
                    <a:pt x="5290" y="203798"/>
                  </a:lnTo>
                  <a:lnTo>
                    <a:pt x="21161" y="242844"/>
                  </a:lnTo>
                  <a:lnTo>
                    <a:pt x="47612" y="277508"/>
                  </a:lnTo>
                  <a:lnTo>
                    <a:pt x="82276" y="303959"/>
                  </a:lnTo>
                  <a:lnTo>
                    <a:pt x="121322" y="319830"/>
                  </a:lnTo>
                  <a:lnTo>
                    <a:pt x="162559" y="325120"/>
                  </a:lnTo>
                  <a:lnTo>
                    <a:pt x="203797" y="319830"/>
                  </a:lnTo>
                  <a:lnTo>
                    <a:pt x="242843" y="303959"/>
                  </a:lnTo>
                  <a:lnTo>
                    <a:pt x="277506" y="277508"/>
                  </a:lnTo>
                  <a:lnTo>
                    <a:pt x="303958" y="242844"/>
                  </a:lnTo>
                  <a:lnTo>
                    <a:pt x="319829" y="203798"/>
                  </a:lnTo>
                  <a:lnTo>
                    <a:pt x="325119" y="162560"/>
                  </a:lnTo>
                  <a:lnTo>
                    <a:pt x="319829" y="121322"/>
                  </a:lnTo>
                  <a:lnTo>
                    <a:pt x="303958" y="82276"/>
                  </a:lnTo>
                  <a:lnTo>
                    <a:pt x="277506" y="47612"/>
                  </a:lnTo>
                  <a:lnTo>
                    <a:pt x="242843" y="21161"/>
                  </a:lnTo>
                  <a:lnTo>
                    <a:pt x="203797" y="5290"/>
                  </a:lnTo>
                  <a:lnTo>
                    <a:pt x="162559" y="0"/>
                  </a:lnTo>
                  <a:close/>
                </a:path>
              </a:pathLst>
            </a:custGeom>
            <a:grpFill/>
          </p:spPr>
          <p:txBody>
            <a:bodyPr wrap="square" lIns="0" tIns="0" rIns="0" bIns="0" rtlCol="0"/>
            <a:lstStyle/>
            <a:p>
              <a:endParaRPr/>
            </a:p>
          </p:txBody>
        </p:sp>
        <p:sp>
          <p:nvSpPr>
            <p:cNvPr id="26" name="object 14">
              <a:extLst>
                <a:ext uri="{FF2B5EF4-FFF2-40B4-BE49-F238E27FC236}">
                  <a16:creationId xmlns:a16="http://schemas.microsoft.com/office/drawing/2014/main" id="{DE2F6723-6CE4-055D-D244-02228466C634}"/>
                </a:ext>
              </a:extLst>
            </p:cNvPr>
            <p:cNvSpPr/>
            <p:nvPr/>
          </p:nvSpPr>
          <p:spPr>
            <a:xfrm>
              <a:off x="3614393" y="3735135"/>
              <a:ext cx="325120" cy="325120"/>
            </a:xfrm>
            <a:custGeom>
              <a:avLst/>
              <a:gdLst/>
              <a:ahLst/>
              <a:cxnLst/>
              <a:rect l="l" t="t" r="r" b="b"/>
              <a:pathLst>
                <a:path w="325120" h="325120">
                  <a:moveTo>
                    <a:pt x="277507" y="47612"/>
                  </a:moveTo>
                  <a:lnTo>
                    <a:pt x="303958" y="82276"/>
                  </a:lnTo>
                  <a:lnTo>
                    <a:pt x="319829" y="121322"/>
                  </a:lnTo>
                  <a:lnTo>
                    <a:pt x="325120" y="162560"/>
                  </a:lnTo>
                  <a:lnTo>
                    <a:pt x="319829" y="203797"/>
                  </a:lnTo>
                  <a:lnTo>
                    <a:pt x="303958" y="242843"/>
                  </a:lnTo>
                  <a:lnTo>
                    <a:pt x="277507" y="277507"/>
                  </a:lnTo>
                  <a:lnTo>
                    <a:pt x="242843" y="303958"/>
                  </a:lnTo>
                  <a:lnTo>
                    <a:pt x="203797" y="319829"/>
                  </a:lnTo>
                  <a:lnTo>
                    <a:pt x="162560" y="325120"/>
                  </a:lnTo>
                  <a:lnTo>
                    <a:pt x="121322" y="319829"/>
                  </a:lnTo>
                  <a:lnTo>
                    <a:pt x="82276" y="303958"/>
                  </a:lnTo>
                  <a:lnTo>
                    <a:pt x="47612" y="277507"/>
                  </a:lnTo>
                  <a:lnTo>
                    <a:pt x="21161" y="242843"/>
                  </a:lnTo>
                  <a:lnTo>
                    <a:pt x="5290" y="203797"/>
                  </a:lnTo>
                  <a:lnTo>
                    <a:pt x="0" y="162560"/>
                  </a:lnTo>
                  <a:lnTo>
                    <a:pt x="5290" y="121322"/>
                  </a:lnTo>
                  <a:lnTo>
                    <a:pt x="21161" y="82276"/>
                  </a:lnTo>
                  <a:lnTo>
                    <a:pt x="47612" y="47612"/>
                  </a:lnTo>
                  <a:lnTo>
                    <a:pt x="82276" y="21161"/>
                  </a:lnTo>
                  <a:lnTo>
                    <a:pt x="121322" y="5290"/>
                  </a:lnTo>
                  <a:lnTo>
                    <a:pt x="162560" y="0"/>
                  </a:lnTo>
                  <a:lnTo>
                    <a:pt x="203797" y="5290"/>
                  </a:lnTo>
                  <a:lnTo>
                    <a:pt x="242843" y="21161"/>
                  </a:lnTo>
                  <a:lnTo>
                    <a:pt x="277507" y="47612"/>
                  </a:lnTo>
                  <a:close/>
                </a:path>
              </a:pathLst>
            </a:custGeom>
            <a:grpFill/>
            <a:ln w="12700">
              <a:solidFill>
                <a:srgbClr val="FFFFFF"/>
              </a:solidFill>
            </a:ln>
          </p:spPr>
          <p:txBody>
            <a:bodyPr wrap="square" lIns="0" tIns="0" rIns="0" bIns="0" rtlCol="0"/>
            <a:lstStyle/>
            <a:p>
              <a:endParaRPr/>
            </a:p>
          </p:txBody>
        </p:sp>
      </p:grpSp>
      <p:sp>
        <p:nvSpPr>
          <p:cNvPr id="30" name="object 19">
            <a:extLst>
              <a:ext uri="{FF2B5EF4-FFF2-40B4-BE49-F238E27FC236}">
                <a16:creationId xmlns:a16="http://schemas.microsoft.com/office/drawing/2014/main" id="{C6C6B495-36FF-E63B-D589-D8BD92461A7C}"/>
              </a:ext>
            </a:extLst>
          </p:cNvPr>
          <p:cNvSpPr txBox="1"/>
          <p:nvPr/>
        </p:nvSpPr>
        <p:spPr>
          <a:xfrm>
            <a:off x="4417963" y="3915633"/>
            <a:ext cx="1457325" cy="763670"/>
          </a:xfrm>
          <a:prstGeom prst="rect">
            <a:avLst/>
          </a:prstGeom>
        </p:spPr>
        <p:txBody>
          <a:bodyPr vert="horz" wrap="square" lIns="0" tIns="32384" rIns="0" bIns="0" rtlCol="0">
            <a:spAutoFit/>
          </a:bodyPr>
          <a:lstStyle/>
          <a:p>
            <a:pPr marL="12700" marR="5080" indent="-8890">
              <a:lnSpc>
                <a:spcPts val="1930"/>
              </a:lnSpc>
              <a:spcBef>
                <a:spcPts val="254"/>
              </a:spcBef>
              <a:buSzPct val="94117"/>
              <a:buFont typeface="Arial MT"/>
              <a:buChar char="•"/>
              <a:tabLst>
                <a:tab pos="88265" algn="l"/>
              </a:tabLst>
            </a:pPr>
            <a:r>
              <a:rPr sz="1700" spc="-10" dirty="0">
                <a:latin typeface="Calibri"/>
                <a:cs typeface="Calibri"/>
              </a:rPr>
              <a:t>	</a:t>
            </a:r>
            <a:r>
              <a:rPr lang="en-IN" sz="1600" dirty="0"/>
              <a:t>Advanced personalization system</a:t>
            </a:r>
            <a:endParaRPr sz="1700" dirty="0">
              <a:latin typeface="Calibri"/>
              <a:cs typeface="Calibri"/>
            </a:endParaRPr>
          </a:p>
        </p:txBody>
      </p:sp>
      <p:grpSp>
        <p:nvGrpSpPr>
          <p:cNvPr id="31" name="object 20">
            <a:extLst>
              <a:ext uri="{FF2B5EF4-FFF2-40B4-BE49-F238E27FC236}">
                <a16:creationId xmlns:a16="http://schemas.microsoft.com/office/drawing/2014/main" id="{97ACF9CA-63C1-E5DE-3237-42CC3306405D}"/>
              </a:ext>
            </a:extLst>
          </p:cNvPr>
          <p:cNvGrpSpPr/>
          <p:nvPr/>
        </p:nvGrpSpPr>
        <p:grpSpPr>
          <a:xfrm>
            <a:off x="8694953" y="2212705"/>
            <a:ext cx="504000" cy="504000"/>
            <a:chOff x="7131532" y="2282001"/>
            <a:chExt cx="589915" cy="589915"/>
          </a:xfrm>
          <a:solidFill>
            <a:srgbClr val="C00000"/>
          </a:solidFill>
        </p:grpSpPr>
        <p:sp>
          <p:nvSpPr>
            <p:cNvPr id="32" name="object 21">
              <a:extLst>
                <a:ext uri="{FF2B5EF4-FFF2-40B4-BE49-F238E27FC236}">
                  <a16:creationId xmlns:a16="http://schemas.microsoft.com/office/drawing/2014/main" id="{8EA89243-0062-0BF1-238E-D9C1F31BF074}"/>
                </a:ext>
              </a:extLst>
            </p:cNvPr>
            <p:cNvSpPr/>
            <p:nvPr/>
          </p:nvSpPr>
          <p:spPr>
            <a:xfrm>
              <a:off x="7137882" y="2288351"/>
              <a:ext cx="577215" cy="577215"/>
            </a:xfrm>
            <a:custGeom>
              <a:avLst/>
              <a:gdLst/>
              <a:ahLst/>
              <a:cxnLst/>
              <a:rect l="l" t="t" r="r" b="b"/>
              <a:pathLst>
                <a:path w="577215" h="577214">
                  <a:moveTo>
                    <a:pt x="288543" y="0"/>
                  </a:moveTo>
                  <a:lnTo>
                    <a:pt x="244376" y="3380"/>
                  </a:lnTo>
                  <a:lnTo>
                    <a:pt x="201050" y="13521"/>
                  </a:lnTo>
                  <a:lnTo>
                    <a:pt x="159403" y="30424"/>
                  </a:lnTo>
                  <a:lnTo>
                    <a:pt x="120277" y="54087"/>
                  </a:lnTo>
                  <a:lnTo>
                    <a:pt x="84512" y="84512"/>
                  </a:lnTo>
                  <a:lnTo>
                    <a:pt x="54087" y="120277"/>
                  </a:lnTo>
                  <a:lnTo>
                    <a:pt x="30424" y="159403"/>
                  </a:lnTo>
                  <a:lnTo>
                    <a:pt x="13521" y="201050"/>
                  </a:lnTo>
                  <a:lnTo>
                    <a:pt x="3380" y="244377"/>
                  </a:lnTo>
                  <a:lnTo>
                    <a:pt x="0" y="288544"/>
                  </a:lnTo>
                  <a:lnTo>
                    <a:pt x="3380" y="332711"/>
                  </a:lnTo>
                  <a:lnTo>
                    <a:pt x="13521" y="376038"/>
                  </a:lnTo>
                  <a:lnTo>
                    <a:pt x="30424" y="417684"/>
                  </a:lnTo>
                  <a:lnTo>
                    <a:pt x="54087" y="456810"/>
                  </a:lnTo>
                  <a:lnTo>
                    <a:pt x="84512" y="492576"/>
                  </a:lnTo>
                  <a:lnTo>
                    <a:pt x="120277" y="523000"/>
                  </a:lnTo>
                  <a:lnTo>
                    <a:pt x="159403" y="546664"/>
                  </a:lnTo>
                  <a:lnTo>
                    <a:pt x="201050" y="563566"/>
                  </a:lnTo>
                  <a:lnTo>
                    <a:pt x="244376" y="573708"/>
                  </a:lnTo>
                  <a:lnTo>
                    <a:pt x="288543" y="577088"/>
                  </a:lnTo>
                  <a:lnTo>
                    <a:pt x="332710" y="573708"/>
                  </a:lnTo>
                  <a:lnTo>
                    <a:pt x="376037" y="563566"/>
                  </a:lnTo>
                  <a:lnTo>
                    <a:pt x="417683" y="546664"/>
                  </a:lnTo>
                  <a:lnTo>
                    <a:pt x="456809" y="523000"/>
                  </a:lnTo>
                  <a:lnTo>
                    <a:pt x="492574" y="492576"/>
                  </a:lnTo>
                  <a:lnTo>
                    <a:pt x="522999" y="456810"/>
                  </a:lnTo>
                  <a:lnTo>
                    <a:pt x="546662" y="417684"/>
                  </a:lnTo>
                  <a:lnTo>
                    <a:pt x="563565" y="376038"/>
                  </a:lnTo>
                  <a:lnTo>
                    <a:pt x="573706" y="332711"/>
                  </a:lnTo>
                  <a:lnTo>
                    <a:pt x="577087" y="288544"/>
                  </a:lnTo>
                  <a:lnTo>
                    <a:pt x="573706" y="244377"/>
                  </a:lnTo>
                  <a:lnTo>
                    <a:pt x="563565" y="201050"/>
                  </a:lnTo>
                  <a:lnTo>
                    <a:pt x="546662" y="159403"/>
                  </a:lnTo>
                  <a:lnTo>
                    <a:pt x="522999" y="120277"/>
                  </a:lnTo>
                  <a:lnTo>
                    <a:pt x="492574" y="84512"/>
                  </a:lnTo>
                  <a:lnTo>
                    <a:pt x="456809" y="54087"/>
                  </a:lnTo>
                  <a:lnTo>
                    <a:pt x="417683" y="30424"/>
                  </a:lnTo>
                  <a:lnTo>
                    <a:pt x="376037" y="13521"/>
                  </a:lnTo>
                  <a:lnTo>
                    <a:pt x="332710" y="3380"/>
                  </a:lnTo>
                  <a:lnTo>
                    <a:pt x="288543" y="0"/>
                  </a:lnTo>
                  <a:close/>
                </a:path>
              </a:pathLst>
            </a:custGeom>
            <a:grpFill/>
          </p:spPr>
          <p:txBody>
            <a:bodyPr wrap="square" lIns="0" tIns="0" rIns="0" bIns="0" rtlCol="0"/>
            <a:lstStyle/>
            <a:p>
              <a:endParaRPr dirty="0"/>
            </a:p>
          </p:txBody>
        </p:sp>
        <p:sp>
          <p:nvSpPr>
            <p:cNvPr id="33" name="object 22">
              <a:extLst>
                <a:ext uri="{FF2B5EF4-FFF2-40B4-BE49-F238E27FC236}">
                  <a16:creationId xmlns:a16="http://schemas.microsoft.com/office/drawing/2014/main" id="{15F5AB7D-C216-2912-E683-177A3501F69A}"/>
                </a:ext>
              </a:extLst>
            </p:cNvPr>
            <p:cNvSpPr/>
            <p:nvPr/>
          </p:nvSpPr>
          <p:spPr>
            <a:xfrm>
              <a:off x="7137882" y="2288351"/>
              <a:ext cx="577215" cy="577215"/>
            </a:xfrm>
            <a:custGeom>
              <a:avLst/>
              <a:gdLst/>
              <a:ahLst/>
              <a:cxnLst/>
              <a:rect l="l" t="t" r="r" b="b"/>
              <a:pathLst>
                <a:path w="577215" h="577214">
                  <a:moveTo>
                    <a:pt x="492575" y="84512"/>
                  </a:moveTo>
                  <a:lnTo>
                    <a:pt x="522999" y="120277"/>
                  </a:lnTo>
                  <a:lnTo>
                    <a:pt x="546663" y="159403"/>
                  </a:lnTo>
                  <a:lnTo>
                    <a:pt x="563566" y="201050"/>
                  </a:lnTo>
                  <a:lnTo>
                    <a:pt x="573707" y="244377"/>
                  </a:lnTo>
                  <a:lnTo>
                    <a:pt x="577088" y="288544"/>
                  </a:lnTo>
                  <a:lnTo>
                    <a:pt x="573707" y="332710"/>
                  </a:lnTo>
                  <a:lnTo>
                    <a:pt x="563566" y="376037"/>
                  </a:lnTo>
                  <a:lnTo>
                    <a:pt x="546663" y="417684"/>
                  </a:lnTo>
                  <a:lnTo>
                    <a:pt x="522999" y="456810"/>
                  </a:lnTo>
                  <a:lnTo>
                    <a:pt x="492575" y="492575"/>
                  </a:lnTo>
                  <a:lnTo>
                    <a:pt x="456810" y="522999"/>
                  </a:lnTo>
                  <a:lnTo>
                    <a:pt x="417684" y="546663"/>
                  </a:lnTo>
                  <a:lnTo>
                    <a:pt x="376037" y="563566"/>
                  </a:lnTo>
                  <a:lnTo>
                    <a:pt x="332710" y="573707"/>
                  </a:lnTo>
                  <a:lnTo>
                    <a:pt x="288544" y="577088"/>
                  </a:lnTo>
                  <a:lnTo>
                    <a:pt x="244377" y="573707"/>
                  </a:lnTo>
                  <a:lnTo>
                    <a:pt x="201050" y="563566"/>
                  </a:lnTo>
                  <a:lnTo>
                    <a:pt x="159403" y="546663"/>
                  </a:lnTo>
                  <a:lnTo>
                    <a:pt x="120277" y="522999"/>
                  </a:lnTo>
                  <a:lnTo>
                    <a:pt x="84512" y="492575"/>
                  </a:lnTo>
                  <a:lnTo>
                    <a:pt x="54088" y="456810"/>
                  </a:lnTo>
                  <a:lnTo>
                    <a:pt x="30424" y="417684"/>
                  </a:lnTo>
                  <a:lnTo>
                    <a:pt x="13522" y="376037"/>
                  </a:lnTo>
                  <a:lnTo>
                    <a:pt x="3380" y="332710"/>
                  </a:lnTo>
                  <a:lnTo>
                    <a:pt x="0" y="288544"/>
                  </a:lnTo>
                  <a:lnTo>
                    <a:pt x="3380" y="244377"/>
                  </a:lnTo>
                  <a:lnTo>
                    <a:pt x="13522" y="201050"/>
                  </a:lnTo>
                  <a:lnTo>
                    <a:pt x="30424" y="159403"/>
                  </a:lnTo>
                  <a:lnTo>
                    <a:pt x="54088" y="120277"/>
                  </a:lnTo>
                  <a:lnTo>
                    <a:pt x="84512" y="84512"/>
                  </a:lnTo>
                  <a:lnTo>
                    <a:pt x="120277" y="54088"/>
                  </a:lnTo>
                  <a:lnTo>
                    <a:pt x="159403" y="30424"/>
                  </a:lnTo>
                  <a:lnTo>
                    <a:pt x="201050" y="13522"/>
                  </a:lnTo>
                  <a:lnTo>
                    <a:pt x="244377" y="3380"/>
                  </a:lnTo>
                  <a:lnTo>
                    <a:pt x="288544" y="0"/>
                  </a:lnTo>
                  <a:lnTo>
                    <a:pt x="332710" y="3380"/>
                  </a:lnTo>
                  <a:lnTo>
                    <a:pt x="376037" y="13522"/>
                  </a:lnTo>
                  <a:lnTo>
                    <a:pt x="417684" y="30424"/>
                  </a:lnTo>
                  <a:lnTo>
                    <a:pt x="456810" y="54088"/>
                  </a:lnTo>
                  <a:lnTo>
                    <a:pt x="492575" y="84512"/>
                  </a:lnTo>
                  <a:close/>
                </a:path>
              </a:pathLst>
            </a:custGeom>
            <a:grpFill/>
            <a:ln w="12700">
              <a:solidFill>
                <a:srgbClr val="FFFFFF"/>
              </a:solidFill>
            </a:ln>
          </p:spPr>
          <p:txBody>
            <a:bodyPr wrap="square" lIns="0" tIns="0" rIns="0" bIns="0" rtlCol="0"/>
            <a:lstStyle/>
            <a:p>
              <a:endParaRPr/>
            </a:p>
          </p:txBody>
        </p:sp>
      </p:grpSp>
      <p:sp>
        <p:nvSpPr>
          <p:cNvPr id="34" name="object 23">
            <a:extLst>
              <a:ext uri="{FF2B5EF4-FFF2-40B4-BE49-F238E27FC236}">
                <a16:creationId xmlns:a16="http://schemas.microsoft.com/office/drawing/2014/main" id="{0CB000FF-DF14-B659-EC1F-C97C8DEA4D21}"/>
              </a:ext>
            </a:extLst>
          </p:cNvPr>
          <p:cNvSpPr txBox="1"/>
          <p:nvPr/>
        </p:nvSpPr>
        <p:spPr>
          <a:xfrm>
            <a:off x="9193528" y="2461590"/>
            <a:ext cx="1530745" cy="520013"/>
          </a:xfrm>
          <a:prstGeom prst="rect">
            <a:avLst/>
          </a:prstGeom>
        </p:spPr>
        <p:txBody>
          <a:bodyPr vert="horz" wrap="square" lIns="0" tIns="32384" rIns="0" bIns="0" rtlCol="0">
            <a:spAutoFit/>
          </a:bodyPr>
          <a:lstStyle/>
          <a:p>
            <a:pPr marL="12700" marR="5080" indent="-8890">
              <a:lnSpc>
                <a:spcPts val="1930"/>
              </a:lnSpc>
              <a:spcBef>
                <a:spcPts val="254"/>
              </a:spcBef>
              <a:buSzPct val="94117"/>
              <a:buFont typeface="Arial MT"/>
              <a:buChar char="•"/>
              <a:tabLst>
                <a:tab pos="88265" algn="l"/>
              </a:tabLst>
            </a:pPr>
            <a:r>
              <a:rPr lang="en-US" sz="1600" dirty="0"/>
              <a:t>Deployment of larger AI models</a:t>
            </a:r>
            <a:endParaRPr sz="1700" dirty="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68507" y="157638"/>
            <a:ext cx="1838960" cy="513080"/>
          </a:xfrm>
          <a:prstGeom prst="rect">
            <a:avLst/>
          </a:prstGeom>
        </p:spPr>
        <p:txBody>
          <a:bodyPr vert="horz" wrap="square" lIns="0" tIns="12700" rIns="0" bIns="0" rtlCol="0">
            <a:spAutoFit/>
          </a:bodyPr>
          <a:lstStyle/>
          <a:p>
            <a:pPr marL="12700">
              <a:lnSpc>
                <a:spcPct val="100000"/>
              </a:lnSpc>
              <a:spcBef>
                <a:spcPts val="100"/>
              </a:spcBef>
            </a:pPr>
            <a:r>
              <a:rPr sz="3200" spc="-20" dirty="0">
                <a:solidFill>
                  <a:srgbClr val="000000"/>
                </a:solidFill>
                <a:latin typeface="Calibri"/>
                <a:cs typeface="Calibri"/>
              </a:rPr>
              <a:t>References</a:t>
            </a:r>
            <a:endParaRPr sz="3200" dirty="0">
              <a:latin typeface="Calibri"/>
              <a:cs typeface="Calibri"/>
            </a:endParaRPr>
          </a:p>
        </p:txBody>
      </p:sp>
      <p:sp>
        <p:nvSpPr>
          <p:cNvPr id="3" name="object 3"/>
          <p:cNvSpPr txBox="1">
            <a:spLocks noGrp="1"/>
          </p:cNvSpPr>
          <p:nvPr>
            <p:ph type="body" idx="1"/>
          </p:nvPr>
        </p:nvSpPr>
        <p:spPr>
          <a:xfrm>
            <a:off x="609600" y="930736"/>
            <a:ext cx="10756900" cy="5927264"/>
          </a:xfrm>
          <a:prstGeom prst="rect">
            <a:avLst/>
          </a:prstGeom>
        </p:spPr>
        <p:txBody>
          <a:bodyPr vert="horz" wrap="square" lIns="0" tIns="78740" rIns="0" bIns="0" rtlCol="0">
            <a:spAutoFit/>
          </a:bodyPr>
          <a:lstStyle/>
          <a:p>
            <a:pPr marL="457200" indent="-457200">
              <a:buFont typeface="+mj-lt"/>
              <a:buAutoNum type="arabicPeriod"/>
            </a:pPr>
            <a:r>
              <a:rPr lang="en-IN" dirty="0"/>
              <a:t>Lewis, P., Perez, E., </a:t>
            </a:r>
            <a:r>
              <a:rPr lang="en-IN" dirty="0" err="1"/>
              <a:t>Piktus</a:t>
            </a:r>
            <a:r>
              <a:rPr lang="en-IN" dirty="0"/>
              <a:t>, A., Petroni, F., </a:t>
            </a:r>
            <a:r>
              <a:rPr lang="en-IN" dirty="0" err="1"/>
              <a:t>Karpukhin</a:t>
            </a:r>
            <a:r>
              <a:rPr lang="en-IN" dirty="0"/>
              <a:t>, V., Goyal, N., ... &amp; Kiela, D. (2020). </a:t>
            </a:r>
            <a:r>
              <a:rPr lang="en-IN" i="1" dirty="0"/>
              <a:t>Retrieval-Augmented Generation for Knowledge-Intensive NLP Tasks</a:t>
            </a:r>
            <a:r>
              <a:rPr lang="en-IN" dirty="0"/>
              <a:t>. Advances in Neural Information Processing Systems (</a:t>
            </a:r>
            <a:r>
              <a:rPr lang="en-IN" dirty="0" err="1"/>
              <a:t>NeurIPS</a:t>
            </a:r>
            <a:r>
              <a:rPr lang="en-IN" dirty="0"/>
              <a:t>), 33, 9459–9474.</a:t>
            </a:r>
          </a:p>
          <a:p>
            <a:pPr marL="457200" indent="-457200">
              <a:buFont typeface="+mj-lt"/>
              <a:buAutoNum type="arabicPeriod"/>
            </a:pPr>
            <a:r>
              <a:rPr lang="en-IN" dirty="0" err="1"/>
              <a:t>Karpukhin</a:t>
            </a:r>
            <a:r>
              <a:rPr lang="en-IN" dirty="0"/>
              <a:t>, V., Oğuz, B., Min, S., Lewis, P., Wu, L., </a:t>
            </a:r>
            <a:r>
              <a:rPr lang="en-IN" dirty="0" err="1"/>
              <a:t>Edunov</a:t>
            </a:r>
            <a:r>
              <a:rPr lang="en-IN" dirty="0"/>
              <a:t>, S., ... &amp; Yih, W. T. (2020). </a:t>
            </a:r>
            <a:r>
              <a:rPr lang="en-IN" i="1" dirty="0"/>
              <a:t>Dense Passage Retrieval for Open-Domain Question Answering</a:t>
            </a:r>
            <a:r>
              <a:rPr lang="en-IN" dirty="0"/>
              <a:t>. Proceedings of EMNLP, 6769–6781.</a:t>
            </a:r>
          </a:p>
          <a:p>
            <a:pPr marL="457200" indent="-457200">
              <a:buFont typeface="+mj-lt"/>
              <a:buAutoNum type="arabicPeriod"/>
            </a:pPr>
            <a:r>
              <a:rPr lang="en-IN" dirty="0"/>
              <a:t>Vaswani, A., </a:t>
            </a:r>
            <a:r>
              <a:rPr lang="en-IN" dirty="0" err="1"/>
              <a:t>Shazeer</a:t>
            </a:r>
            <a:r>
              <a:rPr lang="en-IN" dirty="0"/>
              <a:t>, N., Parmar, N., </a:t>
            </a:r>
            <a:r>
              <a:rPr lang="en-IN" dirty="0" err="1"/>
              <a:t>Uszkoreit</a:t>
            </a:r>
            <a:r>
              <a:rPr lang="en-IN" dirty="0"/>
              <a:t>, J., Jones, L., Gomez, A. N., ... &amp; </a:t>
            </a:r>
            <a:r>
              <a:rPr lang="en-IN" dirty="0" err="1"/>
              <a:t>Polosukhin</a:t>
            </a:r>
            <a:r>
              <a:rPr lang="en-IN" dirty="0"/>
              <a:t>, I. (2017). </a:t>
            </a:r>
            <a:r>
              <a:rPr lang="en-IN" i="1" dirty="0"/>
              <a:t>Attention Is All You Need</a:t>
            </a:r>
            <a:r>
              <a:rPr lang="en-IN" dirty="0"/>
              <a:t>. Advances in Neural Information Processing Systems (</a:t>
            </a:r>
            <a:r>
              <a:rPr lang="en-IN" dirty="0" err="1"/>
              <a:t>NeurIPS</a:t>
            </a:r>
            <a:r>
              <a:rPr lang="en-IN" dirty="0"/>
              <a:t>), 30.</a:t>
            </a:r>
          </a:p>
          <a:p>
            <a:pPr marL="457200" indent="-457200">
              <a:buFont typeface="+mj-lt"/>
              <a:buAutoNum type="arabicPeriod"/>
            </a:pPr>
            <a:r>
              <a:rPr lang="en-IN" dirty="0"/>
              <a:t>Brown, T., Mann, B., Ryder, N., Subbiah, M., Kaplan, J. D., Dhariwal, P., ... &amp; Amodei, D. (2020). </a:t>
            </a:r>
            <a:r>
              <a:rPr lang="en-IN" i="1" dirty="0"/>
              <a:t>Language Models are Few-Shot Learners</a:t>
            </a:r>
            <a:r>
              <a:rPr lang="en-IN" dirty="0"/>
              <a:t>. Advances in Neural Information Processing Systems (</a:t>
            </a:r>
            <a:r>
              <a:rPr lang="en-IN" dirty="0" err="1"/>
              <a:t>NeurIPS</a:t>
            </a:r>
            <a:r>
              <a:rPr lang="en-IN" dirty="0"/>
              <a:t>), 33, 1877–1901.</a:t>
            </a:r>
          </a:p>
          <a:p>
            <a:pPr marL="457200" indent="-457200">
              <a:buFont typeface="+mj-lt"/>
              <a:buAutoNum type="arabicPeriod"/>
            </a:pPr>
            <a:r>
              <a:rPr lang="en-IN" dirty="0" err="1"/>
              <a:t>Clarizia</a:t>
            </a:r>
            <a:r>
              <a:rPr lang="en-IN" dirty="0"/>
              <a:t>, F., Colace, F., Lombardi, M., Pascale, F., &amp; Santaniello, D. (2018). </a:t>
            </a:r>
            <a:r>
              <a:rPr lang="en-IN" i="1" dirty="0"/>
              <a:t>Chatbot: An Education Support System for Student</a:t>
            </a:r>
            <a:r>
              <a:rPr lang="en-IN" dirty="0"/>
              <a:t>. International Symposium on Cyberspace Safety and Security, 291–302.</a:t>
            </a:r>
          </a:p>
          <a:p>
            <a:pPr marL="457200" indent="-457200">
              <a:buFont typeface="+mj-lt"/>
              <a:buAutoNum type="arabicPeriod"/>
            </a:pPr>
            <a:r>
              <a:rPr lang="en-IN" dirty="0" err="1"/>
              <a:t>Ranoliya</a:t>
            </a:r>
            <a:r>
              <a:rPr lang="en-IN" dirty="0"/>
              <a:t>, B. R., </a:t>
            </a:r>
            <a:r>
              <a:rPr lang="en-IN" dirty="0" err="1"/>
              <a:t>Raghuwanshi</a:t>
            </a:r>
            <a:r>
              <a:rPr lang="en-IN" dirty="0"/>
              <a:t>, N., &amp; Singh, S. (2017). </a:t>
            </a:r>
            <a:r>
              <a:rPr lang="en-IN" i="1" dirty="0"/>
              <a:t>Chatbot for University Related FAQs</a:t>
            </a:r>
            <a:r>
              <a:rPr lang="en-IN" dirty="0"/>
              <a:t>. ICACCI, 1525–1530.</a:t>
            </a:r>
          </a:p>
          <a:p>
            <a:pPr marL="457200" indent="-457200">
              <a:buFont typeface="+mj-lt"/>
              <a:buAutoNum type="arabicPeriod"/>
            </a:pPr>
            <a:r>
              <a:rPr lang="en-IN" dirty="0"/>
              <a:t>Reimers, N., &amp; </a:t>
            </a:r>
            <a:r>
              <a:rPr lang="en-IN" dirty="0" err="1"/>
              <a:t>Gurevych</a:t>
            </a:r>
            <a:r>
              <a:rPr lang="en-IN" dirty="0"/>
              <a:t>, I. (2019). </a:t>
            </a:r>
            <a:r>
              <a:rPr lang="en-IN" i="1" dirty="0"/>
              <a:t>Sentence-BERT: Sentence Embeddings using Siamese BERT-Networks</a:t>
            </a:r>
            <a:r>
              <a:rPr lang="en-IN" dirty="0"/>
              <a:t>. EMNLP, 3982–3992.</a:t>
            </a:r>
          </a:p>
          <a:p>
            <a:pPr marL="457200" indent="-457200">
              <a:buFont typeface="+mj-lt"/>
              <a:buAutoNum type="arabicPeriod"/>
            </a:pPr>
            <a:r>
              <a:rPr lang="en-IN" dirty="0"/>
              <a:t>UNESCO. (2021). </a:t>
            </a:r>
            <a:r>
              <a:rPr lang="en-IN" i="1" dirty="0"/>
              <a:t>AI and Education: Guidance for Policy-makers</a:t>
            </a:r>
            <a:r>
              <a:rPr lang="en-IN" dirty="0"/>
              <a:t>. United Nations Educational, Scientific and Cultural Organization.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80528" y="2398400"/>
            <a:ext cx="5236845" cy="1488440"/>
          </a:xfrm>
          <a:prstGeom prst="rect">
            <a:avLst/>
          </a:prstGeom>
        </p:spPr>
        <p:txBody>
          <a:bodyPr vert="horz" wrap="square" lIns="0" tIns="12700" rIns="0" bIns="0" rtlCol="0">
            <a:spAutoFit/>
          </a:bodyPr>
          <a:lstStyle/>
          <a:p>
            <a:pPr marL="12700">
              <a:lnSpc>
                <a:spcPct val="100000"/>
              </a:lnSpc>
              <a:spcBef>
                <a:spcPts val="100"/>
              </a:spcBef>
            </a:pPr>
            <a:r>
              <a:rPr sz="9600" dirty="0">
                <a:solidFill>
                  <a:srgbClr val="000000"/>
                </a:solidFill>
              </a:rPr>
              <a:t>Thank</a:t>
            </a:r>
            <a:r>
              <a:rPr sz="9600" spc="-340" dirty="0">
                <a:solidFill>
                  <a:srgbClr val="000000"/>
                </a:solidFill>
              </a:rPr>
              <a:t> </a:t>
            </a:r>
            <a:r>
              <a:rPr sz="9600" spc="-25" dirty="0">
                <a:solidFill>
                  <a:srgbClr val="000000"/>
                </a:solidFill>
                <a:latin typeface="Calibri"/>
                <a:cs typeface="Calibri"/>
              </a:rPr>
              <a:t>you</a:t>
            </a:r>
            <a:endParaRPr sz="96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819</TotalTime>
  <Words>1186</Words>
  <Application>Microsoft Office PowerPoint</Application>
  <PresentationFormat>Widescreen</PresentationFormat>
  <Paragraphs>138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 MT</vt:lpstr>
      <vt:lpstr>Calibri</vt:lpstr>
      <vt:lpstr>Times New Roman</vt:lpstr>
      <vt:lpstr>Office Theme</vt:lpstr>
      <vt:lpstr>Orion</vt:lpstr>
      <vt:lpstr>Agenda</vt:lpstr>
      <vt:lpstr>Introduction</vt:lpstr>
      <vt:lpstr>Objective &amp; Problem Statement</vt:lpstr>
      <vt:lpstr>Literature Survey</vt:lpstr>
      <vt:lpstr>Dataset</vt:lpstr>
      <vt:lpstr>Existing / Proposed Methodology</vt:lpstr>
      <vt:lpstr>Implementation</vt:lpstr>
      <vt:lpstr>Implementation</vt:lpstr>
      <vt:lpstr>Result</vt:lpstr>
      <vt:lpstr>Conclusion</vt:lpstr>
      <vt:lpstr>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Project (December)PPT</dc:title>
  <dc:creator>Siddharth Singh</dc:creator>
  <cp:lastModifiedBy>Siddharth Singh</cp:lastModifiedBy>
  <cp:revision>1</cp:revision>
  <dcterms:created xsi:type="dcterms:W3CDTF">2026-05-24T06:25:46Z</dcterms:created>
  <dcterms:modified xsi:type="dcterms:W3CDTF">2026-05-24T20:05:25Z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2024-11-29T00:00:00Z</vt:filetime>
  </property>
  <property fmtid="{D5CDD505-2E9C-101B-9397-08002B2CF9AE}" pid="3" name="Creator">
    <vt:lpwstr>Keynote</vt:lpwstr>
  </property>
  <property fmtid="{D5CDD505-2E9C-101B-9397-08002B2CF9AE}" pid="4" name="LastSaved">
    <vt:filetime>2026-05-24T00:00:00Z</vt:filetime>
  </property>
  <property fmtid="{D5CDD505-2E9C-101B-9397-08002B2CF9AE}" pid="5" name="Producer">
    <vt:lpwstr>3.0.24 (5.1.10) </vt:lpwstr>
  </property>
</Properties>
</file>